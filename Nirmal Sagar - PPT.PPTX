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277" r:id="rId2"/>
    <p:sldId id="27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2" r:id="rId18"/>
    <p:sldId id="273" r:id="rId19"/>
  </p:sldIdLst>
  <p:sldSz cx="9144000" cy="6858000" type="screen4x3"/>
  <p:notesSz cx="9144000" cy="6858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5179484" y="0"/>
            <a:ext cx="3962400" cy="342900"/>
          </a:xfrm>
          <a:prstGeom prst="rect">
            <a:avLst/>
          </a:prstGeom>
        </p:spPr>
        <p:txBody>
          <a:bodyPr vert="horz" lIns="91440" tIns="45720" rIns="91440" bIns="45720" rtlCol="0"/>
          <a:lstStyle>
            <a:lvl1pPr algn="r">
              <a:defRPr sz="1200"/>
            </a:lvl1pPr>
          </a:lstStyle>
          <a:p>
            <a:fld id="{4944BA14-0C2C-4FCB-AEE8-A9DAFF115D5B}" type="datetimeFigureOut">
              <a:rPr lang="en-IN" smtClean="0"/>
              <a:t>05-05-2020</a:t>
            </a:fld>
            <a:endParaRPr lang="en-IN"/>
          </a:p>
        </p:txBody>
      </p:sp>
      <p:sp>
        <p:nvSpPr>
          <p:cNvPr id="4" name="Slide Image Placeholder 3"/>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914400" y="3257550"/>
            <a:ext cx="7315200" cy="30861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6513910"/>
            <a:ext cx="3962400" cy="3429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5179484" y="6513910"/>
            <a:ext cx="3962400" cy="342900"/>
          </a:xfrm>
          <a:prstGeom prst="rect">
            <a:avLst/>
          </a:prstGeom>
        </p:spPr>
        <p:txBody>
          <a:bodyPr vert="horz" lIns="91440" tIns="45720" rIns="91440" bIns="45720" rtlCol="0" anchor="b"/>
          <a:lstStyle>
            <a:lvl1pPr algn="r">
              <a:defRPr sz="1200"/>
            </a:lvl1pPr>
          </a:lstStyle>
          <a:p>
            <a:fld id="{1BC360BF-6E36-4684-B294-6B5D0C1AD1BB}" type="slidenum">
              <a:rPr lang="en-IN" smtClean="0"/>
              <a:t>‹#›</a:t>
            </a:fld>
            <a:endParaRPr lang="en-IN"/>
          </a:p>
        </p:txBody>
      </p:sp>
    </p:spTree>
    <p:extLst>
      <p:ext uri="{BB962C8B-B14F-4D97-AF65-F5344CB8AC3E}">
        <p14:creationId xmlns:p14="http://schemas.microsoft.com/office/powerpoint/2010/main" val="230277966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BC360BF-6E36-4684-B294-6B5D0C1AD1BB}" type="slidenum">
              <a:rPr lang="en-IN" smtClean="0"/>
              <a:t>3</a:t>
            </a:fld>
            <a:endParaRPr lang="en-IN"/>
          </a:p>
        </p:txBody>
      </p:sp>
    </p:spTree>
    <p:extLst>
      <p:ext uri="{BB962C8B-B14F-4D97-AF65-F5344CB8AC3E}">
        <p14:creationId xmlns:p14="http://schemas.microsoft.com/office/powerpoint/2010/main" val="38414463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800" dirty="0"/>
          </a:p>
        </p:txBody>
      </p:sp>
      <p:sp>
        <p:nvSpPr>
          <p:cNvPr id="4" name="Slide Number Placeholder 3"/>
          <p:cNvSpPr>
            <a:spLocks noGrp="1"/>
          </p:cNvSpPr>
          <p:nvPr>
            <p:ph type="sldNum" sz="quarter" idx="10"/>
          </p:nvPr>
        </p:nvSpPr>
        <p:spPr/>
        <p:txBody>
          <a:bodyPr/>
          <a:lstStyle/>
          <a:p>
            <a:fld id="{1BC360BF-6E36-4684-B294-6B5D0C1AD1BB}" type="slidenum">
              <a:rPr lang="en-IN" smtClean="0"/>
              <a:t>8</a:t>
            </a:fld>
            <a:endParaRPr lang="en-IN"/>
          </a:p>
        </p:txBody>
      </p:sp>
    </p:spTree>
    <p:extLst>
      <p:ext uri="{BB962C8B-B14F-4D97-AF65-F5344CB8AC3E}">
        <p14:creationId xmlns:p14="http://schemas.microsoft.com/office/powerpoint/2010/main" val="14368775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1BC360BF-6E36-4684-B294-6B5D0C1AD1BB}" type="slidenum">
              <a:rPr lang="en-IN" smtClean="0"/>
              <a:t>9</a:t>
            </a:fld>
            <a:endParaRPr lang="en-IN"/>
          </a:p>
        </p:txBody>
      </p:sp>
    </p:spTree>
    <p:extLst>
      <p:ext uri="{BB962C8B-B14F-4D97-AF65-F5344CB8AC3E}">
        <p14:creationId xmlns:p14="http://schemas.microsoft.com/office/powerpoint/2010/main" val="42406357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5/5/2020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5/5/2020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5/5/2020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5/5/2020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5/5/2020</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2620962"/>
          </a:xfrm>
        </p:spPr>
        <p:txBody>
          <a:bodyPr>
            <a:normAutofit/>
          </a:bodyPr>
          <a:lstStyle/>
          <a:p>
            <a:r>
              <a:rPr lang="en-US" b="1" u="sng" dirty="0" smtClean="0">
                <a:solidFill>
                  <a:schemeClr val="tx2"/>
                </a:solidFill>
              </a:rPr>
              <a:t>INSAID</a:t>
            </a:r>
            <a:r>
              <a:rPr lang="en-US" u="sng" dirty="0" smtClean="0"/>
              <a:t> - </a:t>
            </a:r>
            <a:r>
              <a:rPr lang="en-US" b="1" u="sng" dirty="0" smtClean="0">
                <a:solidFill>
                  <a:schemeClr val="tx2"/>
                </a:solidFill>
              </a:rPr>
              <a:t>Feb’20’ Cohort </a:t>
            </a:r>
            <a:r>
              <a:rPr lang="en-US" dirty="0" smtClean="0"/>
              <a:t/>
            </a:r>
            <a:br>
              <a:rPr lang="en-US" dirty="0" smtClean="0"/>
            </a:br>
            <a:r>
              <a:rPr lang="en-US" dirty="0" smtClean="0"/>
              <a:t>EDA Term 1 &amp; 2 Project Submission</a:t>
            </a:r>
            <a:br>
              <a:rPr lang="en-US" dirty="0" smtClean="0"/>
            </a:br>
            <a:r>
              <a:rPr lang="en-US" dirty="0" smtClean="0"/>
              <a:t>“</a:t>
            </a:r>
            <a:r>
              <a:rPr lang="en-US" b="1" dirty="0" smtClean="0">
                <a:latin typeface="Algerian" pitchFamily="82" charset="0"/>
              </a:rPr>
              <a:t>1000 Movies Data</a:t>
            </a:r>
            <a:r>
              <a:rPr lang="en-US" dirty="0" smtClean="0"/>
              <a:t>”</a:t>
            </a:r>
            <a:endParaRPr lang="en-IN" dirty="0"/>
          </a:p>
        </p:txBody>
      </p:sp>
      <p:pic>
        <p:nvPicPr>
          <p:cNvPr id="1024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990600" y="3200400"/>
            <a:ext cx="7162799" cy="266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6858000" y="6248400"/>
            <a:ext cx="1981200" cy="369332"/>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en-US" dirty="0" smtClean="0"/>
              <a:t>By : </a:t>
            </a:r>
            <a:r>
              <a:rPr lang="en-US" dirty="0" err="1" smtClean="0"/>
              <a:t>Nirmal</a:t>
            </a:r>
            <a:r>
              <a:rPr lang="en-US" dirty="0" smtClean="0"/>
              <a:t> </a:t>
            </a:r>
            <a:r>
              <a:rPr lang="en-US" dirty="0" err="1" smtClean="0"/>
              <a:t>Sagar</a:t>
            </a:r>
            <a:endParaRPr lang="en-IN" dirty="0"/>
          </a:p>
        </p:txBody>
      </p:sp>
    </p:spTree>
    <p:extLst>
      <p:ext uri="{BB962C8B-B14F-4D97-AF65-F5344CB8AC3E}">
        <p14:creationId xmlns:p14="http://schemas.microsoft.com/office/powerpoint/2010/main" val="366799792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4572000"/>
            <a:ext cx="8229600" cy="1905000"/>
          </a:xfrm>
        </p:spPr>
        <p:txBody>
          <a:bodyPr>
            <a:noAutofit/>
          </a:bodyPr>
          <a:lstStyle/>
          <a:p>
            <a:r>
              <a:rPr lang="en-US" sz="1800" b="1" dirty="0" smtClean="0"/>
              <a:t/>
            </a:r>
            <a:br>
              <a:rPr lang="en-US" sz="1800" b="1" dirty="0" smtClean="0"/>
            </a:br>
            <a:r>
              <a:rPr lang="en-US" sz="1800" b="1" dirty="0" smtClean="0">
                <a:latin typeface="Times New Roman" pitchFamily="18" charset="0"/>
                <a:cs typeface="Times New Roman" pitchFamily="18" charset="0"/>
              </a:rPr>
              <a:t>“</a:t>
            </a:r>
            <a:r>
              <a:rPr lang="en-US" sz="1800" b="1" dirty="0">
                <a:latin typeface="Times New Roman" pitchFamily="18" charset="0"/>
                <a:cs typeface="Times New Roman" pitchFamily="18" charset="0"/>
              </a:rPr>
              <a:t>ON A FILM SET NOW, IT’S ROBOTS, IT’S DRONES, IT’S SUPER HIGH-TECH, BUT THE BUSINESS SIDE HASN’T EVOLVED IN 20 YEARS</a:t>
            </a:r>
            <a:r>
              <a:rPr lang="en-US" sz="1800" b="1" dirty="0" smtClean="0">
                <a:latin typeface="Times New Roman" pitchFamily="18" charset="0"/>
                <a:cs typeface="Times New Roman" pitchFamily="18" charset="0"/>
              </a:rPr>
              <a:t>.”</a:t>
            </a:r>
            <a:r>
              <a:rPr lang="en-US" sz="1800" b="1" dirty="0"/>
              <a:t/>
            </a:r>
            <a:br>
              <a:rPr lang="en-US" sz="1800" b="1" dirty="0"/>
            </a:br>
            <a:r>
              <a:rPr lang="en-US" sz="1800" b="1" dirty="0" smtClean="0"/>
              <a:t>“</a:t>
            </a:r>
            <a:r>
              <a:rPr lang="en-US" sz="1800" dirty="0" smtClean="0"/>
              <a:t>AI </a:t>
            </a:r>
            <a:r>
              <a:rPr lang="en-US" sz="1800" dirty="0"/>
              <a:t>will tell you who to cast and predict how much money you’ll </a:t>
            </a:r>
            <a:r>
              <a:rPr lang="en-US" sz="1800" dirty="0" smtClean="0"/>
              <a:t>make</a:t>
            </a:r>
            <a:r>
              <a:rPr lang="en-US" sz="1800" b="1" dirty="0" smtClean="0"/>
              <a:t>”</a:t>
            </a:r>
            <a:br>
              <a:rPr lang="en-US" sz="1800" b="1" dirty="0" smtClean="0"/>
            </a:br>
            <a:r>
              <a:rPr lang="en-US" sz="1800" b="1" dirty="0" smtClean="0">
                <a:solidFill>
                  <a:srgbClr val="FF0000"/>
                </a:solidFill>
                <a:latin typeface="Times New Roman" pitchFamily="18" charset="0"/>
                <a:cs typeface="Times New Roman" pitchFamily="18" charset="0"/>
              </a:rPr>
              <a:t>Problem Statement : </a:t>
            </a:r>
            <a:r>
              <a:rPr lang="en-US" sz="1800" b="1" dirty="0" smtClean="0"/>
              <a:t/>
            </a:r>
            <a:br>
              <a:rPr lang="en-US" sz="1800" b="1" dirty="0" smtClean="0"/>
            </a:br>
            <a:r>
              <a:rPr lang="en-US" sz="1600" b="1" dirty="0" smtClean="0">
                <a:latin typeface="+mn-lt"/>
              </a:rPr>
              <a:t>Understand </a:t>
            </a:r>
            <a:r>
              <a:rPr lang="en-US" sz="1600" b="1" dirty="0">
                <a:latin typeface="+mn-lt"/>
              </a:rPr>
              <a:t>the trend in revenue, ratings, </a:t>
            </a:r>
            <a:r>
              <a:rPr lang="en-US" sz="1600" b="1" dirty="0" smtClean="0">
                <a:latin typeface="+mn-lt"/>
              </a:rPr>
              <a:t>Metascore, </a:t>
            </a:r>
            <a:r>
              <a:rPr lang="en-US" sz="1600" b="1" dirty="0">
                <a:latin typeface="+mn-lt"/>
              </a:rPr>
              <a:t>votes for different movie genres over years (from 2006 to 2016) and Correlation between the trends for Top genres (Drama, Action, Adventure, Animation, Comedy, Romance, Thriller, Crime, Horror, Sci-Fi, </a:t>
            </a:r>
            <a:r>
              <a:rPr lang="en-US" sz="1600" b="1" dirty="0" smtClean="0">
                <a:latin typeface="+mn-lt"/>
              </a:rPr>
              <a:t>Fantasy </a:t>
            </a:r>
            <a:r>
              <a:rPr lang="en-US" sz="1600" b="1" dirty="0">
                <a:latin typeface="+mn-lt"/>
              </a:rPr>
              <a:t>and Musical).</a:t>
            </a:r>
            <a:r>
              <a:rPr lang="en-US" sz="1800" b="1" dirty="0"/>
              <a:t/>
            </a:r>
            <a:br>
              <a:rPr lang="en-US" sz="1800" b="1" dirty="0"/>
            </a:br>
            <a:endParaRPr lang="en-IN" sz="1800" dirty="0"/>
          </a:p>
        </p:txBody>
      </p:sp>
      <p:pic>
        <p:nvPicPr>
          <p:cNvPr id="921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tretch>
            <a:fillRect/>
          </a:stretch>
        </p:blipFill>
        <p:spPr bwMode="auto">
          <a:xfrm>
            <a:off x="2209800" y="6927"/>
            <a:ext cx="4525963"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AutoShape 4" descr="data:image/png;base64,iVBORw0KGgoAAAANSUhEUgAAAk4AAAJOCAYAAABBWYj1AAAABHNCSVQICAgIfAhkiAAAAAlwSFlzAAALEgAACxIB0t1+/AAAADh0RVh0U29mdHdhcmUAbWF0cGxvdGxpYiB2ZXJzaW9uMy4yLjEsIGh0dHA6Ly9tYXRwbG90bGliLm9yZy+j8jraAAAgAElEQVR4nOydd3gc13W33ynbd9F77yBBkAI7RbFIlESqF8uWbMWSLZe4xPniNDtf/MV2bCexHcctcdwkd8mWbKt3iRJ7BSsAEkTvvS8WW2fu98cCS4IASJAERFKa93n0iJiduXP2zuzcM+ee+zuSEEJgYGBgYGBgYGBwXuTLbYCBgYGBgYGBwdWC4TgZGBgYGBgYGMwSw3EyMDAwMDAwMJglhuNkYGBgYGBgYDBLDMfJwMDAwMDAwGCWGI6TgYGBgYGBgcEsMRwnAwMDAwMDA4NZol5uAwwujKCm8ZujR+kYGWFJSgq3FhVhVpTLbdZ7El0I9re28mZ9PXF2O/eVlJDicl1uswwMDAwM5hEj4nSVEdJ1Xqiu5ldHjrCzqYmQpl1uk96zCCGo6unhV0eO8OeqKga83sttkoGBgYHBPGM4TgYGBgYGBgYGs8RwnAwMDAwMDAwMZonhOBkYGBgYGBgYzBLDcTIwMDAwMDAwmCXGqrorECEEfk3DFwqh6TqSJGGSZewmE5IkIZ3n+EGvF10IXBYLZkU53V4wiCYEEqDKMmZVxaIoSNLUFnUh8IdCBDSNkK4jCHvZqixjVVVM0xyn6TrDPh+qouA0mwlqGmPBIAA2kwnL+Oo/v6bhDQYRQmA1mbCp6ow2BDQN/3g/6OM2KLKM5Ry2zzUhXccbDBLUNAThPrCZTCizOPdYMMhYMIhVUXBaLAghwu2FQoTG21MkKXItZEma8p2EEAQ1Db+mEdR19PFrqMgyZkXBqqrIZx2jC4EnECCgaURbrUjAaCCApuuYFQW72YwEaOP7hSa2m0wo8tT3KSEEQV0nEApFbGDcdtO4DdMdZ2BgYPBuw3CcrjBCus7Jnh6erKhgX2srnaOj2FSVooQE7l64kBvz8s47QD341FM0Dw/zozvu4LrsbI50dPD8qVPsbm6mz+PBrKqkuVyszsjgi+vXY1ZP3wZCCOoGBjja2cne1lYqurvpGR3FHwphN5vJiIpiTWYmWwoKKEtNnWRL89AQH3rqKcpSU/ni+vU8fuwYL546hSRJ3FFUxCdWrADgpwcP8nJNDSFdZ21WFn9/3XXkxMZOsqF1eJjDHR0caG/naGcnHW433mAQm8lEitPJqowMbiksZEV6+rzJMQgh6Bod5eWaGl6pqaGuvx9NCDKio7k+J4d7SkqwqOf+Cf3myBG+u3s3dy1cyH9u2ULL8DAvVFfzdkMDDYODBHWdeJuNxSkpfHbVKhYmJk46fmBsjMOdnRxoa+NIZyeNAwOMBgKYFIUEh4OSxETuKC7muuxsoiyWyHGeQICvbN3K242NPHbvvXS63fz3vn10ut0sTk7mb9euZUlKCk+fOMEvDh2iw+2mOCGBT65Ywaa8PExn9Omwz0dFdzd7W1s52tlJXX8/Iz4fsiwTb7dTnJDA5oICbszPJ85mm9uLYGBgYHCFYThOVxATukDf3LGDk729CMCsKAR1nYPt7VT19NA4OBh5258JAfhDIYb9frbW1/PtnTtpHRmB8eN8oRDDPh+WaSI9IV3n0fJyXqiuxq9pSOM22EwmxgIBqnp6ONHTw1sNDXx7yxaWpqZOakMXgh6Ph98cPcqfqqrC0a5QiCeOHyfB4WDA6+XJykpUScITDPJyTQ0ui4Wv33jjJCfsyYoKfn3kCN5QKBwhG4+G+EIhavv7qe3vZ1tDA1/etIkb8/LmJfI05PPx9bffZltTE/5QCEWSsJlMNAwMUNffz5HOTspSUzGdw5EV430y7PPRODjI199+m90tLZOuYVswiDcU4sPXXDPl+D0tLXx92zb6xsYiUSabyURQ02gdGqJlaIh9ra385cqVfGTpUqzjjtxE60FN47XaWrY1NtLhduMLhdjX2sqP9u/njuJifrB3L8M+HyFd50hnJ/+1ezelycmkuVyRPj3e1cVX3nqL5qEhJEAe7wddCDpGRmgfGWFfayuNg4N8etUqXGbzOxIJNDAwMLgcGI7TFUT36Cjf2rmTk729pLpcfHz5crYUFmJRVbpHR/nV4cM8WVHBWCAwq/Z2NTezt6WFJKeTjy9fzor0dCyqSvvICHtaWsiJiZkSvVJkmWszMznV18f67Gw25uaSFR2NSVFw+/28XFPDTw8epHFwkP/et4+f3HXXlKhLdW8vwz4fv7j3XrKio/n37dt5qaaGXx4+jN1k4j9uvpnVmZk8fvQoPysvZ39rKy3Dw+SeEXW6LiuLHU1NrMzI4Ob8fHLj4rAoCmPBIDuamvjBnj20u918b/du1mZlYTeZLv0CnEFQ0/jfAwd4s74eRZb5QGkpjyxbRqLDwVggwNaGBn5x6BDHu7oI6vp522sfGeGrb71F09AQjyxbxqa8PJKdTkb8fo51ddE1OkpObOwUh2NpWhqZ0dGsz85mU34+S5KTcZjNhHSdwx0d/OTAAY53d/Pzgwe5ITeXwvj4SW34QiGePXmSh5cu5f2LFvFGXR3/tXs3B9rbqeju5s4FC/jLFStoHhri088/T/3AAOXt7dy1YEGkjQWJiWRHR7MoKYkb8vJYlpZGtMWCPq5j9fODB9nX1sYTx49zbWYm67Kz5+5CGBgYGFxhGI7TFcQbdXVU9fSgSBJ/c+213LdoUWQQjLPZ+NL11yOAZ06cmFV7z588yfqcHL6yaROZ0dGR3Kjc2NgZBzdZkthSWMimvDxcFsukQTjWZuNjy5cz7PPxs/JyGgcHaR4aoighYVIbAU3jtqIilqelocgyH122jJdraugbG+PekhJuLy5GlWWuz83l+epqRgMB2s5wnCRJYmVGBr9+//uJtVqn2PDA4sX4QyG+vm0b7SMj1Pb1cU1q6ix7eXZU9/XxRl0dmhBszsvjSxs34hqfCouz2fjI0qXE2Wx84bXXZtVeTV8fw04nX7/pJm7Iy5uUp7YkJWXG49JcLv73zjtJcDim5DFtKSwk3m7noT/9iUGfj6OdnRTGx0/aRwDZMTHctWAByU4ndyxYwB8rK6ns6SHWauUTy5eT4nIRZ7ezNDWV7U1NVPf1cdcZbSQ6HHzrlltIsNmQz3K0N+TkkOJ08uE//pF+r5cjnZ2szcqaVf6XgYGBwdWIkc15hSCE4NXaWiDs2NxcUDAl+uAym7k5P58Yq3VWbSqyzOdWrybrDKdpNthMJqLOclgmMMkyi5OTsaoq/lBoRrXs0uTkyECf6nLhsliQJYnlaWmo44NvlNVKlMVCUNcZPSuKZlIU4my2aW2QgGtSUrCbTGhC0O3xXMC3Oz9CCI52dtIzOkq01crtxcU4zeYp+63NyqLkrJykc3HPwoWsy8q6oGshSRJJTucUp2mCkqSkyP3Q4XZPu0+y00my0wlAtMVC0vi/S5KSIs6gLEmkR0UBMDg2NqWNJIdjitM0QUF8fKTNTrebc08kX/kIIWg80c6/feLn7Hrx8OU2Z9YIIehs7uWbn3qM1/+wF3GeKf13M7ouCIU0gkGNQCBEIBBC0/T3dJ8YzB1GxOkKoXdsjLaREQCWp6djm2bqSZIkChMSiLXZZlXeoyghgeILGNjPZjQQoHt0lBG/P7KqLKTrnOjtBcK5O8FpSr6YFWWSczeRGzQaCJA2PjhD2AkzKUpk9dx0eINBukZHGfb58AaDBDQNTQgaBgaA8GARCIUu+jtOh1/TaBgYwK9p5MTGkhcXN60D5zCbKU1J4WhX13nbjLPbWZmRMSnp+kIIaBp9Hg/9Y2OMBYP4x6+FLxSK5Ev5p+kHCYi2WiN5WJIk4Rh3ApOczogTC0Tyo3wz9GdI1+kfG6PP48ETDOIPhQjpOiFdj5zbHwpFcumuZnra+jn0VhVJGXGsu2PZ5TZn1gz2jHBwayUWm4mbH1hzuc15RxFCMDA0Rkt7P20dg7R2DuIe9ePzBRDA5o0lrFmWhxEMNbhUDMfpCmHQ6404IcnniDBEWyyRZf3nI83luuApEzG+PP3N+nrebmykaWiIQa83srQ9eIY8wXRRGAg7ToosT3I2pPH/bNOtQjtroBXjjtTbDQ281dhIXX8/A14vo4FAZLAO6uG3x2nbu0QCmsaQzweEv+OZq9XORJEk4me5isxpNodlAS7geky8HZd3dPDSqVPU9PXRPTrKaCAQkTM4UxpgOndFkiSsZy0CmPiXdVz+4Mx9z25nwobqvj6erqriVF8fnW43br8fbygUuR+0d4GzNIEkSRQtzeHz33uIvNKMy2aHEIKGyjYaqtq48f7VM0b8JpAkiazCVP72ew+RUZD8Dll5+RFC4PMF2V1ez+vbTlBd18XQiHdKdGlBfgqrl+XCWTFfnz/IrgN1NLcNIAGrluWyqCjVWOBgMCOG43SF4D8jcmBT1RmncywXoJdzvqXy0zHg9fIvb77JzuZmNF0nyekkNzaWvNhYYmw2nGYzDQMD/LmqasY2ZEmacQ54JofwTDzBIN/csYPnT54koGkkORxkxsSQFxtLvN2Ow2xmwOvlV4fnZxpF1/VIBEwdj4pNhzzulMwGVZYnRXdmQ0DTeLKigh/t38+Qz0e01UpWVBTL09NJcjiIslgwKQo/3LuXEb9/5nPP0OezuRYhXeelmhq+v2cPnW43znFJiiUpKSQ7nURbrdhUlZ+Vl9M5w1Th1UhsYhQb7l5+WW3QdcGBNys4tquGTR9YPatjnDF21t159UTI5oL+QQ8/+91Otu+tYcw7u4UzZ6IqMm2dQzzxzAE0TaelfYC8v9qC3Tb9i6GBgeE4XSGYzxAx9IVCM+aJhM6IMMw1uhD88vBh3qivx6QoPLJ8OX+xZAkpLtekQfaVmppzJqifazg+31CtC8GfKyt5uqoKHbi3pIS/XLmS7JiYSTYc7ezkd0ePzkvOgjwuLAnh/g7NMI0oYFYr6ia4kPdXIQTl7e385OBBBrxe1mZl8dnVqyfliEH4XvnpwYMwg+MkARc7NyGEoH5ggB/u3Uvb8DDXpKbyV6tXc11W1iSnXAjBk5WV7yrH6UpgdHiM2mMthIJzOxX9bqJvYJT//sXbvLWr+qLbUFWF0uJUXA4L/YMeDhxtZHhkzHCcDGbEcJyuEOJttkhko3t0dEbnaNjnmzaXZS7o9XjYO64xtDI9nUeWLiXebp8Usp7QZboQh+FCGPH52Nvail/TuCYlhU+uWEFOTMwUGyYUxedD/NKsKMSOT8F5AgFG/H5SXK4p+2m6zsA0idRzQUjXKW9vp3t0lES7nU8sX86q9PRp1dq94+rs88Gxzk5ahoawqiofW7aM63NzZ1Qpn2+EEGghjYbKNg6+WUnjyQ4CviDR8U5Kry1g7a1lOGNO368H3qzk1d/t4rP/8QBdzf1sf7acnrYBHFFWVt20mNVblmC1n9ac8ox4eeanW6k+1IjQBQLBpvev5qb7J+cKuQc9/OzLf2Lzg2tpr++h/O0qSlbmcdvDGyh/q5Jtz5STmp3A3Z/cRHxKdLiPNJ2mkx2Uv1VFfUUrvjE/zmg7i9aE7Y5JDOtmCV3QcKKNPS8dpfZ4CycO1IME//Kh/2aiZkB6QTL3//UWElJjAPB7Azz36Nsc312DEAIhBNfecg13PLJxekV+XaeruY+3/3yQxpPt6JpOVlEqm96/ioyC5ElTgo997WksNjN3feIGdr94hOO7T+H1+EnLTWLD3cspLMtGUS7PGqNAMMTLWyvYdaA2ss1pt7CyLJvSBemkJEXzyluV7DpQd962crMSiIm20z/owT3qp6axh9TkmPk0/6pDCBEel84ammR5arWDdzuG43SFkGC3kxkdTfvICOXt7YwFg1OcgokIwET+zVwz7PNFVrflx8XhPEuOAMLTR0e7uuYt6jUaCES+X0ZUFAlnOW4Q/t2Wt7fPW16NRVHIi43Foih0ut3UDQxM0UeCcDmVqp6eebHhzNWCTotlxgT1wx0dMyZzXyqC8Eq9CSHWhYmJ007vVfX04D7HVOFcUne8lW9/9heYrWai45zIqkxdRQs7nj/EvteO88UffwyrPZyT1tc5yJHt1fz2Wy9SfaiBqDgnqkmhq7mXPa8c47Zj63noC3dic4T3V00KmYUpeEf9NFW3c3xXDQtX5E2xIRgIUbG3luGBUcbcXsbcPo7urKa+so2+jkGCgRBHtp3E7w3y6X/7AJIk0dncx79/8ucoqkJMggvFpNBS28WeV46x87lDfOkXf4krxoEQgr6OITpb+lBUGSRQVIWoOGfk+juibMjK6esgKzLp+cmMDHhoq++mfGsVGQXTS1yEghoH3qjgJ//vKVSTQmJ6+L7a8/IR3nxyL5/4yn1cd8dSTObw0FB7vIXhvlGqDzUy0D1MdLyTUEhj2zMHeePJvfzTTz7G8hsWzek1ng1CCFrbB3nh9eMEAhqKIrN0USZ/9bHrycmIR5ZlJAmOVLbMqr24GAfpyTHUN4UXvlRWd7BxTdE8foOrC38gRGVdJxV1HYz5gpFIv6oqfPyeNaiK4TgZXAYkSWJzfn5Egfn12lo+UFo6abD0BINsra9ncBYr6i4Gm8kUKb/SNTpKIBSaksNzvLs7IpswH1hUNbKisH88ITzqLPmF+vPkWF0qkiRxTUoKiQ4HbSMjvHTqFOuzsyNL9yc41NFBRXf3vNggS1IkKd0bDNLj8UTkAiboHh3l8WPH0OYp+gfhFXkQjoC1j4yQFxc36fMhr5c/VFS8I46TJElkFCTz6W/cT0JqLKm5iZjMCi2nunj0a09zdEc1jVXtLFx52tnRQhpHdpzkL/7+dtbeXobVbqG5uoNvf/aX7HzuELc/vJ70/HAitcVmZuM9K9h4zwrK36rixMGGc9rT1dzHV37zGTwjXr7xsZ9RubeWT//b/RQsyeKH//A4R3dWI3SBrMokpMbwqW/cT0yCi4z8ZMxWE13Nffzi68+w/40Kao40s/yGEmRFZvXmxazevJiulj6+9pGfYHdZ+ccfPTJjZMdkVrnutjKuu62MU0eaqNhTM6PN7fXdPPHdl7E7rXz2mx+kqCwbWZZpqu7gZ1/+I4//10uk5ydRsCQr8uxpru7AFWvn89/9MLkl6QQCIbY+uY/ffvtFXvzljsviOAEcO9FGV294JXJOZjyffeR68rMTLyr6IUkSGWmxSIRfGNo6BufW2Kuc47XtPPbsPpYUpmO3miLT/xeat/luwXCcriC2FBbyzMmTVHZ38/29exnwetlSWIhVVekbG+P3x4/zZn09ZlWdl+mZFJeLovh4Tvb0sKOpiT9VVXFbURGKLOMLBtnV3Mxjhw/jD4VmvbLvQom12ViYmMju5maOdHbyu2PH+ItrrgmXntE0DrS18YvDhxnweudlRd0ECxMTuaWwkF8ePszW+nq+vHUrH122jCSHA28wyK6WFn5x6BAWVZ1RSuFSMMkyS1JScJjN9Ho8PHboEJ9bvZp4uz1cT7C/n5+Vl3OsqwuXxXLO5PCLRSIszhljtUZET10WC+lRUQgh6HC7+Xl5OXtaWnBZLPMWCT0TR5SNlTdNfqHILUln2fULqS5voKulb5LjJEkSpWsK2fSB1ZEoSt6iDFbcuIhnf7qVkUEPaUJc1GBbdE02SelxSJkSrhg7jigbBYsziY5zkp6bxKnDjZEFoxabmZU3Lpp0nvT8JFZvWcyhbSfoHI90zCe6plO5v47GE+185t8fYPG1hRF7isqyuf//bOFfH/oxB9+sJG9RBooa/o1b7Wbu+MgGCsuywwXHLSaWb1rE208fpK2+m4A/iNkyt8r950MAB482AaAoMtdfW0R+dsIlTRklxDmY8JwGhuZWG+5qp6a5l/VL8/nAzWWokxx46T0p72A4TlcQSU4n/7h+Pd/asYMTPT38565dfG/PHiyKgjcUwmk28/Hly6kfGOD56otPhpwJVZL45IoVnOjpoaa/n3/fvp0fHziAy2Jh0OtlxO/nmvFitL85enRekoEVSeKDixdzZLyw7U8PHuQPx48TY7Mx4vcz6PWSFxvLlzZu5MVTpyhvb59zGyBcG+9Tq1bR4XaztaGB56urefHUKWyqil/T0IVgXXY2G3Ny+J99++bFhjUZGdyzcCFPVlTwSk0N2xoaSHQ48GsavR4P8XY7n1m1io6REX577Nicn1+SJBYkJvIX11zDLw4dYk9LC+Xt7SQ5HGhC0Ovx4DCbeaisDEWS+OE89cPZNnncXtpqu+nvGsLn8RMMhmg60Q6SRCg02YmVFInCJVkRp2m8EeISoxACAv6LfwFxxTmQZAlFlTFZTFgdFqwOS3ibSUHXBEIXEbu9Hh/t9T30tg/i9fgIBTRqjjQjy1Ptng80TafxRDinqXRN/hQnI68kA6vTQt3xVrSQHnGc4pKjSc6a7JRY7WZsTivD/aOEgto77jghoKN7CAiviitdkH5euYbzYbOZmfCcvL75yxu8GkmIddLQ1g9wyf38bsBwnK4gZElidUYG39qyhacqKtjT0kLn6Ch2VWVZWhrvX7SIDbm5/Kmykldra2e8gRVJQpVlFEm6YJXqooQE/n3zZp49cYKdzc30eDxoQpAVHc267GzuWLCArOho3qivp9fjmaIPpMpyWLPpzIfyuD0Tn515PkWWURUlsr8kSWRGR/PVTZv4c1UVO5qaaB8ZYcDrJcXp5N6FC7m1qIiFiYlU9vRwtLNz3hITY61W/t/117MqI4OXTp2itr8fXQgWxMZyU34+dy1cyKDXS5zdHvn+ZyNPXIuzvvv5kCSJOLudz61ZQ2ZUFK/U1tI4OEj/2BixNht3LljAncXFrM7I4LW6On5fUTFJs2uiGK8qy1PykhRZxjTNdvmM+2YCp9nMI8uWkeZy8cyJE9QPDDDg9RJjtbIpL4+7FixgXXY2VT09qAcOhKUy5ul6CCGor2zlqR++TtPJdkKBEPYoG1abmcE+N9o0zocEWJ3T63CFG714exT1tKjoxP+ny8cTQtBe38MT//USDVVt+L0B7FF2rDYT7uExgsH5d5oYtyM47ihap1kxJskSZosJvy+AOKNjVLM62fGc0vCcmzorRtzhCKcsS8RE2y+5vVDo9JT3bKQ63kskx7l46vUjdPWPkJUcg8kUdqoVWeaBLcvOikK9+zEcpysMVZZZkJDAP2/cGBE3lAjfoOZxwcKHysq4v7QUVVGmnTL74wc/iC4EqqJcsFK1LEmUpaRQmpREUNOYeJQokoRp3AEA+N6tt6IJMWlZenZsLG8+8giCyUKXCXY7Lz/8cFiw8gxF9MzoaH59333oQkz6HpIkURQfzz+uW8fn166NJKLL4zZMzKv/3w0b+Id16+Zt2nCi3MmDS5bwgUWLCI3boUgSJkVBkSQyoqJ45sEHAabVdHpk2TL+YsmSiBDlhZJot/Ox5cv5cFlZJBleZrK+1J3Fxdycnz/pWjvNZr5x8818ddOmKffAN266ia/ecAMmRYksQFAkib9du5bPrV49JW8h1mbjA6Wl3L1wIboID6kTTrJJUZCAlenpHPrMZ1DH+2U+CPiC/ODvHmewZ4SP/PNdrNmyBJM5LO750q938vh3XpzmqPlc8TO7drWQxv988fe0nOrggc/fyg3vWxmO0MgSO54t58dfemqe7JuMLMvEJodX+fV2DJGSPbmqgM/jxzPiJS4paupL2RXoR0wM3kII/JcQOZygu3eECS8wLsZxye29m/AHQizISQIBQ+7TObaqqrwrKgVcKHPqOPUMj/Lk7mMIIfjoDSuIss+upprBZKTxgXkmp+dcnwHYZ1D0nqvzA1jPcIB0ITja2MGuk43EOGw8tHHZpMFKPqPMx5nIkoR9mtIys7XBoqrMFEvwBoLsOtlI56Cbm5YUkhYXNcOeYUKazs4TjVS0dE7aHm23sbmskNTY6Y9Xxr/bmD/Ay4eqaewZmPR5crSLW5YVE20/R9TjHEiSFC5Zc47wuKooOM/qp4ijNo2zNt12SZLC/TmDc6fI8jltUCQJ5wwK63PFYM8IbXVdrLixlDVbluAaH9x8YwG6W/oIvUORmwtluH+UlppO8kozWXfHMqLiwnX9goEQXc19kSjQ2cjjU35jbt+cDE6KKlNUlo3dZWX3i0dYtCofeTxSIIRg32vHEbqgZFV+JJp2JZOc4KKzexhNF7R1DrKoOO2i2/L7g5ys7Yx0c05m3LkPeI+xenE2qxdPXxj+vcicOk59I2M89uZBdCG479rFhuN0FTOh2SFPM/0w3b6VLV08+uZBchJj+fCGpZdd16OpZ5Afv7qP1v5hdF3w0U0rzrm/puscamjjmf1V6Hq4Bl8gpJEZH01ZbuqMjtME/qDG7uomdp5sQtcFgVC4PE1pVjLrFuYQbfwWLhlXrANHtJ2GylZqjjaTX5qJZ8TLG0/uZf8bFZeUeyGEIBgIEfAFEbqIOCt+b4CRQQ+yFHZirPYLfylxRttxxThore3iZHk9pasL8Hr87Hj+ENueLkeZ4eXA6rCSmp3Awa1VvPbEHlZsWoSu6wQDIZIz4jFbwy8dwUAIvzeA0AWe8VIjAX8Q96AHSZZRVBmbPZx7tWhVPqs3L2b7s+VExTtZf9cyFEWhfGslz/78LZasLWLpxoWX/fd7PiQJFhWncbSqjVBIY9+hBjasKcRmvfDrowvBoYoWGlv6I20vXZI11yZf1QyOjCHLElGOCysb9W7FmKozmJaG7n4ON3Zww6J8EqKuvrC1WVWwmU1YTeqsHHizqvCJm1Zx96pFDHt87K1p5okdR2d9vmi7lX+4ZyOPbFrJ0JiX147U8Oz++ZNMeC9ic1r5yD/dxTM/3cq/f+LnCMK5OqVrCvjQ397KH//n9Utqf9vTB3n+0W2MeXy4Bz34xgK89Ksd7HrhCFaHhZKVeXz8y++74HbNVhMPf/FOfv/9V/j+3/4OXdexWM0UlmXzob+7lad/8ua0x7li7Nz28HoGuod59Kt/5kf/9AfMFpXlN5Tw6X8LSzIAHHi9gt9//xW8Hj+jQx68o37e/tMBjmw7ic1hIWdhOn/1rQ/iinEQFefk41++j8f/80Vef2IPT5I+WUQAACAASURBVH7/VYQQRMc7KVmVz4f/4Q6SM6dqll2JXLeqgOdeO8aox8/BY828vu0Et9+0ODx9NEuEENQ19PC7P++PrKTLzUqgtDh9vsy+KnltbzU+f5CH71j1nlxFdzaG42QwBSEEW4/X8+TuY5SkJ12VjlNmQgxfuHcjwx4f1+SeP4QvSRIxDhsxjrBi+IjXh+kCHsCyLJHgcpDgCvdVY/cAsmw8YeYSWZa44X0rKViSRVdLeIrLEW0nb1EGFquJuKRoMgpPCz+WrSvmb7//EAVnRQ8kCVZtXkx8agxZxamR7UVl2dz32ZtmPH90vBOzxYQkSSxeV0zuooyIEOVDX7gDk0XFYjOjKDI3vG8lC5bloKrhYtdrbllCZmEKnc29uIfGKN9ejXvYiwZ84iv3kTTN1JAkSSy5rojPpz5Ea10Xfm8Qs0UlKSOO6PHpPoDshWnc95mZ7ba7bFjGIzGSJBGXHMUn//U+GqraGewdRujh75Zbkj5JeR3gg39zCwFfkKT0yfY5o+3c/9db8I35I5GvdxJJksjJiOfa5Xm8ufMkwyNefv3HvXh9AW69cTFRzhlelsTpwtU+f5ADR5v4/dMHqKoJT9GbzQq33lCKyzG/085XHQKinTbDaRrHcJwMpjAy5qe6vZfgPOgTvVOYVYVrci4+58HgykQ1q+SWpJNbMjUisPKm0kl/p+UmkZabNGU/SZLIKkolqyh10vachenkLJxFpEGC0jUFZBamRJyM5TeUTNqlYEnWJIdNURWyilPJKk5FCMF1ty/lzT8eoKOpj1s+eO2Mp5JlmYyCZDIKkmfcJyM/mYz8mT+fYr4kYXNaWbQ6/7z7lq1fMO12i81M2friWZ9zPnA6LHzwnpU0tw9QU99Nb/8oP/vdLp577TjLFmdRWpxGZ/dwZP/efjfHTrTRPzjKqfpuyo820941iM8fVt6XJIn1qwrZfH3JZSsjc6WydEEGz759nKaOAZx2y+lVhxLERU2t7vBux3CcDCYhhKB72E1Dd//lNsXAYM7o7xqmsbqD3o4hcopTaa3vJiktlsIlmRzaXs3yjQtwRNk4ebgJWZYouiaLtvoeju6qIeAPklWYwvLrFxAMaGx77hDDAx4cUbbIgKFrOrUVrZw83ISu6SxcnkvRkkyaa7o4caiRgC9I4eJMFizLwWRWsY1rPhlcPJIkUZSXzF999Hp+8OhWGpr7CIY02joHaesc5PnXJ2ubPfXCIZ564dAMbcHKsmz+8sPrjRV109A/7KGutY8v/OB5UhOiIo6lWVX4xl/dfkHR+XcD8+c4CWjvH+btynrK69twewNE2y0szUtn0+ICUmNdM2plBEMa9d0DvF1ZR3VbDx5fkGiHlVWFmaxfmEtKjHNazRSAU+29/NfzO7gmJ5WP3rACJDja0MEbx2vpHHCjKjLZSTFsKMljeV76lAu+91QzP35tH7ctK+a+NYvxBoLsPdXMtqoG+kbGsFtM5CXHsWlxPqVZKVNs0IVg1Otnz6lm9lQ30zXkRpFlshNj2Lgoj2V56ZhVZVrbfcEQv912iN3VzXzhno0sSE+ka2iUVw5XU9XazYjXT5zTzqKsZG5dWkxStHNKGxeDEIL6rn7217ZS29nHybYeWvqGEAK+8uQb2M2TQ/FrirP59ObV0yfjSqDpglMdPbxy+BT1XX34QxopMS5WF2WxqTQf+/h0x9mU17Xx3y/v5qZrCnlg7RL8IY39NS28VVlP37AHq1klNzmOG0rzWZKdOmkqTAjB3ppmfvLqZBFGi0nlLzYs5frS879dX250XdDn9rC9qoFD9W30ucewmlRKMpK5cUkB+SlxYT2oafquoXuA772wk+zEGD5582rMqkJFcxdvHKultW8orI+VEM36hbmsKszEYnpvvTP1dg7x7GPbKbuuiN985yVW31zKrleOERXn4K2nyylemo0jykbVgYZwDbe0GJ79xXZKlueSkBYTXrEnQFVlcopTeebR7eQUp5KeG17S31LXzRM/fJ1rNy8mKtY+Ph0k4XH7cLhsRMU6eOl3e3BE2chdmHZBb+hCCAQ6IRFACB2QUGUTMuq8vOkLIdBEEIGOKk2tV6kLjYAe1lCSkDDJVmTp8kVoyhZl8qX/cxu/f/Yguw/W4fMHL2gRosNuZtO6BTx47ypSx+UaDCZTmJXI3zy4ccp2WZYiEjXvJebl6WkxqRxqaOfRNw/Q3j+Cy2YBBMNjfrZW1PHk7mN840NbKJsm92RwdIwndh7lt9sP4w0EcVktmFWFsUCQrcfr+FVsOZ+77To2lxVOu1R91OfneHMnsiTR0jfEr98u543jdRHdGV8oxK6TAq8/xJLslCmO0+Col6ONHWQlxLA4O5X/fmk3B+paw+KNkoQvGGRbZT12i5mSzORJmjVCCMrr2vifV/ZQ0dyFIks4rRZ0obO/toU/7jnOlqXFfGrzarISYqY+kHRBS98QRxs7qO3so3PIzXee3U7XkBuzqqLpOoGQxo4TDSzNSZszxwlgW1UDL5afRIjwUn5ND+tHub0BAmcJC475AzNq3imSzJO7j/HzNw7gC4ZwWEwENZ2Dda28WH6SNxfl8cV7N5IWN/UBNTTm5VhTJykxLpbnp/OjV/ay91QzyrhYoy8YYntVAyZFoTQrhbMlJWVJRpZl/MEQoz4/nYNhp/WW0bE56qX5IxAKr8r7znM7aOsfwmYyYbeYCYRC7DrZxBM7j/CRG5bz4Q3LsE2j0jzmD1DZ0sXImI+2viGe3l/JcwdOAGFlZX8wxJ5qweColyU5qe85xwkgJsHJmpsXUXOsmTU3lfJsyw783umlAIQIK237vAGKl2aTnBGHJEvIUthxik10Tdp/27OHKFtbyJYHVk/anlWQjCSBe2iMgC/IUN+Fq+3raBwaeIHKobcIiQCqbGFN/PtZGLWO+RFYEuzu/QNDwS42p34GmzL5u3b76nmz6+d4QgPo6Lw/88skWXPnwY7ZIcsShXlJ/PPf3MrBo028ueMkDc199Pa7cXv8kZymM7HbzCQnRpGblcCdNy+mrDQLRZ5Pza+rm8RYJ4mxczfeXO3My9NT03X+99W9OCxmPn/HOnKSY0FATWcfj+84QkvvED9/8wDf/PCt405VGG8gyJO7j/ObbYcwqyp3r1vEyoIMbGYTbq+ft47X8VZlPd99fgcOi4mNi/JmvNF7R0b5yWt7Od7cxftWL2JxdioWVcHtC1DZ3MW1xVlYzTMnNbb2DfG9F3bS3j/MwxuXUZSWiCxLDIyOUdnczarCzEkRMyEELb1DfOuZbdR29lGalcL71iwiJcaFpgsauwf4874KXj18Cl8gyFcfuHnG1V4Cwc4TjdR09pEY7eTB9UtJjHYQ0nTaB4Zp6hmkMC3hIq/O9Ny+fAFrisI6HdXtPXzn2e0ossznbr2W3OT4SfvGOKwzRgu7htz88q1ySjKTuX35AmKdNvyBELuqm3jlcDW7q5t4sTyZRzatmDG82z4wzA9e3E1TzwAPrl/KwoxEFFlm0OOlsrmL1UWZKNMkXi/LS+M/P3Ib3kCI+q5+fvDiLjoH574szFyjC0F5XSv/+ex2eoZH2bS4gBsXFxDntOELhthf08pzB6p49M2DxDhs3Hft4hn7f2B0jMe2HuRQQzt3rFhIWU4aNosJjy/AidZuSjKTcV7Eku0L5czBStcFo6N+/IEQ+nhBYpNJITbG8Y4m0JstZmRFxmI3j59XTLJTCIGu6wghE5vg4p5HNrDrleM8/t1XWbq+mJvevxJphirwI4Me8krSJz2PAv4gf/zJW9gcZpLSYwn4g+j6hesx+TUPB/qfZkHUeopca9HRiDdnMH+qlBJFUWsI6F5M0tRnVKIlhzvS/45a9z4OD740SWX8ciFJEiZVYe2KfJYtzqKja4iOrmF6+t2MuL2MeQOENB2rWSUm2k5igovM1Fgy0mKxmOcncvduYkKeprall64+N0uK0nDZLQghMM0wg/JuZl4cp5Cmo0gSX//QZorTEyNaQGuKsrCZTXz/hZ3UdvRxqr2XFQUZQPjC1Hb28cTOI2i64DO3XMv71pRiGb8oQgjWFGUR47Txp70V/HrbIfJT4slMiJnWhobuAQY9Xv7twS0sy0vHYlIj7dy+fEEkijETFc1d5CbH8a2Hb2NBehKmiFAc+FYFMauTf2zBkMav3i6nvqufJdmpfO1DN5OTFBc5x3ULclhVlMnnfvYcb1fWsyI/gwc3LJ323ELAjhON3FxWyOduXUtStBNFlsMhdF3HH9SwzmHEQJIkUmOjIlpF/mAwHIJVJPKS41iUNfvE07FAgLULsvmHuzeQEuOK9Pmqoiy8gSAvH6pmf20L964pJXGG1XpVrT1kJkTzrYduY2FGUmRqUxeCu1eWTDvVKUkSZlUlMSr8VqRp+pz20XziHvPz67cP0T4wzO3LFvLFe68nym6J9N3qwizsFhO/2XaIP+2tYGleOgUp8dO21do3zKDHy78+cDNrF+RgPeO+v21ZcaTMzXyh64IRt5f2jkEOHG6i8kQbHV1D+P0hwj5TeJAtKkjmq//3buzTlP6YL07ns0oRn0OSJWRFwuvxMzbqo6d9kLTsBHRdkJIVz/s/dQM1x1r5/Q9f5/p7lmGeIWk4JSueltou/N4Aiiqj6wKvx0/tsRb++pv343BZ2ft65axtFULg18fwaiP0+VvQRIh4SwYONRpZUrEprshvQNODeDU3QeFHCB1VNmNXolGk8IthSATwaaOokgmfPopNiUKWVDyhQUySBYcaG7lHvNoIXm0Es2zDqcZNOwWnymZizam4TAlITP1cEyGGA904TXGYpNO6P5oIMRocwCxbsann1kW7FKwWE3nZieRmJUacYV0IhAiL7iqKNGOqh8H0DI/6ePSZvVTWdzIwPMa/fvo2JAl2HK7jsx9Yd0ESEO8G5m1kuWVZMSWZkwdck6qwOCuZ5BgnA6NeekZGJ32+9XgdQx4fBSnx3Lt60aSBb2K5+PuvXcLW43VUNHdxoq2bjPjoaX8Ami64e+Ui1hRlT3qrlSQJ2zkiTROEdJ0Pb1jKkuzJK28kCeyWqQ/7+u4BjjR2YFIVbl++gJzEuEmOmarIFKYmcPeqEh7bepDnDp7g3jWlM9qSEOXgwfVLJwkvSpKEqiio81RiZC5wWS3csWLhFLudVjPXFmXz+tEauobc+AIzl0jQdJ0PrSubMpUrS9K0fX+109w7yMG6NlRZ5uHrlxHtOP2WL0kSDquZDYvyeOlQNQ3dA5xs7SY/OW7a+14Xgi1lRWwoyZsU0ZMk6ZwR1rnA7fax/1ADL71eQdWJdvyB0Iz7jrh9006hTKDrOnv214+XwQhTmJdEacmlF3M9E4vNRGZBMi/+dhexCS46m/rIKkxhsHeEHS8eJegPMTo8Rn5pOrIi097Yy9FdNdRXtRHwBfF5Ayxbv4CNdy3jV996id99/1XsDit5JeksXp1PYnosr/9hHzanlZFBDxISI4MeDu84xdFdpxjsc/Py43tYfdMi4s/Kr2nxHOf40Bu4Q/34dA/l/c9TOfQWTjWejUkPE2cJrwCsHd1H+cALBHUfmgj3+aLo61kdfx8SMp3eWnb2/pZYcyqtY1VkO8pwqDHUjOzFoti5K/0fiTIlItBpGD1E1fDb9PqbSbEVcFvq57FfoJMzFhrij61fZWXcPZTF3spExcxeXxMvdHyHa+PvpzRm0xxcvXMjSeH7Xpav3Ofl1cKuIw34/EH+8/N387M/70HXdVITo2ho60cT4j23ymzevu/K8UjS2djMJiym0/k6EwjgWFNYS+OanPC02nTkJccR77LTO+LhZFsvNy4uRJ0mfK7IEmuKsy5ad8KsKqwunr16bMfACH0jHmLsVgpS4qedglBlmdKsZEyKQr/bQ2vfEEVpidO0BikxLgpTp48qXMk4rGYWpE//naLHVWf9QS1Sf246VEXm2gvo+6udipZOQrpOcoyLxGjntE5ltN2CzazSNRSic8iNpotp73tZklhZkPmOFt0UQtDT6+bR3+xk74F63KO+OWgTTpzq5Pd/2h/Zdk1pJt/86n1YrRf+3TLzk7j7YxuIT47mvr+8gZh4F7c/dB2JqTHc8/HraW/sRVFl1t9eht1pxRXrYOm6IkaGxjCbFdJyElEUGYfLSnZxKh/K2YwkS9idVkxmhcS0WD76hdvoaR9EiHAEymo389Df3Up3Wz82p5X1t5cRFefAZFZJy07gpg+sBgSqKaz/dDZZjsUkWXMZCLTxYvt3WZ1wH1n2xciSgkM5HWmPNiWzKv5eok1JgETV8NscGXyFAudqEizh31GPr5HS6E2k2Rawq/cJClwruTHlE7zV/RgtngpKYzYhIVMUtZZsxxJ29v6OMW1kik2zwaq4yHUsp8a9h8UxNyFLFoTQ6fE3EtT9ZDuWXFS7BpePQfcYxTlJxMc4Jr2w6bq4bEWeLyfz5jilxLim3T7R6UKcVX5JQPeQ+/SxM3g8qiKTGO2kur2XnuHRGQdgu8U8KX/qQnHZLDguILrh9voZ8weJddomRQzORJIkXDYrDquZQEin3z1z0nKs03bBBXqvBMyqQrxr+krlkWvPuUtvuawX1vdXOx0D4fu+Z8jNlq89OuN+wfEXDbfXH84VmsY5splN72h5FyEEjc19fOv7r3CqtmvO6n3KssSalXm89NoxhobDRUUrTrTR0NRLyYIL1+dyRNlwRIXFTbPHRS8zx7WPrHbLlGRvgLxptKJiElzEJEz/bEvOjCc5M/6sbXEkTyNuWbz03HW/JEnCqjixKk6Cug9JknGoscSYU6bsm2ItJIXCyHSbHqVR5z7AQKA94jhZFRfp9oVoIoRFcZDvXEWWfTF2JZqRYG/knGbJiiqZMcu2i3acVMlMvms5tZ376Pe3kmIrICj81Ln3k+dcgU2Zv2k6g/mhIDOBZ946Tn5GAiMeH+29w1Q1dJGdFvee1LyaN8fpYnQdJh6655t7npgCCydaTv+kliUJ6RIqo0+XfHwuTltx/nOOp6Wec6rial3hISGhXuJUiixLMzrO70a08YRpq1klMyGW8916iS7HjP0jj09PvFP3Tlf3MD/5xXZO1XbPaZF0SZJISYoiNzuRI8dbgHDe2r7yhotynN7NaCJI61gVvf5mvNoIo8F+/LoHXZyO6JtkC7KkIoRAQcGmuJAlBQkZjemmVC/+/pEkiRRrIXHmdE6MbCfFVoA3NEKXr4FNyR+P5F4ZXD0sLc6go2eEx57dR2vXEN39IxRmJfHA5qUXPFa+G7hypiYlSIiy0zEYnvIiLIMyBV0XkUhNnMt2xTgXTqsJq1klEArh9vqn3UcIwZg/yFggiMtmMQq/GgBEInSpsVF875E7zpuLZDOrkcUKl5NAIMSfnjtE+ZGmSS8BqiITFWWjqCCZkuJUEhOi6Ot389hvd11Q+7ExDnKy4jla0RKJUFdUtREIhDCb5/fR5Q74aXQPoEoyJXGzXxzxThPU/bzR9VO6fLVk2EuIN6ejSCbkscn9I50l3jFdUvdkLs0LtivRFDhXcmJkOyPBXupHy3Gp8aRY8+fsmT3mDXCqvpvkRBdxMY6LXh0nhMAzFmB0zA9CYLGYiHbZjJJJZ2C1mLj7+lI2LM8nEAwhSxIuhxW7zXzFjMHvJFeM4yQBy/LSOd7cxbGmTgKahlWeal5L3yA9w6MosszC9KQrRnwrIz6GpGgnnYNu6rv6KctNm7JqT9MFJ9u78QdDZMZHk50Ye5msPTeRiIUI22wwvyzJSUWWJLrGp6pnWm14pVHf2MuLrx1H0/TItugoG7dvWcKtN5WSkR4beahWVLVdcPuqKpOfm4TFYsLnC+d99fWP0tk9THbm/Ob/Hevv5HM7nyHeamfrXZ+a13NdCm1jVTR5jrAx6WFKoq4Pb/OeoHJ46zR7X8gAd2mDoSRJFEddx+HBl2nyHKXWvZ9Me8l4HtalI4Sgq3eEr333BUDi+rVF3HvrUrLSp06LzoY3dpzgR7/chj8QoqQolW//y31Eu2xzYuu7ASEEiiIbWk7jXBlexzgbF+Xhsllo7Blge1XD+BLS8MAthMAfDPHqkRqGPF5yk2IpSk+MrNi43OQkxVKSmYwvGGLr8Tr63Z4pGjE9w6O8fOgUAOtLcnFYr8ySC6oiY1FVgppO9/DoOacUDS6dgpR4FmQk4vUHeXzHEcb8wbBa9Bn3/oQURUjTL0oLaK4RQvDKGxURhwbA4bDwkQfX8tEH15KVGY88Lhp7sW+kkiSRkhw9Kbo05g3Q1z96jqPmhqCu4ddmXhV4paCjIyFhkR0IBEHho3H0MF7twvXLwveZDuhhbSYRPoMQ+vi9KCL3ohD66dyK8b/Pfk441TjSbEWcHN7BULCLfOcqpDlUGG9u7ad/wEPfwCjb9tTQcxHiojDu5BWkEBsTjvzWNvTQ1TN8nqPeW2w9UENVfdekazw4MsZTrx8hdBXXNL1YrpiIE0iUZCTzwHXX8Nvth/nOc9vpHBxhVUG4PIQ3EOS1ozX8eW8FZlXh/rVLyE+Ov2JSYawmE5+4aSUVzV3sq2nhq394g4evX068y44uBK19w/zqrXJa+4ZYlJnMh9aVXTG2n02Cy0F2UiyH69t4fMcRHBYTSTEuEIJASMNls8yon3W50DQdXzBEUNMI6Tp9bg9BLfwwHxnz0TM8iklRUBUJk6JEdL0mCIQ0/MEQIV0npGkMebzoQiekh5P4+0Y8qIqMKstYTOqkHD4x3i+BkEZI0whqOiNj/sj2PrcHi1lFleXIuc9c9RbrsPPxG1fx7We38ae9FXQMjHD3qhJSYqKQpLBtXUNuDjd04Pb6+Md7NhLnnD4B/52iu3eE42dEkRRZ4tabSrlt85I5nUZLSYrCYjrd115vgP6B+XWchBD4tRD+q2BASLMVk2DJYkfvbznl3o1Xc2OR7VPUvmdDQPdyZPBl/LqH1rFK/JqHPX1P4lBjKHRdS7w5E4HOieEdDAY66PbVMRYaonzgOaLNKSRb8yl0nVZOl5Apjd7EM23/QaIlm3T79AWDL5aKk+2RCcXMtFjysy9eFDg3M4GEOCddPSMEQxpHq9oozp+aiP9epaVrcIpWU1DT2Xu8ibtvWMx7TMbpynGcJAlsFhMPri8jEAzx1N7jfPf5nSS47NgtZobHfAyP+Yi2W/nwxqXcvXrRO7rk+nxIEuQmxfGFezbyo1f3sLu6mYN1bSS47GhC0DcyRkjXWJGfERG1vFJJinZy96oS6jr7ONzQzt//+iXinHaELvD4A2wuK+RL77/xcps5iRNtPfx5XwVurx9fMMTQqJf2/mECIY2n91Wyr6YVm1nFalLJSYrjU5snl8Z4/WgNu6ub8AVDeANBeoZG8fiC+AIhfvr6fuJddqwmFZvZxIaSPLYsLYocKwQ8ufsYJ1p78AWDeANB2vtHCGk6bf3DfOe5HUTZrVhNKi6rhduWL2BVYWbkeFmW2FCSS1DT+PGr+9hW1cD2Ew24rBYUWcYbCOILhqMf6xbmnFO49Z2ipXWA4RFv5O+oKBsb1xVjs85t4m9UlA3ljKdyIKjhGZs+h3Au8YWCV4QiNoBdjeHahPuJM09d5WdTXGxO/SyNo4fx6x6i1ESyHUto8hwj0ZoDQLQ5mRVxd2JTXOiyxvK4O4kyhSVDFsfchMs0Mb0l0IWGSbKywLUucg4hQBf6+B4CnRCKpJJmW0CabdwZkohoSE0gSRIuUyJONY6F0RtmkVc1ewTQ0j4wfh7ISo8jJvriXyZsVhOZaXFUVncA0NDcOxdmXvW4PX6O1bbT1D6A1x+OLkuE74nmzgE0Xb9iZn3eSebUcVIVmXiXHU0Xk2q4nYkiS0TbbXicQaymqW5qQpSDz9xyLWuKs3jtaA2VLd14fAFSYlzcuXIhNy4uYFFWyow6TyZFIc5pD0cHLsKxMpvCy+ljHLbzrm46G0mSWLsgm9zkOLYer2VbVcN4YWGF1YWZbFyUxw2L80lwTV9qQpLAaTET77LjvIzTeKoih4sIRzl5Zn8lNR19ePwBHBYzpcnJLM+fqtFlNZmIc9pnlGIAMKkycU47UXbLtCsxzKpKnMtOjH3mki4z0TM8yt5TzfiDp6MEVrMJq9mE2xvgVPvpB+HAqHfK8bUdfew91TJp20TyfvfQKN1D4SiHLEH6WXX2BILjzV2U103O44kdjwq19g0D4dC/1aRMW6PRYlLZUlZEcVoiu6ub2VPdRGvfEP6QRpzLTk5SLMvz0llfkjutzIaqyMQ6bARC2juSON7b52bMG4j8HRttp7hg7pOorVbTpN+KpukExoU1hRAEdY2grmNWFFTpdAFkIQQhoU/b5vnQhWA4eOlaVHOFQ41hRdxdM34ebUqiLPaWSdtKojee8Xki18Ruifx95r9LojdE/m1RHKxNfOCctiioLIm5eVZ2CyEYDIQdkRxH2ayOmTUCevrCcgmKIpOTGX/JScoZqbFIUtgp6DSm6oDwmNTWNUhTxwBNnQPUNvdGtrscVj50y/9n773D4zjPe+17ZrZjF70XooMAOyl2kZREyuqWZEVy7Fh2HNtynMT2d1JOEp/485WT6pPEdhLbxyUuii1Lbuq2JJJqFEmRYm8ACYDove4usH1n5j1/LAACIkCiAyTmvi5eBLBT3tmdnfnN8z7P77kFk2nxBDDmC0nMYgJLrIv30IYZ31ZgssuM/Dx6sMP/X+MLMpntX4uZrj+8jZGfR21rmIm2OZLTMoN9zyajxzPMeJ/B+5eb7mc/k/d+9LqT4f3CbCrrv39s471PU1n//eMY+fl964z8PM3v1Wzy82eP8b0fHxjJt7p1SzH/+JVHJtzvuQstfOEvnxn5vWJ5Fl/7xw8T57j2A4KuCz7+2R/Q2u4e+dtnP7mLj314K90BH0/Xnuaip5tbMwt4pGgVTnNse/2hAE9eOjGtYxMITve2c7izkaL45EWdHL4YUfUo3eF6wlqAw73PkOtYxaj2mwAAIABJREFUwa2pH8Usz97DoK4LHn3ie/T0DWIxK3z5f9zPHbcun9E2X9p7ln/77n6EEJQUpvHjb3xydgZ7AzN8PXr+zXNkpyWweVU+ozoWjbDQ96r5ZlYjTpJ0/aDdZJcZ+XkOxjCX6w9vY+Tnaay3WE7ByY5nKstda5mZvPcL+bnP5uc2k3NnPs8bVdXGJKnHxdnm5OIZjoxtjBvroRh7wj3b184PLh7Dr0Y42d3KxrTcEesAdzjINy8cnvXxGFyfkO5jf+d3ieghcuzlrEu8d1ZF0zCjqzln4+QfHdlU1elFK282hr/T29cWDtk9LD2RNB6LJsfJwMDgxsFkUpBlaUTUhMMT9x6cCYODoTFVO2aTgsMRc5U3yQoWRcGvcs2m3WZZmfJ9VRM6mlFNOi0cSgKP5f1vIGa8aZLmpgvAcD6dLgQe78RdGCaLdzDIcJzXcoM0CJ8vMlMNt/fRGGeHgYHBlIlzWDGbFcLhWL5Rb78PXddntQEvxErOQ6ErScd2u5nkxJjP1frUbP587S5qvb2sTclmmevqSk9FknmiYgsptsknDgsEx7pb2NdSM/MDWILIkjzlxsDTISMtnrZOD5omaGjuQ9fFtE0rhRA0NveNOCykJi/e4p2FoLvfh9cXpCQvFVXTefvEZby+ILeuKyIzxbXkolCGcDIwMJgyqSlO7HbLiHDq6/PR3TNIZkbCddacPLquU1XdQWCUE78zzjayj0SrnY+Wrieqa5hlZdyIk0mW+HjZBjLjJl+erwuBTTEbwmkRI0lQXJDGqfPNCCGoqe+iq3eAzLT4aeS1QnfvILUN3SN/K1w2fWuDm5GTVc10u30U56Zw6HQ9v379DBkpLlq7PHz+I7vGbTh+M7P00uENDAxmTEF+Kkmjyr893gDvHquLNR+eBYQQtLS5OXzk8ph8k6zMBPJyrjjuy5KEVTFNOE2nSDIJ1qm1NpIAl3npNJm+Udm8rmCkoqumvou9b1USnUZuUiSq8sob52npiNkbKLLM5vUFsznUG55er59El51Bf5j971Xz+P0b+ewj22ls7x/ptbmUMISTgYHBlElPdVFcmDbyeyis8vrbVbR3eGfsNC+EQNN0Xnr1DHWjogCSJLF1UxFW6+S9ouItU7e2ALCZzBNaqhgsPJIkUbgslbKiWDFANKrx3Cunef2di2hDxrfXOg+HX9d1wevvXOTFvWeJRGK5dCWFaRQZEacxxNmtdPUNcqa6jUhUY1VxFooix1pyLcFUQEM4GRgYTBlFkfngPWuxjnIJv1jdwXd++BbdPYPTbgsjhMA7EORnv3qPl185izqqcio9zcXuXRWT2o7NZGJjWi7bM/KnLJwkScIiK1gVI5NhMZOa7OS+Patx2GPRQbc3wDd/9Cb/59t7uXCpHbc3QCAYIapq6HqsVVFU1QgGI7i9AapqOvjX7+zlmz96iz63HwCH3cLD96zD5TIasI9my6pl1Lf18dQrJ7hr63LinTb6vX6yUl1LshmycWUwMDCYFivKs7ltx3L2v1UZc5fWBYeOXsYzEOSD96xl4/oCUpLjJp1zMjAY5Mz5Fl7df4HjpxqIjjIztVpMPPbwRhLiJ9d4NScugV/d/fFpHRfE8qdWJ2eSYDFuoIsVRZHZs6OcmrpOXt5/DiHA5w/z6psXeOPgRZaXZJKXnURyUhwOW0xcBUNR3B4/ze1uauq6CI2qBpVliQ/sqmDX1tJF0zx+sZCTnshXPns3wXCUpHgHsiSRk57IJz+4ZVF18JgvDOFkYGAwLcxmhUcfuoWGxh5q669MqV2oaqOxqZdlucksL82kuCid4CiXcYhNrTS39BONqnT1DHKxup3LDT00NfddVVouSbD5lkJ27yqft6fb5YlpfHXrfciz2JTWYPZxxln55O9uJxiK8vaRmhGxHYlqnL/YxvmLbZPajkmRuX17GZ/83e3EuyYnzpcadqsZq8WErumgyCQ4bSQ4l+aDxaw6hxsYGCwthBCcPtfMN/7vfppb+q96XZKGXNol0DQx5u/DRpaxaJXORFeiNStz+Os/u4/szMQlV/ZscH2EEASCEfa+XcVv9p+jqa1/pC3P9TCbFPLzkrl/z2ru3b0Kh91inGPjoOk6dS29HDhZR1u3h088sBlXnJU+r5+yZelLbrrOEE4GBgYzQgjB8VONfP/JA9TWdV9/hUkiSxJrV+fxx0/cQWlRunFDM7gmQgiaWvs5cbaRC9Xt1NZ309HlJapqY5ZTFJms9HhKC9NZuTybzesLyc9NnnUPspuJ6sZuvv/sYQpzUjl1qYU/+fBObFYzP997iq88cTfmcfrO3swYU3UGBgYzQpIkNq7PJzPjQX7x3HEOHKrG5w9Pu7pOkiRcTit37V7Jhz+0ibTUpWewZzB1JEmiIC+FvOwk7t29ikAwQigUxR+IMOgPIYTAGWcjzmHBbrPgsJux2yzIsoxxel2b09WtrC7N5qP33sLXfhJrkp6aFIdnMIi+BGMvhnAyMDCYMbIsk5eTxJ9//i52bS/lwKEaLlxso63dPaYy7trbkMjOSmTNilz23F7BhrX5Rm8sgymjKDJxDitxDuuE4t04p6aGIkuEo+pQ0nzsvev3+LGalSUpOo2pOgMDg1lFCAiFIrR2uGlq7qe2rou6hm66egbweIOEQ1GEEFgsJlwuG+mp8RQXplFWkkFRQRp5ucnYbZYZX5CHn4QlpnajHP0EPdV1DQxuRupbe/n3pw9QkJVMZX0n5QXpdLt9bCjP5cN3rV9yVYiGcDIwMJgTYleWmJmlpgl0EUsAF+8TNLIsISsyytCUyWwIFSEEb7Rd5lRPK3fmllGWmIrTbJ3Uuq80XaKyvxOXxcrHyjbgmuR6BgY3K0II2rq9vHTgAg1tfcTZLezaUMy2tYXYLKYl93BhTNUZGBjMCbFrqYTJpGCa5ytNSFN5p72en9ac4rXmGv5l2/1sTM+d1Lq9IT/fqTyKIknckpbLpvS8OR6tgcHipq3biy8Q5hMf3ESczbokp+dGYwgnAwODmw5/NMIlTw8ATrOFrCk0+d2emY8iSahC50hnkyGcDJY8TR1uXn7nPIP+MGlJLkqXpVKyLJX8zGQyUpZe8YYhnAwMDG46QppKi88DQEF8MtmO+Emvm+lwkeFw0uYfoNLdNVdDNJhlVE2n3+2n3+MnFI4SjWoTeoNdj7Urc8e0E1rqbF9bwLY1+XT0DnK6upXTl1p5+Z1KoqrGM//8CSzmpfVeLa2jNTAwWBKouoY3HEKWJAqcSVN6IpYliUxHPG3+AboDvjkcpcFMEUKgC0FVdQdvHrrE5caescJpGtuUgB9+/ROkpUw+SnmzU1nfyetHq+nz+nE5bGSnJbC2LIf0ZCcmZWl5OIEhnG5qhBD41QjdIS+aEKRY40i0xE2rW7yBwY2EjiCiq0iAyzK15G4JiTiTGQC/GrnO0gYLiT8Q4blXTvHMC8cJBCPTbi79fmZrOzcLDa19VNZ1sqoki/ysJIpyU0lJiMMVtzTznQzhdBMjEPzw8js833KSsKZyR2Y5Xyi/kyx74kIPzcBgTpElCZtiJqhFGYyGp7SuAAJqrPmrTTEukYuVcETlxb1neOrZ9wiGotdfYSosQTFwLe7bsYKNK5fR0NZHc4eb37xTyYAviN1m4X99+gOYTUsr6mRcFW5iwrrKCy0ncUf8ABzqruH+nLWGcDKYFVRVR9d1TCZl0RlVmiSFBKsNvz9C/UAfmtBRJtmwV9U1mofyo1JsjrkcpsE0EULQ3unhxdfOjogmWZaId9lYW5FLXk4yLqdtWtEQCXA6DAuK0XT0DnCmuo2Gtj5auz0EQlESnDYyl2BiOBjCaUGI6hoD0SAyEi6zDZM8N2pdQhpzszDJCqYlZlRmMHfsf6uSU2ebWbMql+KCNLIyE0mIty2Knl9xZgvLE9Jo9w9wyd3DJXc3K5IyJnWRP9zZSG8o9rCxJiVrrodqME0OHbtMR7cXAKvVxB3bl/Pp37uVtBQXEtKMokZLTwpcm4a2Plq63FQUZXDfjhXkZiZiUmQkJGOqzmB+uOht58d1B0kw23mi9HZyHElzsh+LrPCRgi080/geEV3l/pw1lLky52RfBksLVdU4cLiGI8fq2P9WFZnp8axckc2nHt9JTtbCRzSdZgtrU7N4p6OeZp+bp2vP8KUNdxBnskwonoQQNPs8PHnpBLoQKJLM9syC+R24waQQwPlLbSO/r6nI5bOP7zQSuueInRuK2bmheKGHsWgwhNM8I4TgSM9l3umqJseRjF+dWv7FVJCQ+HjRdh7O24BA4DTZsCnmOdufwdKhs8tLW4cbiJ3THV1ecnOSsFoWR66DSZLZnVPCb5suUevt5dd15xiMhvijldvJsDtxmMyxNhECokIjoEa56O7iP88d5nRvGxJwW3YR5UnpC30oBuMhoK0jNp1qNinsvnU5qcnOBR6UwVLBEE7zjE8NUT3QiSom1/h0JkiShFUxYzXEksEs09ruYXAwNPK7osisrMghOWlx3LwkSWJFcgafLN/I3594nZCm8nLjRQ62N7I6JZOi+BScZgu6EHjCQeoG+jjT205E1wDIdyXxmYrNRruVRUwgEKt4VBSZ4oK0JZlrY7AwGMJpnukMDtDs71voYRgYzIi+ft+YSiaH3UJZSQayvHhuXook86HCVfSF/Pzo4nE8kRCeSJCDHQ0c7GgYdx2JmAHm32zYzca0XMO6YxFjMg/l0klgWmJVXTciQgiEAE3X0XWBrutEIhozaZdrNivELUAivyGc5hEhBC2BPloC/Qs9FAODGTHoCxGJqCO/2+1mCvJSFnBE42NTTHxu5TY2puXx05qTVPV30RsKjPFnkpFwWixk2l1sTM/j95ffQklCqiGaFjk5mYl0dg8gdEGf209p4UKPyGAihBA0t/Zz8kwTJ083Un25C58vhKbp0zIpHWbHtlL+9q8fnLVxTpZFL5yEEPRH/NQNdtPo66U/4iOgRpAlGbtiJs0WT35cCuUJWTiUiRM/J4suBJ1BDzUDnTT7+/FEA0R0FZOk4DBZSLU6yXUkUehMJ9XqnNL+okLjrLuFkDbLniMLgBCCJn8fVd422gIeBqMhQJBgcZAfl8KaxDzSbLNTqhrWVGoHO6nytNMVGiCiq9gVM0nWOEpdGaxMzMGuWGZ+UAaTJmZFcOWSZzYpJCfFLeCIxkeSJMySwrbMfNalZnPJ3U2zz0NvyI8/GkGWJJxmK2n2OEoSUihypWBegk7INxqSBKvLczh5rhlV1aisbmfL+gJjum4Rous6J0438aOnDlFd2zmr5qKqqs3atqbCohROQgi80SAXve38tu0sZ/qbGVRDhLQoUV1DFzogIUsSFtmETTGTYYvnsfxNfCBrJfFm+5S+QELEXIarBzr5VdNxjvXWE9DChLQoqq6jI4ZK+yXMsoJVMeNQLKxJyuOTxTuoSMi+apuartMZ8tIWcHPR2071QCeXB7toDbhHlmkL9PPF409hlif+GBLMdv5r66ewm66dp3TB08pXzjxH9Bq5U8XONP5sxT0si5t+ZEDVdWoHO/lF4zGO9FxmUA0R1qJoQ/s1SQo2xUyCxcEDuWt5KHcDmfaE6z69X/S282+Vr9IdHiTN6uJrt3wEp9lG9UAn/7f6DS4NdOBXw0Q0FR2BIklDYtZKsSuNjxfeyra0EqyGYeG8YDLJyLI0chGUZRmrdXHn0tlNZtan5bAuLQeEQBMCiZhZpnHDvfG4dXMJL+49i9sb4N3jddy2tdTIdVpkCCE4V9nGt77/Jk0ts5eiYjEr2GwWkhIWxmdtUd5lIrrK/6n8LfvbK4mKiRRl7MIX1CIEtQjuiJ9/vvBbTvQ18Jcr7yfZOvmnX280yE/qD/PrpuN4o8EJ9iZQhUDVdIJaFA8BBGLCqriu0ACPHvgWAW3ilg2q0OkIeq85tiSLAzGJYGZYU2ny96NO+H6BQzET1aev0MOayqtt5/h2zet0hwbHXSYqNKKqxqAa4ns1b3Gwu4Yvln+ALSlF17yghbUorUE3nUEvrf5+OkIemnr7+PeL++gMXf0eaUKgCZVwROVEn58qTztfLP8Aj+VvmjNfLIMrOJ02LBYToaE8J13XCYUiOG4A40AJQJIwGTfYGxZJkijIS+Hhe9bx9PPHqG3o5r9+dpDPPr6LovxUQzwtEkLhKM++dPIq0ZSQYCczLR6Hw4qsSNRe7mJgMITZrFBSlI7FrKDpgmAwQm+fj4HB4EjD5sQEO488eAsb1xVQWrwwVa+LUjgpkkyOPWlENMlIxJmslMVnsiwuhUSLHQF0Br2c6GugL+xDAKrQ2NdRSYkrg0+X7Lrul2c4svXdmjd5tvnESEUNxJ5C06wu8uNScZltqLpGT3iQJn8fQTWCQFDsyhg32gSgC52orl3lVqyLsXO613MzVqTJiYAUq5M9WRW4wwG80QCeSICBaIiQFpnRHPIwqq7zWvt5/vPSPvqGnMhlJNJs8axLziPTloiOTpvfzSl3E95IAAFUetr418pX+Mqah1iTmDepC5qO4KWWMxzsrqYz5EWRZDJtCaxLXkaazYUQgrrBbs55WhiIxiq7AlqEJ+sOUehMY0vqtUWawcxJT3HisFtGhJOq6gwMhm4I4WRwc2Czmnn43nX0e/y8vO8cR07W0+8JsHtHOTs2l5CVHh+7DkzDC1MyopCzQnfPIMdPXSnEMJlk9txWwT13riI12YnNZkaWJf7pa69w8kwTcQ4Lf/LEHaSluNB1QSgcxTsQ5Mz5Fn7z2ll6+3xEo7H7dEF+CmbzwjwkL1rhtCdrBWfdLcRb7NydtYr1yfm4zDZkSUIe+hroQtAX9vFk/SGebz5JWFfRhM5LrWf4QPYq8q8zJRXRNZ5qeJdnm0+OiCa7YmZHehm/s2wjqxNzMclKzIUWgY4goEY4527hUHctW1OLcEyQW5PlSGTvnX8xdn+ayr9UvcKbnRcByHUk87drHqbIlTbhGGUk7JOwE1gWl8I/rP0ddESsegGBKnT+4uQveK+37rrrXwshBOc8LXyv9q0R0ZRgtvPxou38zrJNOE1WZElCEPtMesOD/LzxPX7ddJyAFuHyYDffvPQ6X1nzEHmO5EldkH7ZdAxN6KRZXTxReht3Z6/GoVhGpvw0oVPv6+FrVa9xvC/2xewMeXm59TQrE3NwmW0zOmaDa1NclE5KspN+d+x8CAQjXG7oJjMjYYFHZrBUiERU3J4AWzYUUlXbQW19N5cud1Lb0M2Pf36YtBQn2ZlJuOKsWK3mKYmnz31iF/Eu+5yNfalw6mwTwWDs4cpsVnj0oY08/rtbiXOMzUd2xsUeuFRVJyXZOeY6IgSsXpnLrVtL+O4P3+bU2WZ++vMjSJLE7z26eUEqKhelcJIkiWJnOn+79mHSbfGYrzH1kuVI5I/KdtPs7+PdnssA9Ed8XPS2X1c4XR7s4tdNx4noseogu2Lh94tu5feLb8VhGv/J2a5YuCOzgtszyhGICUWAIsmkWMd62oS1KJZR+UyKJJNgsV+13HSQJQnL+/J7NF3HNMn+XNdCEzr/XXeItqH8LKfJyqdKdvGxwm3jfjY5jiS+sPxOZEniqfp3UYXOqf4mXm49wx+W3o5pElE0TegkWRx8vnwPD+auR37fcZhQqEjI5n+uuJc/OfZTesKxqcNz7hZ6QoOGcJpjkpPi2Lg+n8v1XQgRE06VF9vZckvRgj0FGiwt2rs8/NU/Pkdv/yCadiWurmk6QU2nuc1Nc5v7GluYmN//3W2GcJoF6ht6R37OSIvngXvWjIik0VgssXtXOKJelTwuSWBSZMqKM/j8Z3fz5b9/nrYOD796/jhrVuaybnXe3B7EOCx8U6kJsCgmchxJ1xRNwyRaHDyQu27k96AaoT3guWZukC4EzzafwB0JALHIzr3Zq/lY0bZJVWhJknTVzfxmpcrbPhLVAdiUUshDeeuv+dmYZYXH8jexNmkZEBNCL7ScwjP0fl8PGYk7Miv4QNaqa77PBc5UbstYPvJ7e9ATm7qdgTeIwfWRJIkH71tHRlo8ELtZHTlWR1NL36J57zWhE9HUa45HCEFU1/CGQ3QHffSF/PiiYfRFcgwGExOOqHT1DIwRTbOG8fHPCl09V/JTC/NTyc4cvx2T1WpCkiAa1VCjE3s7Fean8vAD65GkmCXKy6+eIRye/yr1RRlxmg6rEnKGJtRiSdc+NYQQTNiAsDs0MBKhgljk6nfyN+Iy2Yy57VEIIXit/RzBId8bm2Lm7uzVJJqvXc0gSRI59iRuy1jOeU8LEV2jNzTIG51V/G7Bluvu12W2sTtjxYRTocOYZRMrE3N4tvnEyGffGx4/cd1gdslMj+eJT97Gt77/Bm5PgIamXp7+1Xv86R9/AJdr4SN+Vf1d7GupYX1aDutTs0myXn3ODkTDPF17mufrL1A/0BervEvN4VPlm9iWmW9UaS5iLGYT+bmz7x0mEcvFMZg5Pv+V4qmcrMQJDXLttivXee/g+AVaw2zZWMQvnz9OT6+P2vpumlv7KS3OmJ0BT5Kb5qoQZ7IiIY1EmVR9SLVOIIIuedvxq1daRhQ70yl1ZRqi6X341DD1gz0Mp7RbZRO3JE/OL0WSJFYn5eE02eiP+NERnOpv4sP5m6+7vtNkY0Vi9nWXkyUJp8mGWVZG8tR8c9j/z+AKsixz65Zi3B4/P/zJQYKhKAcOV5OU6OD3Ht1CcnLcgn2fNF3naFcz36s6SobdxT9uuYdd2UVXLfODi8f4r6r3CGux6XpfNMLBjgYaBvv5yi13sie3ZMlElm80sjIS+Mqf3j8n2zam6WYHTb1ijyMrE3+P4l2xgIUQYiRvcjwkSSLOYSUnK4meXh8eT4CePp8hnCZCEzoBNWY9ENU1VF1DEwIdHV2IkSm3Ya4XaW3w9RIcMqKUkFiblGc8XY5DR9Azkj8EkG6LJ9U2+ZyswrjUoanP2Jeh2d+HOxK4rl1Eqs1JsmVylhKKJA/d3GLCaSaWCwZTw2638PD960mIt/OD/z5Id+8gz//mNFWX2nn04Y2sqsjB5bRht5vnVUT51Qhn+zqI6jous5Vc59ikdSEE73Q08IvaM4Q1lTiTmRxnIkIIWn1eWn1evnn+MOtSs0mzL47+ewZjsVnNlM3zDdNgaoyush28RiQpYZQfU0NjL7fvWD7hsmazgmtI2PoD4Wtud65Y1Eph2DX8nLuF6oEOGn19dIW8DERD+NUQYU0loqtEdS1mjDnJienhyq/hG6wEFDonrmxbyviiIQKj2lNkOxKHqgwnR6LFgcN0JQwb1CJ4o5MQTtbZcR03mHtMJpk7dpZjt1n4r5+8Q1NzH1XVHfzjv/2WkqJ0ivJTyc1JxuGwYLWaUGbQzy4pMY4tG4uuu1xAjVLnjSWmFsQnkeccm1sxGA3zcmMVvSE/cSYLn67YxGcqthDVNX5w8T2+W3mU8/2dnO5t5668smmP18BgKZOSfEUQtXV40HUx7nRddmYisiShI7hwse36Gx7KgdI0HVWd2PR5rliUwkkMGVu+01XDzxqP0OLvwxsJjhFGErFIkSRJI+6/k03o1IQ+Em0a3li8xQjNjkdIj46J4MRNUG04EZIkjalQjOraGCE2EUYLlcXP629XUXO5i57eQXr7fQQCEfr6fSOva5pOdW0n1bWdSJKEySRjUuQZCeKVFdmTEk4RTaUr6EOWJMoT08cUMgghaBp0c7izEQFsSMvhY6UbcFli5+nvL9/Is/UX6A76eLez0RBOBgbTpDA/DYjZ7/T2+ejr95GW6rpquYJlKSiKjKrpNDT10tjcR8GylKuuFUIIQqEoPX2xWRBZllGuMQU4VyxK4eSNBvnmpf281Hp6JG9FRiLLnkCGLYEkaxxJZgfxFjtxihW7yUJYi/LN6tcntX0hxBiRJQG2a7Q9Wcpouj7STgXAPElDztGMvmnpIuYvdT0U2cgrWew8/5vTVFa1TSrOK4QgGtVGzOumSyisXn8hQBUCXzSMjES+K2nsWID9rbV0B33YFBMPF64kzX4lAppgsbE6OZM32i5T7emZ0Xhh6EEwEsVhNR4GDJYWK8qzR3KXPN4AF6s7xhVOCfF2igvTqKruwOMN8KsXTvC5T92Gy3l1sdb5qlbq6mPfS4fdMq69wVyz6NSCLgS/bDrG8y2nRm7YKVYnH8xZx46MMvIcyaRYnZiksU+u7QEP36p+fVIXcZMsj/FTEjA2AmUwgkUxjxE+U32fhBCERrWdMckKNiOX7KZA6JNpBrRQiKGSZumq3MWIprK3uRqAFJuD27KLx1xLZEkidUhIeSMhZoOv7z9MeWYqO8sKSXddEWnGdLTBzUzBshQy0l10dg3g84epqm5n2+YizOax30lFkdm2uZiq6g50XfD2wUsoisxjD99CbnYykgTBUJTjpxp48ul3iQ41901OcpCWdrUQm2sW3R3s0kAHL7eeGRFNyZY4vrTqAXalL8ciKxNeaLRJRDGGkYh1RJeJzakioD/su/6KSxCHYsY6yrncHZm44mE8VKExGL1S5WaWFeIUoy2HwdyiSDIOk4WAGmUwMrbK8lBnI00+DwD3LFtOsvXqafrh7gSqPjv5E29equPZUxdIfPs97qwo5u6VpRSlJZNgtxnR1VlCiFiLjmhUQ9PFjPzEEuPtyMbnMmMcDitbbinixVfOoOuCU2ebefA+31V+TrIssXVTEfverKSlzY0/EOG3e89x8N0akhIc2OwW3B4/Xm+QQDD2IC5JsLw0i4K82bekuB6LSjgJBOfdrXSNany7K2M5ezJXjLTamIiBCZrzjockSaTb4rHIJkJ6FIGgZqCTe3LWTHvsNyupVheJZjvNQ7+3BvqJ6tpVLuUT0RkcGBNxijfPjlO6wcKzc3sZJUXz22QzJzvp+gsBVsVEVlw8NZ5eqtxd6EIgSxKDkTDPN1wgoqnEm63cn19x1bo6jPRAtJlm5xIphCAUVen0DvLU0TP86sT/BVYNAAAgAElEQVR51i/L5rayQtYvy2ZFdjpmxXBcnw66Lmho6eVcVSuXG7rpdfsJhiLoMzDG/Pu/fJCkxMk3ijcYH4tZYfuWYg4crsFiUVhemol5nBYpkiRRkJ/KvR9YzX8//S7hiIqm6bg9Adye8U2TU5KdfOiB9Vit129JNtssKuGkC0FPaICwfiWPYUtq8XVFE0CDr2dK0wbFznTsJjOhSBQBnPe0EVDDE7ZaWaqk2lxk2hM552kFwBcNU+/roTwh67rrxprxdhEcJZxKnOnYTPN/ohvMPo99aOO8u4RPdmrLabawIimDak8PBzsaONnTSkVSOi83VXGkswkB3JpVSKHr6t6Juq7T6os9vCWPY5o5HT66ZS0vnrlIS78XVdMIqxpH61s42dROVoKT1TmZ3LOqjC1FeTgsZmSjyeykUFWNfQeqeOaF47R1emacQzdMRDUsTWYDSZIoL8vic5+6jfy8FPKXpeCwj5/rZzGb+OC9a2ltd7P39Qto+sTXluSkOP7g8R2Ul2XO1dCvyaISTprQCeljc2gm4+UT1TUOdtdMaV/LE7JIs8WP+D/V+bp5r7ee2zLKJyXUpoOEhGVUvpCqa4u+tYNJltmRXsZbnReJCo2gFuGtzouUuDIwXSeUHdFVjvTU4RuaqjNJMrsylk/JzsBg8WJagGqWyRJnsnBnbilvt9dRN9DHJ9/8BS6zlb5QAFXopNnjeLR4NQmWqx3OvZEQl719ABTFJ8/KeD69YyO/t2UdZ5rbefncJarau2np9xJWVZr7vTT3e9lbWUtOUjwPrClnS1EeJWkpJDqMTgYToaoar7x5ge/95B0GfDPPRZOA+Hg7qcnOcaMiBtMjId7O3XtWIUnXf/CJd9n54uf2UFqcwRsHLtLe4YlFD3WBxWIiwWWnpDidRx+8ZSTxfCFYVMLJJMk43pf/cr32GUIIzvQ3cWJUL7XJEG+2cXfWKmoGOoFYjtOvmo6zMjGHtDnyEJIkiXjzlXwKbzQw1Bpm4mbBC42ExK6MMjLtCbQE+lGFzoGuS9yVvYoiV9qEIkgIQc1AF4d7akdsJIpd6axPzp/P4RssUSRJYkdWAQ8VruQnl04SUKME1NhDmSJJfLh4Ldsy8sf93h3vaSE4tOzalOxZGYsiSTitFnaUFrClKI+GXjenmtp4p6aRE01tDIbCqLpOU5+Hb791lJ8fP8cty3LYWpTHzrICchLjF+01YqHodft5ad/ZMaLJYjFRnJ9KSpITi0Whtr6blnY3ToeVsuIM7DYzqqYz6AvR0uZm0H9l3eUlmXz80S0U5KWSYDiHzxqSJE3Y+mw87DYLH3pgPbu2l1HX0I13IIim6TgcFtJT4ynMT8VmW9hZi0UlnCQkch1JxJks+Ie8ft7oqOLOrBVYFfNVN2lN6FR7O/hW9Rv0TSO5+76cNbzceoZGfy8CeK+3jn86/zJ/seJe0m3xmMdJRhdD5fRBLYJfDeMy23CaJteXS5FkipzpI61hfGqY1zuqWJmYi12ZrxNh6hGuBLODx4u287Wq14joKjWDXXy7+g3+auX9pNlcV0XoNKHTHRzgGxdfozXQD4BDsfCRgq3EmYySbIP5Id5i40/X7CQvLoEXG6voC/nJdMTzO0Wr+GDBCuzjTBlrQued9gZcFivJVgeb0me/87pZUSjLSKUkPYV7Vy+na8DHq+drePNSHe2eAfzhCH2+APuqanmntoEfHDrBjpJ87l+znNKMVFxW66KO9s0HQgiqqtupre8GQJEl1qzI5dMfvZW87GTM5ti1+4dPH6K1w01aqosnPraDZbkpCCHQhsTTibNN/Oo3J+no9NLW6cHtDbLtloQF8QYyuIIkSaSmOElNWZz5sItLOEmx1idZtkQu+2JfiCO9l/lOzVvcm72G3LgkTJJCSIvSHnBz1tPK0w3v0uzvJ95sR0bCEx0/kWw8MuwJfL78Tr564Tf0hn2oQuetrkvUDnZxZ9ZKViXkkmR1YJXNQ2IpTH/YT5O/j0pPGz2hAb685kHWJi2b3PEByxMyyXEkjQiKZ5tP4DLbuDWthFSrC1mSY1NiakyYCcQ1e8Npuk5b0E1f2EdYixLWVcKaSlhXCWlROoKekWXdkQB72yvJdbRjUUxYZBNW2YRVMeFQrOQ7U8Y1uJQliXuyV1Plbec3QxWPb3RW0R/281DeekrjM0gw2xGAJxKg0tPGCy2nuDTQAcQE4/25a7kzc4UxTWcwr7jMVv6gfBN/UL6JqK6NsdYYD00XPF62gQ8VrSLRYiN9DtutyJJEgt1GvM1K6Z5tfHrHRo41tPBWdT2V7V1c7u4nFFVp9wzwyxPnefbUBdblZbO7vIj1y7KpyErDZp79By4hBLqmM9UsAsU0M3PTqXLyfDP6UB5MeWkW//OP7yY3K3HMGBwOC5IkoWs6FouJeOeVh9ykBAfLcpLZsHoZ//GDNzl9vpkfPXOIOIeFO7YvN8STwYQsKuEEkBeXzIN56/mPS/vQhCCoRXm64SgHu6pJs8WjSDJhXaU3NEhH0ENYV4k32/ijst2cdTfzWvv5Se9LkWR2pJXyROnt/PvFfSNJzK0BN0/WHcJpsuEyxxrIakInrEUZjIZGktdzHZOr8BlGkiSKnenckVHOM41HUYVORFf50eWDvNJ2lgSzA1mSYn/XogS1KBm2eH60/TMTyo2gFuGphiMc6qohIq60n4kOtaIZfe3rCg3wvdq3MEkKZjn2zzL0f6rVxZdWPcDKxJxx95NgtvOZkl10Bj0c661HAKfdTVwcaCfDFj8iuAajIbpCA0SG3iMJ2JxaxKeKdxru7Abzzuib6GQqQS2KwrrUmU/PTYXhMTptFu4oL2J7ST5tbi+XOns5UtfE8cZWmvu9aLrgZFMbZ1s6yEpwsTYvi/tWL2dbcR5Wk2naomVYKFUereXkG5V0NvUQ8oenJJzMVhN//cM/xGyZn1uKENDYEstDUxSZHZtLrhJNAGZTLPIUVTU0bay1xPCy+XkpfOb3buXvvu6ho9vLL148zi1r8klKmJ3CAIObj0UnnGRJ5sMFm3FHArzQcgp3xE9EV6nz9VDnG+viKyNRFp/JZ0p2cXtGBTbFxP6Oyil5OtlNFh5dtpFseyI/rjtI9UAnfjWWzOxTQ/jU8ZMOJSQSLQ6sU3QctylmPlt6O+5ogLc7L+JTw6hCozXgphX3uMtfCx1BT2iQtuDV606EKjRUTSM4qnAkrKljqt/ejyRJ5DmS+er6x/h29Zu83XWR3rCPkBalyd837joZtnj2ZK7gM6W3Tbphr4HBUkaSJEyyjMtmJcXpICnOToLDhuIeQBtSMqqu0+L20ur2sq+qlo35OXx212bW5mUNCajJ708IQW+bm5/+8wscfOEE4WAEXZu6d5XFZkafJc+rydLvjnnKmUwyqydIFLZaTMiyRCisEomM7zovSxIryrK5bXsZv3jhONV1XZw618SenVdbVRjMDCEEkahGKBRFVUf5bU2zRspqNZG4AAJ30QkniPUp+2zpbaxNymVfRyVVnnZ6wgME1SiKLJNocVAQl8rqxFzuyVlNmSsTSZLYlFLIn1bcRVhTWZ2UO+knMJOssDO9jPKELI70XOZ4XwN1g910BL0MRkNoQscsKzgUC6k2J7mOZEpc6WxOLSI/LnVKxyZJEi6zjS+tvJ9NKYW823OZS94OesODBLUIZknBbrKQZIkjx5HImsS8a05uWWUT9+esYWXCzJ6S7YqZnOtE0CRJItnq5C9W3MPuzAre7rrIBU8bbQE3g9EQkiSRYLaT60hmZWI2t2dUsC552XXFH0CWPZE/KN4xUoFXFj/5MtNiVzp/VLYbdag9z9qk2c9LMTCYazRdp6arlwPVDRxvbOVMSweByJUq4ySHnc2FuQTCUU63tOMLR4ioGu/WNVPX08/jW9fziW3rsUyhIkzXdJ795mu8/sy70xJMqdlJLCvPpqAiB2WefaiCodh7I0sSTuf4eaZ2uwVFlgiGIoQnEE4wZMC4oYhfvnQCXRecPN9iCKdZJBJROV/VRnVtJ53dXjyeAMFQzKxUv4btwPVYsyqXz3xi5yyOdHIsSuEE4DBZuT2jgo0phXijQcKaiip05KGS/jiTlXizfUwCd15cCh8vunVa+xs2xXwwdz17MlfgU8MEtcjIdJeMhEmSY/lAJgtxJttVbV+msi+n2caDuevZnVnBQCRIWFfRhI6ENNISxq5YcFwnmdqqmLkza+W0jnm62E0WtqeVsCE5H280QECNooqYaIkJTCsJFjtWefLTBxn2BD5SsHVa4ylwpvJJ545prWtgsFAM98wMRKKcb+3k+dNVnG5up3vQR3RIxFhMCqlOBx9cW8GdFSXkJSegajrt3gFePV/D/qpaOryDdA34+O6B90h0WHlkw6pJW6p0Nfexf0g0ma0m1u4sZ/sDG0jLTeaNnx/h7WffY91tK3jwiT2oUZXedjdn37nIuUOXCPrCbL57DR/58wdISHWhmOY3J8hiju1PCCaMJrnirCiKTCAQod8TuGYFc1520shDakvb+FF0g6khhKCuoYef/vwI5ypbGRgMoqqzF5mMj59cYdZss2iFEwxHZ+y4zPOXGzMsapzmuf9A5CF7gvh5PL7ZQpIk7CYLdqNKzsBgykRUjfqePt5raOX1qsucam4f4+mW6LCxNjeL25cXcueKElLiYtMRwzf95Dg7q7IzeHzrOv7rneM8f7oSfzjCT4+cZnNhHsuSE8fd7/s58cZ5gkPl/B/4vVv5w3/+KJahUu+aU43IkkRSejxb71s7su+H/nAPR189w5N/9xxv/vIomQXpPPTZPfNul5AQ76CjewBd1+nuHaSi9GpT3pSkmCeTAKrrOtmzs3xCjybLqPysgcHZ6VG41OnqHuCr33iF2rruhR7KrLKohZOBgcHipa/fRyQyvw7LFotCSvLiLFG+FsMO65ouON7Yyv6qWk40ttHQ6x7TDy/RbuPuVaXsKitkbW4WKc7x8zeGRUp2YjxfvHM7nmCI1y7U0DXgo7K9a9LCqflSO0IXOOLt3P+pO7DYzCPbNltMSLKMGtXQohrmodYWiklh673rCPrCfPvPf8rL//UGq7aVUrG5eN7EkyTFIkSXLnei6YKG5l52bS29av85WYlDLTmCHD/TSDgcnVA49fQOjqTayIpR/TsbHDxSe5VoSkiwk5+bQmKCHavVPKPqxeUlGTMd4rQwhJOBgcG0+Oevv8Klmo553eeK8hz+5e8endd9zhQhBK3uAY43tvLC6Uqq2rsJRtWRCFOcxUJ+SiJ7Kop5YE05GfFOLKaJG5q/n0S7jQ9UlHCothFfOEL3wOQ97dxdXoQQZBemk5Q+1mTTbDUjKxKRUIRIODoinCAmnm57ZBMv/+BNqk/Uc+C5Yyy/pRBlHh23V5Rlsf+di2iaTlVNB4FghDjHWDuVlGQnudlJdPUM0NLu5qV95/id+zdgfV/1XySisu+dqhGBm5J044nzxcixU1eMqRMT7Dz+4W3cvms5DrsFWZZjbuIz2P5CNWI2hJOBgcG0CAQiDPrC87vP4MSVn4uZ//X8Xk42to0pHkq029henM/2kmXctryQVOf0Kk8lSSI5zo7TasEfjozkR02GSDiWYG21W5Df9+Rvd1pRTAohf5iQP0xc/Njol8liYtW2UqpP1FN5pBZdE0yy9/essHJ5NnEOK/5AmOb2fhpb+li5fGyRjCxJ3LF9OSfPNqHrgmeeP0Y4HGXX1jJyMhORZImungEOHq3ltTcvjFgwrCybX0uKmxXfqCnPTRsKeeTBDTeFP5YhnAwMDAzmmNZ+L4JY78cUp4M7K0q4b/VyitOScdmtM+6PqROr6FZkGatp8pd1qz0WoQn5w1f5HDlcdkxmhUG3n0FPgJSsq6tuUzJjU4LdrX3z2vBZkiTSU12Ul2Ry8lwTXd0DVFa3U16SedWNecv6AvJzk2lq7cczEORnzx1j34EqnE4bEhL+QJievsGRKr04h4UdW0rm7VhuZjLS46mqjkWlE+LtyPLNMQVqCCcDA4NFj9msEO+yk5M1udydxUaCw0ZBahK7Sgt4YG0FKXGOSTU9nTRCxDyf7DayE12TXi09NzkWdWnuHTK9vFJ1lp6XjM1hpau5j/a6LvLH8UoKBWIRx2hYZdpmPNMkKSGOHVtKaO1wU1qUTl7O+A2Z01JcPP7IFr715Nt4B4KEIyqtHZ5xl7VZTTz6wC0sm2BbBlPj3rtW896JBgLBCFWX2nF7AiQn3fiefoZwMjAwmBb5y1KuilJMFgFomk4oHGVwMMTAQHDc267dZub+e9ZQWpxBarKT7MwbUzj91T23UZKeQqrTMScJ1OVZafz/D+xGliQKUib/HhWsyEWWJXzeAM2X2sguSh95LasgHUe8nd52N0dfPcMte1aNJI+PdhsHiIu3M7NslakjyxK7tpRQtCyVksL0Me1URqMoMru2lTHoD/Ojnx/G5x9/etliVvjQvev50L3rr8qBMpge61Yv45EHN/DcS6eoa+jhhz85yEce3Uxu9tS6blyLhWh+bZwdBgYG0+JPntg9beEEsaTpWMNVwcBgkMv13Rw9Xs+5ylb63f4hYaXS1T3AYw9vJCMtfkEukjNFkiS2FU+un+V0SY5zkBw3dQflNTvLsdjMBH1hDr14ki33rht5j+NTnKzeXkbzpXbe+tVRUrOTuPOjt2J1WAgHIxx49j0qj14GoHht/oJUoqWluEhLcV33vHDYLTx8zzpWLM/it6+f5/zFNkJD+V02q5nlxRncu3sVK5dnY7POV8P1mx+LWeHjv7uNooI0fvLMu+x/q4p3j9WxsiKb0uIMsjMTSUxwYLWYMJmVKUtvl9NGbs7sibDJIol5mpiuPN1EzYVWhC7Ycns52ctSbsiLoIGBwdyh6zqNzX38du85Xnr1LJGIGusKsKGAL35uD7nZScZ1YxaJRlT+/vFvcWzvObIK0/jG/r8hMS1+5PXqkw38zSNfw+cJIEkSSRkJpGQm4O3z0dPWj9AFFpuZL37jE+z+yPYbJoclHI4yMORf5XLaDLE0h+i6oK3dzav7z/PCK2fwTxDxmw47t5fyD1/+0Kxtb7LMW8TpxKEafvGDA+i6ID0niexlKfO1awODEYQQCF0gyZJxA16EyLJMUUEan/r4DqxWE798/gTRqMbJM0089fOj/NkX7lqU0yhRTZufFB8JzLPY2sRkUrj78Z2YLSbuenwH9rix011Fq3L54BO7ee5b+wgHI/R3eujvvJIfpJhktt63nlvuXDWlHnkLjdVqJs0QS3OOpukcOVbHU788yuW6bqLq/Pq+zRWL7wpkYDCH1Fxo48KpRtZvLaZo+dVOwwaLA4fdwmMPb6K9w8Pbh6rRNJ39b1ex89ZSdmwtXejhXcVXXz1Aq9s75/vJiHfxdw/dOXsblGDbA+vZcu9alHG8o0wWE4/9f/eSmBbP/p8dprfdTSQUxWI1EZ/qYvNda3jsf9xLfLLTeBAxuIq6hh7+9T/34vEGrnrNpMiYzMqMopQLFSk0hJPBkkFTNQ68do5Xnz2BM95mCKdFjCRJJCbYuW3Hco6dasQ/VC7/6r7zbNpQuOiiTieb2qju7J3z/RSmzm4+hyTFIq8TGQlKkoTDZefBJ/awcc9qWi93EvSFsMVZyViWyrLlWfNqemlwY7H3jQtjRJPDYWHNylzKy7JISYrDajXNyNcpPTX++gvNAYvr6mNgMId4+v001nah67PXZNJg7pAkibUrc4l32UbyIhqb+2hp7aOkaGFaLUyERVGwXENASEgoQ0/WgUh0zGuyFHtNQkIQy/PS3pd6Gm+zYjEpZE3BamA2kWSJnJIMchaoxcVECCEIhqK4vQEam3tpauunt99HKBwlElGnPXv6xU/vJsF14/UQXWxUX+4c+Tkt1cUX/nA361cvwxFnRRlyDr8RMYSTwZJACEFvl5emm6zZ5M1OUlIc6WnxdHTGpsG8A0FaWt2LTjg9vnU97kDwqr8LYkX6JiVmTHm8oZXfnLuEJEFxWgol6SmkxztJsNuwmhQ0XTAQDNEz6Kemu5fL3X3ouuBjW9fx8PoV5CQuzBP2YkTTdKpqO3hp71kOvncZf2D2ko4/+/hOQzjNAsqoSObmDQXs2l4GSDesYBpm1oTTcNLt6A7fsiQhTXL+crg0WdcESDHvjWG/ECFA6AIx9PwgMRRiHtr2RHPrw9sUOrF1h65iEhKSfCVMPd56uh5bVx5KIhaCkUjF8N9GxjfquEe/NvGYroxtNLGQ+bWPaTYYGbM+dHyyBAK04eMbem+vvP+xZd//2vC2dO3KsSgmeVJj1zQdMbxNRZ5wnnt4rEIMffojn+H1z4HR77WuCxpqu3D3DmK2mNA1gRodP1HxescwfKzD58gww5/7ZIwNhS5ipfzvO9cn2q481NRp9HKaGvu8JFkaOe+uuc8h7x0hYk1SZWVyn9VCIkkSifFXbmChcCy6sNh4cF3FNV/XdJ19lZc53tiK02bhI5vWcN/q5eQlJ2I3m8Z8DkJARFVpdXt5/WIdT757klfP17A2L4vcpIQ5Gb8Qsevjle/Z1GM183k+CSFobO3j69/bT11j77y6lhtMnrWr8zhzvgVgqNkyN7xoglkQTkIIQoEIF043cWjfBS6cbsI3ECQ+0UHFmjx23LWKNUPNH2NfqolP8N/+8jg/+ve9pKbH853nvoCiyLQ19XL4jSpOHKyhtTGWQ5CU6qS4PIsdd65i484yFGX0RSd2Q+rtHKC5rouT716m7lI7nW0ewqEIFquZ9KxEylbmsG13BWWrcnHEjW0MKQT8x/9+gWMHLvGJz9/JzrtX88JT7/L2K2cB2HZHBQ9+dBupmQm0Nfbyyx+/w+mjdZjNCrfds4YHPrKFlDTX+y6GAt9AkNbGXi6da+H8iUaa67sZ8ASQZQlngoP84nQ27yxjzeYiMnPmtuz6108e4hc/PMD9j23mY3+0m9dfOsVLz7xHMBBm/dZiHvn4reQVpdHbOcDLv3iPg/svoKsaG7aV8uFP7yIrLxlJklBVjX/50q85eagGk1nhn77/B5RUXLvPk9AF3/3qb3jj5TNIssRfffUxNu8qH7uMEPgGQtRWtfHuG5XUVLbT1+UlHFax2kykZiSQX5zOqlsKqVibR2ZOEuZReS9CCC6da+XUkVrqqztpquuiu92DrgvCoSjf+epv+P6/vXrV2GRJ4rsvfJG0jPFvUEIIPH0+Lpxu4uhbl6ipbGXAHcBqN5Odl8wt20vZvmcFGTlJmK4xdXPuRAP/8GdPo5gUvvHUH5KZk4S718fRty/y7ptVNNV2EYmoxCfGkV+czrbdFWzfvQL70LnaXN/Dlz/3JP7BEGs2F/GX//QojgkMAIfH3d7Szz/9+TN0tPRTtjqXP/u7R0i/AZy4LaM+V1XVCIWi11h68SGEoKXfy7fefJfuAR9/fMdWnti1CZM8vtCQJLCaTRSlJfPp1CRkSeLfXz/M1/cdoiwjlayE2ZuuE0IQCUVpu9xFzekG6s+30N/lJeQPTfhgMR5mi4mvPP2FMd/Buea5V05zuaEHiD18pCbFkZwUR4LLjsNuwWxWmK4pp2FPMDs8dN86Tp1poqq6g1Nnm2hpc5ObnXTD2FZMxIzP8khY5ec/eJtXf32CAc+VJ0Fvv5+W+h4Ov1HFI5+4FYRAUeRrGuapUZWgP0xfzyChYITG2i5++PXXuHi2Zcxy7j4f9dWdKCaFDdtLrkouq61s43v/8gp1F9uJXvXlD9LXPcDFs828/vJpPvT4dh762HZcCWPDspFQFI/bT0dLPy/+7AjPfP+tWDQMePYnhxnwBvnoE7fzvX99hZOHa0eeeH795EFCwQi///k7R25yAAFfmKe+8yZvv3IWr/vqJ2ZPv5/Whh6OvFVF+Zo8/vhLH7yuAJkJ0aiKfzBES2MPb79yjh98fS/BoTySfc+fpL97kD/58oP89Nuv8/ar50aiG3ufP4nfF+KPv/RBklKdmM0mtt1ezqH9FxB+wZu/OXPdcfd2D3DmvXoC/jCZOUmUrswd83pMnPj5ybf3885rF/D7QmNe9w1AX/cg1edb2f/iKTbfVs4XvvwQqRljpzFee+44e587Oe4YImEVwupVf5ckENdIgWqu7+HH/7GP00cvEw6OuoG7obvdw9ljDRx47Twf/vQubt2zEsU0fuKjpukE/WFUVY99Dg09/PTbb3D4jcqR8wzA6w7Q0tBDwB9m3dZi7HFWJEkiJc3F8lW5HHq9kstVbVRfaGP91uKJBw7UVrZSX9OJBBSUZJCSfmNM+3gGrnxfRkdlbyQO1jZS3+smwW7j0VtWTcpSQJIkTJLEg+sq+MHB49R09XK4tolHN66atXGpUY1f/+er7P3pIbpb+6ZtqWCxmec1d1AIOFfZCgwZjG4s4iMPbqKkMI04h/U6axvMF8lJcfz55+/iVy+e5MChar7x7X3c+4HVrKzIIS3Vhdmk3JARqBkJJ03VePnnR3nxZ0cJBSM4nFY27VxOxZo8ZFmi8XIXJw7V8ux/HyI1I35kuud66LrOyXcv8/xPDtN4uYvC0gzKVuWSlOok4A9Tf6mTlsYe1m8pxmS++gJks1vw9PkwmRUycpIoX5NHYVkmDqeV/8feeYfHcV13+70zW7G76L0DBAiSYAF7JyVSoqhiSZYsybJky3IS27HjkjjFzpc4iRM7sT9/cYkdlyS27Liq2rJESRRJUWxiLyBAEAQBgui9bt+Zud8fC4AEAZIAsWCR9n0ePaYXM3fvzs7OnDn3nN9vsN/H4T1nqCpvxDPo54Wf7SEjJ5Hb7y0be0GWcGBXNbpm8P4nV5OY6uLVZw/Scr6bXa+XowhB7elW3v/hVSQkOdn6u6M0nutk99YK7n10Gdn5ySNPlFabGb83iM8bJC7BQdGcTGaWZo0cl3Nn2ti/8zQ9nYOcOtbAz7+3jb/+10dwxk7vOntNZTOtjT2s3YA5riEAACAASURBVDSXwpnpvP16OVUnGjm6/yzP/WQXh/fUsOHeMgpL0tn1RgWnyxs4fqCWmqpmlq6ZiRCCxauLychOpKWhm4O7qnnoI2vGBDEjh1RKyg/V0d05AMCK22fjdI3NlDz/zG62/u4ohiHJK0pl8episnKTUFWFvl4vddWtnKloYrDPR3pWAvGJY/2PHnl6HXe8b1H4fQ3JW6+d4LXnD2GxmHjwyVUsXVsyZh8BJCSNHUtKSUNtB9//2h8oP3wOs0mlZG4WS9eWkJQai3vQT/mhOiqPnudsVQvf/9ofcMXFULa88KqZw7rqNvZuq+T4gVrSMhOYNS+HlIw4tJBO47lOzla1UDIvm7iLPJ5inDaWrivhyDtn6e4c5PiBWkoX5Y3KzlyMYUh2bilHGhJrjIU1d5beEi7lA4M+WlsvtPmbVAWb7dbLBuw5Ww9AXlI88TGT+027bFZyk+KpaG5nd019RAOng2+U8/x3X8fnDqAoAqvDimpSwl12k7ihWW0WxHW2XPH5g0BYnfqR+xYzf072LXkTfjcjJSQmOnnf3QtQhGDL1nLOnG0nNtZOjM1CfHwMsbE2rBbzNQVRRYWp3H9P2fRM/gpcc+AkpaTmVAuvPX8Ivy9IQrKTj//VPazfPG/UjaL5fDff/LvnOX1J1uhKBP0hfv4f2wgFNf70i/dy2+b5WC66WBqGpKutn5hxbrhCCDJzk3j683cR47CyYFnBmPTxfY8t5/mf7ub5Z3bj8wbZ9vIx1tw5F+s4F+SG2g6e/twmHvnYWoQQ5BWm8o+f/QV+X4idr53go5/dxH2PLUc1KSSmxvKtL79Id8cATfVdZOcnj4xjMqs89JHVFJdmsWxtCcnpY+0jNj24mH/7m2dpa+rhTEUTFUfPs+K2WZdOKaJ0tQ+wdE0Jn/ibe7DazCxaWcTnn/whXneA1188zAMfWslTn7kDi9VMXlEa3/jSc/R1uzl/tp3Fq4pRVYHDZWPjfWX84gc76Grv58Cu09zzgaXjBgxeT4Cj+2vxugPEJThYsqZ4TPA70O/l7dfDWa4ZszP5lx88NW5g5PMGqT7ZSHJq7JjMjhCCrLwksvLCQqvSkJw6cT78N1WQlZ/E3MV5Ez5OPk+A55/Zw8nD9cTEWHnwyVV84Om12GMsI9s89OHVbH/lOD/8+iv093j4ybff4B++8+Rlg8hhnn9mN/09bh5+ag3v//Cq0cGyhL4eN7pujAp0FEVQtryQnIJkzlQ0s2/HKe59dBkp6XHjHveWhm4qjtYDUFCcxqz5ORP+7DcKw5DsP1RHT59n5DWr1UzsLVi029wbflBw2ayTvjkIwG4OX5ta+gYiOq93Xj2KzxNANatseGQFtz2ynIz8FByxMUM1SxMfy2y9fst0QsCs4nTauwYBhsyJr9vbR5kgg24/n/j8z+noHBxZbXJ7Apf1C5ws61YV35DA6ZofOQ3d4OSRelqbelAUwdpNc1l5+2yUoXX74f+y8pJ49GPrcMZevv5izNiGpK/HzaN/tI6N71uI1W4ZNaaqKqRlJeCKtY97k7DazKzfPI+la2disZpH7SuEIMZh5Z5HlpKQFK4VOHemDeMyS4gOl42y5TNG9s2dkUpqRrj+JTktjrmL88MeO0JQMi8b09ANvL25d8xYeUVp3PfYclIz48ccJyEEM2ZncNvd8wFwD/ppb+6Z9qJHq93MvKX5WIfMO9NzEkcCPnuMhaVrS8JPk0KQV5SKwxlOg3e29Y/8EFRVYcHyQpLTYvH7Qpw4UMtg/zgdRjIc8FYdbwAgvziN/KL0Md/hQK+XUDC8xFpQnIYrzj7mWA1/jwtXFJFTmHqZWpErF+qPN+Z420spaazvYt+OU0gpKV2cx4NPriRmaNls5Lw0Kay7ay7L14eD3aZznRzdV3PV77CloZs7H1zMB55eiysuZvRcFEFCsovktLEBUUp6fPjcVATN9V1UnWgYd3wpJQfePo1/aGlx3eb5o7pdbkaklDS19PLya8fxeoMjr7ucVjLTp6dA+nrQMeCe9G/akJLOQfe0zGew1wMSsmek8eSXHmDR7aVkFqYRl+zCleDAGT/x/653o8H9m8pIiIshpOns2FPNoMcfLRK/ydB1g7b2/il5Wl6JG/VtX/MjQiCgcXz/WQxdEp/oYMmameNmbIQQFM3OpLAkg/JD5yY8fvGcLNbcWXrFAtupkJQaS1pWPO0tvbgHfIQ0nfGeY5NSY3HE2kYuChaLiaSUWFoaeohLcJB2kctzwkXque7BsYHD1TCZVPKKUrHZLfh9QTzuyLXXXg5XrJ3E5AuF7IoQpGclcKaieSjLlHrRtjGYzeFTxusOjHTFCSEomJnO3EX5vPXaiXDhe20HpYvyxlxMK46ep7WxG5NJZeGKGSSljC10jU90Yo+x0N/r4dj+WmoqmymYmT4S3N0I9m6rxDPoRzUpbLinDFfc+IaqVpuZZWtL2L21Ap83yOmTjazbPA+b3TLu9gBxCQ7ue2z5mCaFq6EogjsfWMQrvz0QzhC+cJjVG0vHZPD6ezwce+csWkgnLTOBsmWF19vIfkJIKQmFdAbdfs6d7+KH/7NzpPh3mLTUOHKzr82uyZASrxbEp4UIGQaGlMRZbDjNlmk/r7IT4qjt7KGhp49jDa0sK8ie0HtKKTlyvpmmoYxVVkJk69KKy/I5tLUcuDEu81Nh0bwc/vzjG/n5c/t5c9cp2jr7uX9TGfk5idis4aUfRb02ayWXw3ZL1tLdbKiqQk5W4rQFtMmJzmkZ92pcc+CkhXTO14U1cRwuG7mXeeoHLgowJhY4KYqgsCSd+Gk8KEKIkeJtKS+0dl+Kw2kd6s4Y2k8RI0t/VpuZGOeFm53Zoo70WoaCYwuPJzIni8WEyayAb6hlX8ppvaBZbeZRy00IsAx1lKgmhdj4CwGCyaSMtP+Hi+4v/BgcThvLb5vF/p1V9Ha7Obi7mtlluaM6HnXd4O3Xy5ESYpxWVm2YM65chTPWxm33zOe3/72L7o4BvvaXv2HVxjksW1vC7LLcSQcYkaDyaHiZT1EUZs2//E1PCEFsQgwOl43+Hg+drf34PIErBk7Z+cmkZV5bd1tGdiKLVhWzZ2sFZ6taqTnVzOwFuSN/l1JyrqaNc2faAZi3JJ/UzPiInFNv762mp8dz9Q0ngCElwaBGV7eHuvoOqqpb8fnHCkXeefscYmIufywvN3aju4+dLbWc7G6jzTvAYCiIZhh8dNYSPlA4b2RbzTDo8nsI6ToOs4V4qz0sBTFF1hTn8/aZcwQ0ne9s28tfb17PvOy0K2b+dMPgRGMr392+D22o8Hp1cf6U53Ixdz6xmsPbT3LmaD1v/GIPD3xiI7E36GY0GYQQmEwqt6+eRXZGAt/76U4OHT/PoePnSYyPITnRictpw2qZvDK1AP7yU5uIjx3/4SjKxHE5rfy/rz46bePfKAeBa35XXTfoH7poWiymUYWrl2KxmnCMU490ORRFkHyZdvCJMKz9EwiEaK7vpqaqheb6Tvp7vXg9fgL+sKrsueq2q45lNo/94Q1fR01m9ZK/XSQ/cJl5hYI6A/1ezpxsov5sO90dAwwO+Aj4ggQDGt2dg3g9wXH2nh5UVRljmTDy+UyXfL5R94+xn3DpmpmkpMfTUNfBrtdP8tgfrcNxUT1KY1240BmgZF4OWXnJY8YY5v4PrWSgz8fbr5XT2dbPy7/az+6tFeQUpLB8fQnrN88nLsExYd2oqaDrBp1DAoxaSOdf//rZkSXZ8fAM+vEMhDsBvd7AOJ2do7nWoAnCwe1td8/n4Nun8br97H+ripmlWSPfqa4ZVBypp7fbTYzDyvylBRELPF98+SiVp1siMtawjtiVGkhKZqazZuXkfOpChs4bjdX8qPIANf1dBPTRDzRdvtGBn0Ty7yd2cbyrhdLENP5p6SZiLRO/dl2OtcX5zEhJorazmxNNbfzV86+xaU4RG2bNID85AZv5wqU4oGnUd/Wx7VQNb1adpaUvXMdTlJrE6hm5l3uLayI1J4nPffspnv3Oa7z8o20cfauS4rI88mZlEZfkxGI3I8TVAw9FFSxcPwflOjYcGIakuraNX754kPqm7pGsRnevh+7eqQX0n/mjDZGY4nseRVFITbk1uncnw5QyTsM6H4qqYLVdfighRHiZRREjyztXRAis9mvrnBnWS9rzZiWvv3CImqrWofeUKIqC2WIaCXh83qsHKFdK9V7O32k8dN3gTEUTf/j1fg7uPhNusZdhNUezRcVkVjGZVHTNuK5tvYpyefHJyXw+CGeR7nxwEf/z76/T2d7Pvu1V3PlguKvNMCRvv34SvzeIoirc+cBCFPXyWZuEJCef+tJ9rLmzlFefPUBNZQud7f30dA5Sfugcz/90D3fcv5Db71tAflHatAZPfm8QbcjVW0rJmYqmCe+ra8ZVz3nbJDMolzKzNItZ83MpP1TH0f213PHAInIKUgDwuP3s2VaJlJLUzHgWriiK2LEKhfSrBoWRQAiYUZDKZz6+gdhJPICFdJ0Xz1Xwj4e24h8KmBQEFlUd+f+XYhIKJfEpPF9bTv1gL388exmlielTnL8gOyGWP9uwgm+8vovW/kGaevv56d4jPLPvKGZVJT7GhkVVCeo6Az4/AU2/IEYJZMa7+OzGlaTFRj4bpJpVMvJTEIqg6sBZqg6eHTlHJnqmWOwWnq37DhZ1aufyRJFScqqmlX/51qs0t/VF/g2iq3RRrsA1B06qerGyNOi65HL32fFUsq/GtZ63hm7wyx/s4PWXjuD3BnE4bZQuyqNkXg7JqS5sdgtmqwmTSeVn33uT2qrWa3yniU9SSsmJg3X86Buvcv5seHmzsCSD+UsLyMhJxBVrx2I1YTKbqDrRwEu/2Efweor8RfAisWztTF78+V56uwbZt+MUazbNxR5jobd7kMpj5zEMSU5hMsWlWVeekhCYzOE6qJJ52dSebuXEgTr2bq+koa6Tnq5BnvvpbsoPn+OPv7CZ0oVj66kixcWu8WaLyr2PLp9w+j81I/6KwpRTJazpFMuCZQWcOn6e82fbOXuqhay8ZBRFUFfdRuO5sHDsvMX5V+3wuxmZX5rNn3x0HSUzMyb8HUspqehp40eV+/HrGmZF5fbMQlZl5BNnsfGl/a+NGzwJIViZlociBCFD51BH45QDJwhbT2yYNQNFCP5j+z7OdvYgh+YZ0DTaBy5f/F2UmsTnNq5i3cyCiBf1dzX38J3PPkPVwdoL2T55QR1/oldtwzCue6HuK1vLRwVNToeVuSWZ5GQl4nLasJivVSNI4IxqQUW5AtceOJlUYpw23AM+tJCGZ9B32Zokw5D4PIGJZZumyP63T7P1d0fxe4Nk5CTyhX9+OFxYbDePWFsM88LP90z7fAB6u9w8/8xuzp/twGo38+ATq7j/QytwxdoxmU2Iiyw6/L7gLVuUKIQgNSOeZetm8sZLR6g93UJNZRPzlhRwpqKZhtoOhIDFq4pHFaRfbUyH08b8JWGF8PseW07FsXqe+59d1FW3cbq8kf/9/nb+/J/eT3p24rR8LpvdPFIPJ4QY6hKdWEu8UMQVl/UigWpSWLVxDq+/cJjOtn7efr2cVXfMwWxW2fHKcQzdwGRW2fi+hZENLiN8mipKuGPWbFax28xkpMezeeNcVq8oIiE+ZlJz9+sar5yvon6wl1iLjT+fv5b3F8zFZbGiS4O/P/DGZffNdsaRaI2h0++hvPvqy/kTxWJSuWP2DOZkprLt1Fm2nKymY9CDP6ShGRfqGU2Kgs1sIs3l5K55xdw1p5iMONekM8AT4bWf7x4JmpzxDvLnZFE4L5ek9Phwk8EED7lqUqetkWc8pIRjleEuUiFgyYJ8Pv7kWrIzEjCb1bBp8hTO9Vv1Ghzl+jClwCkrN4nqiiZ83iBtTb2XDZy8bj89XdPTTnsxUkqO7K3BN2T2+PBTa8bt7ILwUuPFSufTOafebjenjoWLi4tmZ3L/4ytIGmfdV0qJx+0nNI6i9a2CLcbCsrUlvLOjiq72AcoPn6NoThYVR+rp7/UQl+igbFnhuB2YV8NsNpGQ7GTNHaWUzM3me//yMgd3VXOmoolzNe1XDZxGzoNriN9L5mbRdK4Tw5A01HVQtvzKKt3Xm/yiNOYtyWfHKyc4fqCOjpY+zBYTlUPn3ax52eTOSL3KKJNj4/rZzJ195czhRBFCYLWYiImxkJToIC8nibzc5Gsu/hwMBjjU0YhEsio9j0dmzMdhDi8j6Vf5/k2KQqYjlk6/hwZ3ZJeBFEUhOyGOj65ezIeWL6Chp4/mvkEGfH6Cmo7FpBJrs5IZH0teUjwW0/QWv9adbMQwJI5YO5/8t8e57QPLxxUVvhkZFty0mE088dAyZhVNPTMY5fohpUTTDOQUcpXKUJPA9eaaf5UWi0rx3CyqK5oY6PNSfbKRmXOzx0TqUkq6OgZouqSteDrQdQP3gG/EnzKvaHwHdSkl9TXt9HdHpiPoavi8gRENnbh4BwnJ4weYfl+ImormadO8uB4IIZizMI/s/GROHW+g/NA51m6ax4mDdQCkZyWM6voaj+Flgit1rqWkxzF/aQHH3jmLzxsMZzSv1IEowk0Kw+MH/dqkOhaXr5/FjldOoGsGu944SemiPEwXLeFdy+eIJEKEpQl2bikn4A9xcFc1iSku+ns9CCFYcfvsawpWr8TD9y+O6HiRxK+HaPT0owrB8tSckaBpIggELnM4w+gOTZ8kiMVkoig1maLUyzdJTDcJqbEIAZkz0li0YayUxc2KELB4fh7NbX0IEW5kme4O5CjXzrDUyPnGbo6eaKD6bBuDg35CIX1KS7wLSrP52IfXRGyeE+WaAyezxcSytTPZ9fpJBvq8vPnyMWaX5VE8J3PUyev3Btn+h+M0DEkXTCeqquBw2hAinMptqG1n7qLR6tBSSjpa+3jup7vo65n+LBiEhSQtVjPBQIiBPg+9Xe4xPmHBoMaBnVW8/Xr5dZnTdBKf6GDdXfM4Xd7I6fJGqk40UFfdihCCVRvmEJtw5Tbfns5BvO4AKRlx42o3SSlH/N00Tcfhsl116UwIQVJaLIoiCAU1zlQ24/MGJ9xhNn9JAQuWF3L8QC27t1aSXZDCnQ8swumyjZmfrhsM9nvp6RwkMzfpilIEkWTG7EzmLcnnxMFzvLOjitwZKXgG/WTlJTFvccF7avlBkwbuUACBINU+eVPc4Yods3JrBBLXyt1PrePI9gq6W3rpbOoZCqRujfPk8fcvpam1l4rTzWzZfpLs9HgSE66/EGeUKyOlpLmlj5/+ci9799cQCGoTtl+7Gi7njalFu+bASQjBrPm5LFpVxNuvneTsqRZ+/I0t3P2BJeQXp6GoCp2tfRzeU8P2V47jio/BPeAbZWAaaYQQzF2cz/ZXjhMMaPz+l+8Ql+Bg1vwcbDEWBnq9nK1q4c3fH6X80DkSU1x0tUfWwmC8OcXGOyialcGpEw3UVbfx3E93s/mhxSSnDfuRdXFk3xne/N1RTGZ1RADzVkUIwaqNc/j1f+2kv8fDq88exDAkNruFVRvnXPXCdmRfDa8+e5D8ojQKS9LJKUwlPtGBxWLG7w/S0drHgZ2n2butEinDhfZ5My6vIzY8p6zcZNIv8tRLTHGxasMcHC5b2PR4wI/H7WfRyqJRNj3D2kwPP7WGloZuOlr6+OUPdnDmZBMLlhWSkh6H2WIi4A/R2+2mub6L83UduPt9fOGrD5OZc22CjZPF4bSxfP1sKo81UH+2ja6OsITCjFkZ5BSmvKduKKpQsKtmfFoIrza535IhJe3e8ENVku3dreVTVJbHJ//tcV76z60885UX2PjBVRTOzSYlO5EYl32MVMnNghCCrPR4/uITd/LqtnJ27a/hG//5BssXFZKfk0RivAOX0zqk46ROWovLYrlyNjnKxGlu7eM/frydA4fPRVwIMxIaa9fClBbQXXF2nvrMnbQ19VJT2UzF0Xpqq1ux2y0gIBTQCPhDLFhWSNmKQn71o514Bv1XH3gKrNo4h11vnOTw3hoa6jr51j+8hMNpRVEUNE3H5wliGAZ3vX8xmblJ/PDrr07rfAASU1zc/chSWpt76O1y8+pvD7DrjZNYLCaklPh9IXyeABm5iXzwT27jxZ/toeZUhPRxbhCJKS5Wbyxly3MHR7SbylYUkjoBzSIhBOdrO6g+2YTFasJmt4zY2hiGQSig4fEEEEBGTiJPfPJ2UjKurvuVU5DMHfcv5Lmf7qa/18OLP9/D1peOoKgKUkp0zcBiNfGfz//ZGH9DRVFYuGIGn/uHB/n+1/5Ae3MvO18rZ//OKswWE4oiMIywTlcwEMIwJPlFadNS0Hs5FEWwYFkhWXlJnD/bgWfQH1YyXzdrtMjpewCraiIjxkVNfzcVPe28v9BAnYAeEUDdQM9IbdO8xIyIz01KSVDXcfuDDPgD9Hl8eIJBHFYLczJSsZqvn6hfzfHztDd2E5fs4tDWk5w+XIfdacVsNY9ovKkm9ao14mabmf/3+hcxW6+fAbPPH6KuoRNNN9B0g32H6zhS3oDNFlYNN6lhwV4hJm8//L2vPX7DVKnfTQSDGi9vOc6ho/WjgiaTScFqGW7YAo83gKYZCAGOGCuKIoa69Q2CIQ3tIoFqq9XEogV5LF9SwPLFhTfiY00tcBJD9hxf/Pqj/P5X+zlxsJbWph76ez3Y7BbSssJeWo88vZburkFeeGbvtAdONruFz375QV76330cfaeG1qZeOtsHUBUFV5yd/OI0br93ARvuW0B3+yBmizqtWTAI39A23LsAq83MlucO0VDXwUCfF103sNnMpGbEs+L2WTz0kTVk5iSy983KWz5wUtWwb9vurScZ7PdhtphYc+fcEcuWKzF7fg6bHlzM2VPNdHcMMNDnxTPoxzAMTGYTDqc1rF00L4fND4cznBN5OjRbTDz81BpiHFZ2vXGSloZuBvq9SAOsNhOuODsZOUmXFfEzmVQWrSziK9/7CNtePhr2amzoxj3oJxTUMZlVnC4b2QXJZOYksXx9CQlJ1+/iO+wnOHdxPg21nUgpSUh2snTtzPfc07PLbGVRSjZn+rvY1VJHefccypIyr3ocevxefnxqPyFDx6aaWJ8Z2QuzISUVze1sraxhd009tZ3d6EPLFqWZafzHh95HRtyFpcU+r4+K5nZ8IY2s+FhK0pMjKknwzFde4Nhbp0a95nNP/hptsZkxrrNPXGNLD1/+xsujXgsENQLX4NpwKfp11NJ7N9Pb5+HNHZUjdbtCCGbNTGf18iJmFKQQHxeDalL47g+3U3GqmViXnb/4s00kJjjQNJ2BQT+NzT1UnmrhREUjXl8Ql8PGXRtLWb2iCPMNyohO+dFGCEF6diJPfeYO2psX090xQCioY7GZSEx2kZ6diMVqwu6w8oV/eZhAIETJ3Oxxx1p+2yzSshJQhCB/5rV1SAghSEqN5cOf3sidDyyku2OAQEBDUQQxThvJabGkZSaEW5+zVP7+W0+g68YoZXMh4KGnVrNu8zziEhy44i7Uz8Q4rDzxpxu497HlJCaPrp0wmRW++PVH0XVjlCp22ABWZe2mucxekEtHSx9ud3jZ0mI1kZDkJD07EXtM2DPr8U/cxob3lZGTP33LK+vumkfBzHRiHNZRfnuKovDAh1axcsOcMVkKIQSf/Jt78bj9JKfGYrpKEBSf6CQh2cVgv4/s/GSKZmVOqM4mKz+ZP/nCZrraB+jv9eBx+9FCOoYhUU0KdruFxBQXKelxI/YwE2FYiPV9j69g+fpZdLX34/UEkDKszxTjsBKX4LhidkYIQXZ+Mk/+6Ua62vvp6hjA5w2ihfTw3GKsxCc4SEp1YR8yAR6PwpJ0/s+/fwgpJRkRlFFQVYWcghQUVaBrkiWrZ46yzXmvYDeZuT1rBtuaamhw9/K1Izv4q7L1LErJxrhIWFIyVM9kSJq9A/yw8h22N50FYFV6HjPjI1e4bUjJjqpavr1tL+e6eicUaAQ1nR/sPMDZjm4W5GTwfx+5mzh75HTBElJiSY3AUrLlhvhIiulZqhFR/ctIcaq6lZ6h7nUhYPmSAj7+0fUU5iePOl8Shrw/pZSUFKWRkX5hZULKcAC2+50afvnb/bR3DvCD/9mJzWpmxdIbk3ESMmonHWUakFKyd9spvv7FZ9E0nfseXc7H/+ruMUtgUSJLwB/i//7tc+x5sxKb3cxXf/Q0c8py33MZJ4CArvHdk3v471MHCRo6DpOF0sQ05iSk8cuaY4QMnY1ZRZQmpnO2v4v97efpC/oxpKQ4LpmvLt/MkpSJmfFeDd0weOt0HV/bspPW/rCFis1swmWzMuALENC0cTNOUkq+8ocd/OZQOaoi+M3HH2du1vjdwtdCwBfEiEQXrxDYYqbfLPli+gd9vHO4blrGXr9yJvYId6G+F/n+f73Fsy8dAiA1xcU/fvF+5swam/n952/8gW07q7BaTfz0+0+TddHDPIR/B4aUHDh0jn/79hb6+31kpMfxzX9+lOys0dteD6J3sSjTgq4b7N9ZRSio4XDaWLp2ZjRoug7Un22nviZs6DtrQS6ZOYnvyaAJwnVOnyxdiScU5MW6CgZDAQ52NHKwo3Fkm+3NZ9nefHbUfvmuRP564W0sSsmKyLGTEnq9fp7Zd4TW/kHMqsKS/GzunF1ETlI8P3hrP0cbxl+aF0KwrCCbZw+fRDckR843RzRwsl6njs/pIM5lZ/PtpTd6GlGuQHNr78i/c7ISKSlOH/c3ZbGEhaCDQR1dl2OkJYQQqEKwYmkhG9fP5sWXj9LeMcDvtxzjkx+7bdJGzlMleieLMi10tPZx4O1qALLzk5m/tOAGz+jdj6bpHD8QrjM0W0wsXTuT2CuYb08Vvz804qsohMBiNUXcEsQw5IhPIITrBScjeOc0WfjLsvUsT8vlJ1WHON3XQVDX0QxjRHJAFQKTouI0W1iXUcjTs5dSmpCKMsFi8qsjOXK+iRONbQhgrZoDhgAAIABJREFU46wZ/M3d60mNdaIIwW8OnLji3rMyUsLWIRKqWqdf1iVKlEgxeFG9XF5O0mV/u7aLNPbcnsvX2AkBm24v5Y3tlXg8Acormmht67/uWado4BQl4gz0efn1j3fiHvBiMqk88MTKiIsvRhlLbVULrz13CF0zKJidzsrbZk+rdtOPf7aL8w3dALhcNj725BpyI2x709Pr5qU/HMM95AZQmJfM/feUTTgTJITAYbayOaeEjVnFnOxu5WRPGw3uXtzBAEII4q128l2JLEvNpiA2KVzfEuEs3a4z9WiGQYzFzKduX0FarHPCnyHZ6cBhsTDgD9DY0x/ReUWJMp0ELnLBsF8huxnrsiMQSCQ9vZcXphZCkJToJD83icqqFjq6Bmlp64sGTlFuPeqqW9E0HUVR6GjtY/fWCvbvPI2UYQmCRauKb/QU33UE/CFqT7cMCatq1J5uYdvLx2hr7kVRBJsfXkJ69vQu052ubqXydHiJKTHBgccTeZVtXTfY+lYlHZ3huqDZMzPYsH42rkkYJw8HQhZVZXFqNotTx29OmU5qO8IBZlZ8HHlJCZP6XoQQOK3hwMkdmB59txFTXwkg0YIak9EoFNyoAvHRDJvO9w14OX22nfNN3fQPePF4g+Eg2mEh3hVDQW4SMwvTwjfsi7xCo0SWiy2TfFfQJnQ5beGTSIZ1n66ExaISHxsuJvd4AgwM+iIy18kQDZyiTJkXfraH/W9VhTuUdINAQEMakplzs3nikxuIS5icQWuUq9Pb7eYbX3yOgX4vSAiFdEJBDavNzIb7yrjj/oXvCqXw+HjHKAmLgUEfrW39uIoi11l2PejzhpcfUmMd15bMGtpHnYbv1NANutv62PP7Ixx47TjNdR0EfJMLgi02Mz85+m9YblBmWUqJ1xfk9Nk2Xt5azvHKcOu6poW7cYcDQ0UIFEXBZFKIsVsoK83h/rsWMLMwDcd1Lm5/LxB/UUd6W0f/ZW1x0kYU6yVV1a1XHDPsTxdeRg+GIiM/MVmigVOUKeNw2kAI/J4gqkkhLTOeOWV5PPjESopLI1NgG2U0qqpgd1jp7XYTCmrY7BYKitNYs2kumx5Y9K5ZGrVaTLgussXx+oJ09biZSeQKpK8HtqHgL6TrV9lyLEFNo38o8IqPubK10GSRUnKusokffunXVO47c81WGBabeUpmrVNBSsn5ph5eePUob+ysxOcPXXZbXUp0Qyek6fj8IbbvOc07R+rYuGYWj96/mLzspOj1KoLk5SQBNQC0tvUz6A4Q6xr70FOQl4yiCHQdTlW30NPrIekyAqTBkEbfQDjLJIS4Id9XNHCKMmUe+dg67nxgEZqmI4TA7rCQlBKLYxwftyiRISHJyZe+8Rg+bxBdNzCZVVxxdpLT4jDfIkatEyXuIh9Cf0Cjv997A2dzbaTFOalu76Kxpx9NNzCrE/+OTrd24guFn6qLUiJr3xMKavzy6y9TsfcMUkoUVcFsNaEoCqFgCC2oo5pUzEPFu4Yh0UMa+pCSc0FpNgvWzqJkSeGExG0jjZSS2vOd/Nt/vE5tfVhFfBhVESiqEtZ6EsPbgzQkumGMBIleX5AtOyqoOdfB33z6LmZMo37ee42iGRcecAYG/dTVd1I2L2fMdslJLpKTnLS29dPb52HbW6d4+IElqOrowEhKSXvnIHXnOoHwg5X9OqrVDxMNnKJMmZT0OFLSr255EiVymMwquTNSb/Q0rgvOi+qZgkEN9wRqqaSUtPvcBA2dzBgXphts1rtyRi67ztTTOehhd009d84pmtDNecDn51cHT2BIiSIEq4vyrrrPZDhX0cihreVIKYlLdnHP0+tZsbmMpIx4XvjeG/zuB9tYee9C/uifHkHXdLrb+qh45wy7XjxEY3ULebOzePizm0nOvP5aOlJK6hu7+dfvvs6ZurAEh6II0lNjyc9JZlZRGtnpCcTHxWC3mZESvP4gPb0eGlt6qa4N10B1dA2g6wanz7bxf3+wlS9+ZjP50cxTRCidlUlsrJ2BAR/9A17KK5uYNydrjHyA2ayyZmUxz710mGBQ59nfHcZms7B+zcyhByeBpuk0NvfwX8/sGunWS4h3kJI8eRPvqRINnKJEiXJTc3EGzTAMQqGrL3f59BA/qz7MoY4mlqRk86HiheS6ru6TOF2sKMwl2RlDl9vLM3uPkJcUz8y08VXJh+txPMEQP3vnGPvrwrpTJenJzMmMbLB8cu+ZETuMBz55B49+/h5MQ8fblehEKAKzRSUtN2xFlF2czrzVM1m8YS7//ffPsvcPR4hPieXJLz6AIy6yy4hXw+sL8uKWY9SeD2cfVFXhvjvmcdftpczIS8F+hWL1cNt7gLP1Hfz+jRO8tbcaw5BU17bzypvlfPyJtVhvQCbj3YbTYWVBaTa736lB0wzKKxq5d9O8MctwiiJYtqiArdsr6R/w0dXt5kfPvM3+Q7VkZSZgtZrp6XVTXdNGXX3XyH7ZmfHkZEW2k3ciRAOnKFGi3NRcS/HnYDDAntZzVPS0E9Q1Pjxz0TTMbGIIIchPSuDhxXP56Z4jnGhq47O//gOPLpnP2uI8vKFwTU5I12kfcOMJBKlu6+TZQyc50dRKQNNxWa18aFkZiY7IBicN1S0YhkFCWhy3PbwM1XQhEzBsXh0KaoRCGlY13E6uKAoliwr46N8/xD8/+X22/mI3C9bOYsU9ZRGd25WQUlLf1M323afDnp9WM4+/fymPvm8Jzotq4i6HEAKX00ZZaQ4FucmkJLp4cctRgiGd17ZX8MBdZeTegBvyuw2r1czaVcVhk18kg24/Hm+QpEsOrRCCObMyWbuqmC1bT2IYEo8nwL6DtQghUBTQL/GUjbFb2HzHPGJjr3+jSDRwihIlyk2Lrhu0tV/QLlJVBav16pctv67R4A7vVxibSIYjdtrmOBFsZhNPLF9Ae7+b3584RUNPP9/cupvvbN/LsOlVfXcvn//1KwwEAviCFwqczarKB5fPZ/O8mREXGB3ocYOEtJwk7M7RNYkWmxlFVQj6QgR9Iay2Czo8QhHMWVFMUVkeR7ZXsPv3h1m6af5Itup6sO9QLYNDYollpdk8uLlsQkHTxQghiI+N4dH7F3PydDOV1S0MegLsP1IXDZwigKII5pfmcN/dC8jOiGfNymKSL2N87nRYefzh5TS39HGsvGHkdSkll/ZU2Kxm7ts8n/U3yMD8+uqUR4kSJcoEkVJSW9dBR8fAyGsWswlHzNVvjro08IQCKEJQEJs4PWawkyTF5eTzd67mieVlOKwWBBDSDbQh9fWgptM+6B4JmgTgslr5k7VL+djqJTitkbdH0YdU2RVV4VJrW7vDhmpS8XkC+MepKxMCZi7MB+Ds8XqkEQHPuwkiJVQMaYiZTArLFxWSEHftKvkpSS6WLyoYkYqorB7fAifK5ElNcfH0E6t54N6FpCS7rhjoZGcl8Lk/vYMN62Zht5lRFMFwbb8QAlVVSE1x8bEPr+HJx1ZG/EFiokQzTlGiRLnpCHfPDPCrFw7Se1EXnctpIzPj6rVKCgKLYiJoaNjUm6dWJdXl4K/uWse980p47kgF1W2d9Hp9+IIamqGjKgp2s5mEGDtzMlN5bOl8ZqWnTIt+E4BjyJV+sNczEkQN40p0YLaY6Ovop69zgJRxVOFjh2pVulv7uN5+8S1tYaFEk6pQMiNtymLvs4vCPmpSSprbrizCGGXiqKoyqUxgfm4Sf/uFe6lv6GL/oTraOwcIhXTi42IozE9h6aJ84uPsN0yKAKKBU5QoUS6Dzx8caTsfD/2iDIOUEp8viNt9eZ+piaDpBv39Ps6e62DrjkqOHD8/SlsoIcFBzgTsFayqiQyHi3MDvXT63FOaUyQRQmAxqZTlZjIvO522fjct/QMM+PwENB2LquKyWcmMjyUz3jXtT9RpuckIRdDZ1I3P7R8lUJiSnYg1xkJHcw9NZ9soWpCHuCSA6+8JK7rfCAWn4HCgJwT2COiW2S9aigzeAFHFKGGEEJjNKsUz0iiecXPqtUUDpyhRoozBMCTf+/FbHDlWf9ltunouBCT9Az6++s1Xp6whJZFomoHPF8TjHW3RoAjBmpVFxA9lSa5ErMXG8tRczg30UtXbwUDQT6zl5lIbVxWFrIRYshJuXP3VzIX5KIqC3xukcn8N2cXpI3/LKkwjPsVFZ1MPW3+5hwXrZpGQGjeSlRns9XB4WwUA8SmxEff3uxoOu4WeXg/SkAy4p2670TfgHYkAY+yTq5WK8t4iGjhFiRJlXHp7PbS2T8xU1jDkqEBqOphRkMLdd8ybUHo+xmTmocJ57G9voKqvg62NZ3iwYC6mG1QTcbMyd+VMXPEx9HUNsvt3h7jj8dUjBd42h5UVm8uoOXaeY2+d4nt/8QvWP7yMuGQXg70edr90iHOVTQCUrihCuZ7HVkBOZiKNLb1oukHF6RYWzs295qUbKSXHKhoxhpYb83KiheFRLk80cIoSJcoYhADLUDv6sHHqjSQjPY6PfXgNiQkTKwAWQrAgOYMvlK3j7w++wX9WvEOcxcaGrLDw5GRur5Gqo5AybEpiGBJ/KESv14c/pKFNwubEYlKZkRK5m7ojLobFd85lx2/2097QTV/nwIiYpRCC2z6wnNd+touull72vXKU429XERNrw+8J4On3IiU44uysvm/xKCmD6UYA82Znse9wLbpusP/oOTaumUVmevykvy8pJXUNXRwpPz/y2sLS3AjPOMq7CSGvd0VflChRbnqGa5ZOnW7l2MkGKqqa6egcpK/fi9d7eZfzSONyWikpTuePP7KWkuL0CWc1dGnQF/Dj04K83VLHd0/uxR0KsCw1l7UZ+eS7ErGbzFddXbKrZhYkZ075c+iGQX1XL69VnGF7VS3NfQNoujFpf7f8pARe+vSTU57PMFJKao7Vc2znKTY8uoKkzIRRx1jXDXa/dIif/tMLtDd0jdnfleDg/Z/axEOf3oT1OprkSimpO9/FF77yHN09HlRFsGHtbP748dVkpMVNeB6GITnX0MWPf7GL/UfOYUhJblYi3/3nxy7rlRYlSjRwihIlylXxB0Kcb+imvqGLmtp2Tp9po/ps+0gRraIIkhLCXVhTwaQq2O1mYl12CvKTmV2cwZJF+bick/M9bPMO8uWDbzAQDNAb8NHi7ccdmnzAVxibyPb7PzHp/S5GSsnZjm6++OIbVLV0TKmQuiA5gS2f++iU5jNZQoEQ5Xuq2fbrfdSebMA74CPGZSOrKJ3V9y9mzf2LsU1AIiLS+PxB/udXe3nh1aMjHnVLFuSxaf0cykpzSE+Nvew5YxiSxpYejp5s4LUdFVTVtAFgt5n5kyfW8v67yzCZ3l2ejzeC4ejiJlADiSjRpbooUaJcFZvVTElxOjOL0rh97Sy6ut383b+8RO2Q2Wasy8Zn//QOZhSkTOl9hBCYVAWzWcURY8VsVq8pi+EJBXmzqWZKc4kkvzlUzqmWDgBiLGZSY51kx8fisttQhZjwjSXFde1aRdeK2Wpm0YZSSpYU4u7zooU0TGaVGJcdZ3zM9a1tugib1czD9y7iTF07xysbkRIOnzjPqTOtJMTHkJ2RQE5mAonxDuw2C1JKvL4gXb1uzjd109YxQG+fF38grJtlUhU2rpnFXbfNiQZNEWLQ7eM7P9xOQW4SK5bNIDM9/opWOLcK0cApSpQoE0YIgcViIiM9jpzsxJHASVEUUpJcZGVcf7PX8XCaLdybN2vK46TZI2MgevBcuIg63m7jaw/dxaqiXCzqrXNzFkLgjIvBOYGOxuuFEGFD37/+9F38+4+2caKykWBIx+sL4vUFaW7t48DRcxMay+mwsmHNLD711Hpi7JEXGn2vUlPbwfadp5ASnvnVPj748DI+8sGVWKaYmb7RRHT24VW/4UT0jROnihIlyvQihKAwL5m391Tf8MLx8Ui1O/nWqvunPlCEL2FFqUmsKcrDHM1oRAQhBFnp8fzVpzaxZXsFL205Rv/gxKUJBJCbnchjDyzltlUzibFfvzqt9wIVp5pGrg8mk0J6auyUJUtuBiIb9kkf/t6PgdGFLfE3oI7v/h3l3YWUBqABt34KNsrEKZqRNqLpc7MhhMB8E2V0bptZQF1nD51uD+5AkARTZM1638sIIUhPieUjH1jB5ttL2fr2KQ4eO0d3jwdfIISm6ehDNVAmk4rZpBBjt5KZHsf6lTNZt7wYl9OGqkalKiJNbf2FhoL4uBhKZ2e9K+4REc6XSZD9SKMXiRHph7UoNylSq0MLvo3Z/hCIm2OpJsr0U5iXjKKIUcreUcbn8eULONPexf5zjXx3+z4eXlxKcVoyFvXaariijGZYbTorPZ6nH1vFkw8tp6m1l7bOATyeAL5ACEUIYuyWsG1PejzpKa4bVp/1XqG7+4K2W6zLTtYE7JJuBW7thcYoNwVaYBu6/w1M1jsRSjRweq8QG2snOclF2wRFMt+rCCFIj3Px5fdt4LkjFfzqwHH2nD1PWqyDrPg4Yu1WbGbThAKohBg7T69eHLG5DfZ6ePUnbzF/7SwK5mRjc1jfFYGc2axSkJtMQW501eNGEgxdsK6Ji7Xf8rVNw7w7PkWUG4aUQfTAXuD6OaNHuTkwqSpzSjLweAI4HdboUscVCOk65U3tHK5vxu0PMugP0tTbz5HzLZPKzBckJ0Y0cDqyo4Jf/OvvMb76OzZ/ZB2f+daHIzZ2lCiOi2QqlGkyqr4RTFPgpAAh9MB+9OA7SKMboSSgWlaiWFYMPdEMHcQhNV1ptKD7d2DodeERTEWoltsRasaYJyA9VInm/S3mmCcRpjyM4GH04H6k0Y9QElEtK1CtK0a2N/R2Qp7/Hnr9dgytCj3wNlJvQyguFNMsVNvdCGEaNScjVI4e3BveTsSgmEtRrRtB2EfNScoQuv919FA5FtdfgvSjB3aih8pB6iimbFTrBhRT4aSPpJQ+Qu4fo1gWoCiZaP7fAXbMMY+B4kLzvYih1aKaF6La7kEIFc33EnrwIKaYD6KY5o85ftLoIeT5OVIOYHH+NUKxXfge9Fq0wE6k1gSEEEo8iloQ/t7UofVpKTG0SvTgYQztDEaoHIRKcPAbCDHULi1UTPYHUC3LL/osEghhhE6gB/YhjS6EcKBYFqNa1wCjtXqk0UvI8wuEmorJ/ihSb0D3b8XQmxDCFj5HbJsRigs9sA/NvwXVugbVugkhRt/EpdTQvD/D0GoxO/5s3PMqyuQwmxUe/8AyNq6fjcWskpEed6OnNEIk666mep5IKTlQ18hXt7xFt9s79u+TGSvCdro1x+rRdQNpSEoWF0R07ChTY/gcNgxJY3sfnb2DeHxBglcw3p4oi2dnkxQ3/dIWGelxHCsP/3tg0I9hyHdFADVNgZMJzf0TNP8WECpgIA03Ie+vsDg+gcnxFEKEI1GJge7fStD9LTB6YOh1Xf6BkPI/WGL/AdWydtSNUGpNaN5foFqWYPh+j+Z7KRyHSR1JEGkMjAqcMAbQfC8AOkgPwcFvAhpIA0kQ1VSCartj5HBI6SHk/Rma52fh/YUlvK3vWVTzc1hi/wnU/IsuqDp68Aia7zeY7A8Qcv8nRvA4CAlSRxcmhJJ6TYETMojmfwNVP09Ib0bqjeEaMv0sQs1C872GlP1o3hewCgcm2wYQLjTvbwGJJXY2cKG9VkqJHqom5P4Bqu02GAoWJTq673cE3d8F6QdhHj7YSEKo5qVY478Nwg5INN8W9MAOpPSC9IBUMELHR44hwoRqWXnJZ/EQdP87uu/l8HZCDX9nvt+gWtZgcX0R1AvFg9LwovtfBzUZRc0kMPA1kP1D31sIRc1EsaxEKC6EkozmewVDr0cxL0Soo121pdFNcPA/UEw5Q+dklKmiKAozi9KZWZR+9Y2vMyFD5/xg75THMasq+a6pW5z88sDxkaApLyme1UV5zMtKJ8kZMyn/PLs5spfstvpOpCGx2MzMXjYjomNHuXYMKenqdfP6viq2HThDR+8gIc3AMGREgudvfv6B6xI4LS7L57U3K5BSMjDgo7W976aRLJkK0xI4SaMLzf8KZuenUK1rARU9+A7Bwa8T8v4KxbIS1TIPAEOrIjjwjyBsWFxfQrEsA0AP7iPk+THB/r/DmvCfqOZ5l7yLTsj7K5AGZtefo5pLkRhI7RxCHc9nSKIHdmMEj2GO+QiKZQlC2DD0RsDMcHAhpYbm+104sDAvxOz8E4SpOBx8+d8k5PkRwYGvYYn7KkJNveQt/IQGvwXCiiXuKyimXKThQernUcyLpnRMNf/rWGL/DtW8iMDAP6D53kCxLMAa/+9I7RzBwX9F92/BZLsd1bIIxVyK5t+K2flZhDraMkL3bwE0TLb7gXAQIY0uQp7/BhnEEvcvKOY5gIrUWzFCpxBqCkIZ6gQSChbXF8D1Fxh6M/7eP0KIGKzx30FRcy56p4uCXRki5H0GzfssJtu9mGIeRajpSKMHzftrNO9vCQknlrivjsxpZN9QFUH39zBZN6DaNiAUF4beBtKHUMI3NWEqQrWuDGcStRqkkjoqU6AHtoH0oFpvQygJ0WzTu5xGdz+bXvnvKY8TCeVwgIaecB1YWqyT73zwPkrSpyYUGikC/rD4Y3xKLLaYW6u+KRjScLsDxMXZUd9FRd66YXCyppXv/XYXJ8+2TtN7XJ+GjoXzc8jOSqCxqYfePg/lFU1kpMXf8lmnaco4BTHZP4Ap5omR5S+hZqEH3kH3/yGcNZFzAdC8v0QafVhi/w+q/UHEUDZAqA+DDBEc/Fc070soscUIYRv1LkboFLbE/0U1z7+g6W6ee9lZSa0Bc9yXMdk/OPI+ivkSkTzpQfP9ClCwxP4tinl2+HU1A7MpD0OvQ/e9ihE8hLDdc8mFRiLlANa476Io6RfpzC+c9BG8FCFcmKybEWoiqnUtRvAAqmUNinkeUklBKKkYeitShkC4UK13Yri/g+7fgRLzxIW5yEH0wFsIUzGKufTCFGUwvHRmyh8KdoeWzdQMVPNCxiwoDGdthEo43ScAdSSDdSlSq0PzvYpiKsbi+kuEGr5xSCUTs+MTGMFytMAbmI1PI0YFX+GlRdXyAczOP0NgAyFQTDMvPUKY7A+h+7ei+d/AYlnJSFAofej+HQglEcWyDDGcTYsS5TIIQBECkxKZ7GROQhz1Xb3kJcZTmBw5k96pEuMKPwzdap2RUkpq6zv59n9tJz8niVVLZrBoXi4up+3qO9/ESClp7x7k+8/upqI2skGTMqTKn5zgwHmdRD7j42J4+H2L+NEzb+PxBtn+dhWLy/JJSXbeUkH6pUxT4KRist9/oWYIEMKEYi5B9/8OKfsZli7Qg4cQplxUy+JRy3FCmDDZ7iTk/jZG6DhS70CYRmeSVOuacOAzwS9AMZegWlZxcSbkUgy9CSNUhWrdgFDzLvmrFbP9QXTfC+iBXai2uxh9CBVMtnsQo4KmyCDUjJHlM6GkAhYUNRNQEcI+9LcQyCAIB6p1HZrvRTTf7zHZ34cQ4foTPfAW0ujBFHN3eMyhWjOhuFDMZeiBtwkOfhOT7R4U0wwQw4aZU/k8EkOrDmfeLCvRtVNh2adhDA8odtA8GKHTl2StQKjpmKwbYChouhyKeR6KZXE4o+b8NKjhJSQjdBJDO41inoVqLpviZ4lyK2A3mVmZdunvdyyGNAgaOu5QkHbfIAPBAIoQrEzP47bMQkoTIrMM+fSaxVS3d1LX1UNDbz+FyTdH1rNofi57fn+IgR433kE/UsqbYl4TYf+ROk6daaWqppVTZ1r5P5+7h1k34bLxZHlh+wnKa1pGvWa3mklPcuEctiFCUFnbij+oIYDSogxURSANCGgabm+Arj4PgSEvSZNJ4bbFxXxw00KKclOwRnjJ93IoiuCuO+bS2+fhty8d5vCxen7yi9187Mk1pCS7bplz7VKm5+gJJyhj9RrEcK2N1If+p2touSUDRBxjbmhKCgg70uhGSjeXoqhZXCkIGvP+SiJCXDnSlVojYCDUrDG1MAIQSjhYMfQGxuskE2rO9JwMwsaFz2oKZ3ZEWHBSjgQ2YeV2IQSKuQTFMg8jsB8jdBTVejtS+tEDu0DYUS0rRurMwuPHYXZ+GhBonmfQfa+gWBZftDyWwLUGHFJKpNEN0oMe2BZeNhsXS7he6tKPLpxD393l318IAUoSqnUtodDJ8DKl4yNIqaEHjyH1LhTHHyOUyFhoRLm5SY9x8ZPbH73qdpo08GshugNeqns72NJwml0tdRiGZFlqLvMSp34jFkKwODeLL9+3gV/uP8E/vbydu0qLKUlPJi3WicNqwaKqE1q+EEJgN0cuY7r0rvn85v+9gnfQz4ndVeTNzrz6TjcBEjh9tj38bwmZafHkZt08mbxrxe0NsPPw2VGvFeem8PDGBcwryiApzoHNGr7uf/QffsG55h5UVeErn7z7/7P33mFyneXd/+c5ZXrZ3vuq7qpZzeqW3OVusMEGTDEQSCAhCSmkk+QNLyEkv4S8hBCCwTQbbNyxZVu2JVmyula9r7Sr7X1mp8+c8vtjVquyu9KutkrM57p0XdqZc57znJk5z7nPXb43LqcN0zAJR+N0+UOcqOvg7R3HOVzbgq4bNLf7UBQJu3XiPO6iTzvrox9eiiRJPP/KXt585wg+X5g7bq1m6aLy69JLOC6GUzIUcvVFwEQHzKQXYdCboiBpLPRtN4DhHecC58NKV0K/8raib06mNvA9BILx+lFebiBe2QskhB3F9gCx6NtosfeRLMsxtDPoiUNIcjFyXy7Zhe0lJHU+1rRvocf3oEWex4jvJhbbihT+GRbvPyArc6/dk2ZqJMNpjyLbPzTUrJNerkFevzzvadC9hYpsWYMm/Qo9thHFfj/nc9sQNhTb+mube4rrDkkIbMrwljeXaiHL7mSGN4vVBRX86/7NPHt6P/9Ss4n/WPUgGbbR9WczTZN3jp3mUFMb4Xicg01tHGpqxWFRscgysiQhhBjWSlac4eWCKZfOAAAgAElEQVSHn/7wqOZzyXjT87nvc7fywnff4rUfvseSO+aRX5aNmOo5KCY0tiST/2VJMKMiB7vt+g/BH69rp8t/4eFxdnkuf/rJ25hdnjvAsLZZkudrmqAqMl5n0gBJc9vJz/JSXZHHLYsq+elvdvPCuwc4eraNf/7xO/z9F9dTkjcxHk/DMAmGoui6we19zZOfeX4nO/ac4eCRRtLTnZSXZpGb7cHlso5YkLS0KJO1q2eO0+yHZlJ1nJKJvdZkqMYIDbw3mr19HqmsAflN4zYnOQ8QYHRywYjqmw7JEnlI9CWGT+3FRbauQpLL0KObMB1PYCQOYmp1qO4/SXoFL0MICZM0ZOvtyNbbMbXjJMI/Q4u8Qrz3n7ClfQ8hX8tTnQDJC6h91XbLrrrHtSKp1UjqTRjx7eiJgwiRhhHfg2K/FyGlxPAmEsMwiMU0Epo+Zv3sZFnC5bRefcNrQAhBmsXG781ZwZsNJ9jaWse21jruL6sa9djf2rCF1t4LXvNoQiOaGOzh68ooY6yVJSsSH/rSncSjcd786fv85x/9hI/80T3MWTEDdYqLFYbCMQAkWaK48Moe6euF2sZOtL72MKoi86Fb51NVkTvoudn6vx+TSCxxyXtJX4REVpqTL31kNb2hGBs+OMaJunZ+/MpO/vDj6/BOgKcnFI7xd994ma6eEF1dQULhWP9aEArHCYXjNDZde/Xr6hXTfxsNp0wkpQI9vhdDb0Ao0y+UopsmRuIAphlBUsoQUubEzEkuQUh56IkDYEb6yu8voMe2AyBbFjAcL8jkYkW2P0gi8C8Y8X1JoUqhItvuuPRCNC8UuF78ulBnY3F/FUM7jak3Yej1yAMMpz7PnKlzuaHZP44QSHIJQs7GSBzBNNoQ0uWLgTkmN1chFBT7Q8Sir2PE9/S9aiDb7mDqf1/XJxfrzTS3+DhwuIFTte10dgWIxTU0zWBkakVDU1GWzR988fYxGWswhBCkW+3MzcjnveZaNjXVjonhVJyRhm0MQmxF6WOrlWUaJq50J4/+4T1YrBZ+/f/epPlMO7OXVlI5r4TM/DQswwjtSLLEsvULkCZQBFXpa5QsAOsUN/KGS3tPAN1IGk4WVWb5vLIhDULLRXlK4Whi0G2EEFhUmQ/dOo+Dp5poavezbf9Z7ltdzcLZ45RWchGJhE7NwXNTshH4aJhcw0nIqM5Pocd3kQj9IJnsLBcBAkOvS5bHI6PY7unLgZqAOUleFMdjJILfIx78LqrzSYRIA+IYiSNo4Z8hKVXIlluY6h4nECjWdcly/+jLGIkjyNZ1fV61C5gARheGfhohFSIkbzKHykxgJE6B4U+KfkqegUcQXoTwYOp1GIkDfQauAiRA2PrzqCTLfGTrWrTwr0kE/xPV8SmQswGBaUYwDR+YISR19KrIsmUpklqFHtuKaXQnk8aV6muOMqa4MrpucPR4Cy+8uo+9++sIR+JJUcVxWCw1ffxXYFkIchxJj+zZQPeYjPn9Jx4aE9NxrCNoT339eXa/fQhfRy+RYBRd02k710lbQyfvv7QbIUnDum4sNgvPnPw3LPLEVGsBFOR6aevoxTQhEIxO2HHHk1A4jtlX4ZjhdZDuGTpMfD40aQL+QGTI7YQQzCjJZv70Qpra/fhDUbYdOMuCmUXIcmpRvBYm3UyXLDejun6HRPB/ifm+gqRWAyJZCaU3ojqeRLbdPmFuWCEsKI6PYOoNaOFfYCQOIsllmGYQI74PEMmyeKViyruGk3ICxciW5WjRV8A0kK3rgIGhDkM7TbTnc0jK9D6vmw3TCGMkDmEarX16UAOrlITkQLHfT7z3H4kH/hU5tik5vhlFcX4C2bKkby52VOfvYuotaOFfYsT3IJQKQMI0ujH1OiSlGmv69xm1Z0jYUWz3Ew/+G5iJZKXj+RBsijElEo3zzqZjPP3MB7R3BCZ7OmOCCUS1ZBgtoo08nHY5QgjslqmZf1N76Bz1x5oGvmGCrhkMt5WSEGKMNc2vdjyYO7uQmsMN6IbBuaZuTHPMi5knnLim93+OFlW54op1PqcJE3p6ByrSX4zNqlJelImqyCQ0naNn2zBMc9x98Ha7hc99cg3nPc4mF1bhi/8/2Htc5X0BFBdNTkHAGBtOAkQ6QtIQg1W7CTtIWX0VYn0vCQuq47NI6jy08DPo8T2AQFKrsLr/GNmyZmB+k7CAlIWQhpm0KWSElJn0mIiru5IlOR+L56+QLAvRIq+ix7chhAvZthbF/jEkteoSqQUQfZVfmcm5jSkSQkpLeoHOSwcIa9+xrBdt05dDdNmlJoQD2boSLfo6klqCbJk3oB0JgKROR3V+Dj2+CyOxF9OMIYQTWa1Gtv05snXNZed8AcX+CKCiRV9Cj+0AYUlqMV32WQi5CIv3m+ixd9GjbyRzrkwdSc5Dtt3dJ8h50dyEBFIaySV5BNWTSEiWJQgpG9MM9s19at64rmd0w2Dz1pP8z4+34O8d+on3eiOUiHOgK1kOnmYdvzwQ0zQxTBNNN9BNo//GLwsJVe5LGB9nS6BkZgHRYGzU46hWBWmCrZZVS6fxylsH8fnDHD3ZQkdXgOzM61sfyGpR6OtqRTgSu6Ix6u3T4DIxOdd29TyhLK8TWZZIaDrNHf4xbUs0FHabyic+On45rZPF2BpOwo4t42fn/xh4MMfHUByPX/aeQEgOZMsaZMsFy7TfSBjkMLJ1LY6c3UO8O8i05HLsWW8Ne/vzBqBi/xiK/fFLX4dBLkwLqvurqO4/HsExhjsVV99nemFc2XYPdtv6C68JL9b0py6Z4yVTNhMkjdHFCHlgP6rk02IGqusrqAMu1WGcj3CgOB5HcTx2xX2TkgE5KPbHUOyPcWney8DjCCkPW8ZPhz+PS4bSAQ1JmYZkGbumqINhGAY7X9tHxbxScsuy6Wzu5si2E0xfWE5BZR7RUJSadw9TtXwG7gwXXc09NJ5sxt8ZQAhBbkkWlTeVX5KM29HYRcPxZmYvm0790UZa69pRVIXKBWXkl+dcYTYTR0uLn+//aPOQRpOqyDhdViyKPGZVWpnp49cmwjBNWsK9PHVsV3+7lvmZ+eNyrHA8ztHmDk60dnCqvYvOYIhoQsOuqmS5HUzLyWRWbjaz8rNxWscv/PXFbz4+VulnE+7QLS/J4uG7F/CLF3dxoraNt7Yc5aP3L0ZVr99cRq/ThiQEumkSCMcIhmOkue2DbpuflUxfMU04Wd+Bpun9eV+DoShS/1cUDMVuuLyjiWRMDaerCSVe6f0LxsjwtExGcpVei4DjyOczvG1HymBzv/y1oc7PNE0wg+jx7YCBYrtjSK/RaM7h2j6rq29/rcKbpqmjx3dh6q2ozt9FjLkX8FIM3eQX33yJ9Z+9lfVPruPw1uN8+7Pf4+N/+SEe/4uHaTjRzE//4df8+dNfQpJlfv5PL3ByTy2uNCdBX5hELMFH/+wBbv3Yqv5y3FM1Z3nuX17h5vsWsf+9IwgBvvZeHv799VPCcDJNkw0bD9HjG6i7VZifxqrl05k5PQ+vx46qymPmjXA4hvdd+mIRnjtzcNjj6oZBWzjIkZ5WDnW1YgJWWeb2ounXONPBMU2TU22d/GR7DdvPnKPFHxj0BiYE5HvdLCkr4tMrFzEzN2tcPClCiOsygi2EwGZVeWj9Atq7Arz+ziGee2UvGV4Hd95ShdyXpH69eZ8Ksr3IsoRu6GiaQV1zFwtmFg26bWXRhYKpxjYfje1+SvMHlxkwTRNfb6Q/8fx6+1ymGpOe45Ri7DHNGGCAqaHHNqHFNiJbFiNZbp7sqY0bppngfONmQ69FC/8UoVQi2+4c92MLSVAys4D2+g7i0QR1RxqpmFvC6QN1mIZJ7YF60nM9ZBVmYHVY+PAf3ovDbcPusqNpOv/5+z9k48/eZ8G6OWRdJOJXe6Ce3LIcvvqDL+D0OtA1HfkKT5QTSXdPiB27z1xy07dYFG5dM4vPfXI1aV4HiiKRDGNPwvxiYf6lZvMI9jDR+0JnAHZZ4YmZi6geAwHM82i6wQe19fz9q+/Q6g/2HwuShpIkRF8T16QXodkX4JUDx9h1tpG/vncdq2eUocpT4/ufKmSkOfnyk+vITHfyypsH+M4P32XnvrOsv20uRflp2Kwqsjy8BPeL8bhsI9YUGgumFWehyDLxhE5CM9h3vJH5MwoHNXTyszxkeB10+8M0d/h5d/cpnrh3Meoga0Q4muDImVbiiWTls9dtu+7zwSaTlOF0A6JH30aP7wAzjBbbjBBuVNeXuZG/biNegxb9DZjRpLfJjGJxfXVCZCyEEFTML6V2fx2BniAtZ9pYfPdN7Hv7IAFfiPpjjeSUZOPw2BFCUDzzUnXmxXfO5+Xvvkn4ssoYWZVZ8+GbyZqCGjXnGrvp8V9ISBVCsPLmaXzxyVtITxv/rutXwzQhYQwuj3ElJATlngweqZzHo5XzsCtjkxtnmCZ765v4xuubaPYlk+jTHDbmF+VTnOElzWFDkWTiuo4vFOFct4+Dja30RmO0+AP884YtOKwqS8uLJzyXaKoSjsQ5dKwJfyCCw24hL8fLidpW3t12gk3bT5Kf6yUrw4XdZkEeYaj4a79/N2lXqGgbLyoKM8n0OghH4+iGwcFTzQQjMdyOgbl2TruVhbOK2LjzJHFN56VNBynK9XLbkhn9HjdIGuwbd51g15H6/tfKCzKn3JpyPXHj3kl/izGNNvTYu2DGkNUFqM5PIanzb+gLxTR70ePbkvIDcikW5x8hW28fMjQ5lggBZdXF7Hx9H4HuID1tfu7+zDp2vVFD86kWmk62sPD2eQAYukHDiSa2v7qP+qMNhAMRWus6kCRpQLKmJ8NFWq53Sn5vbe29hMPx/r89bhv33jWXNO/E32wGI91q50vVK4a9vSwJvBYbpe4MytzpFLm8WOWx+e2Ypok/HOUn2/dxrsuHIkmsml7KZ1ctpiwrHY/NiirLyVxD0ySu6fRGY5xu7+KHW/ew48w5Grp9PP1BDVX5OXjs11+LivGgpd3PN77zBrG4RiyW6BeOhKSmWFOLj6YW3zWNHYuNvpryWrBZVZZWl9LQlpz32aYuTtZ3sHBW0YB1wG5VWVJdyvs1Z4jFNdq6Avz7zzez/WAdC2cVkel14g9G2HuskW37z9DdV3knBCyqKkaeBI/ajULKcLoBURyfQXF8qu+vZIuYqXjzHUtk663YrWv7/pr4c07P82LoBs2nWsE0KZqRT25JFkc+OIG/M0Dl/KSUw9EdJ/n2k99jxuJKlt23kPS8NA68d4Sdr9cMPCdFRp6ioZlQKEb8IuXrzAwX86oHLu6TRbrVzh8vWDPi/fqz9cb4PA42trL55FkAbq+axl/fu44Mp33AcYQQWFWFLEUmy5VMEv+7Vzby3vEzbDl5liPN7SyvLBnsEL91aJpO9yA5dmPCJP6Mb7t5Bm98cJRwNIEvGKGuuZsFMwuRB/xWYOX8ct7bfYodh+oA6PKHeH3rUd7YduxC99LLHsimFWezfG5ZKlQ3ClKG0w1IUm7gt+tpYjLPWQiB0+vAYlU5ue8MWUWZpOV4KZqRz9Gdp0jENEpmFQKw4zf7cGW4+NTXH6Wgr5P78Z2nrzT8lCQaS6Bf9ISfl+vFOoHNQ6/GcHu/TRTvnzqLbphYFJlPr1xIpuvKnrnzBlW228lnVi5iy8nk/ltP14/IcDJNk1BvpF9UcbwQApxex4QazjaryqxpY5eDdjGD5QlNBEIIygszWTi7GH8gwr2rq7l5Tumgn6sQgqw0Fx9fv4gTdW30XBTqNy/qBnExTpuFR26bT1Fu2qi+q4mQMhguk/GwljKcUqQYA9xpTtJyvex/7wirHl6KospMX1jBu89sI68sG1dfGb3L60CPa/g6enF4HbTVdbD1hZ2TPPuRI0miP7QEjFv/uBuFoy0dABSnpzEzN3tE+87Oy6Y43Utdl4/jLe0j2tc0Tb561/8l0DNOnpk+LDaV/9n5f7BMYKPdovx0vv23j4zL2O4J6OM2FGluO3/55B1IQuBx2a4YUjsfdvvTT93G/7zwAQ1tvkseaM4jS4J0r4PPPbiMe1ZVjdowDASivPbm8KtWx4uiwnTWrJgx4cdNGU4pUowBNpeNvLIcdry2j8r5ZQAUTssj5A+RX17d/1S06qGl7Nt4iP/6o6fxZrpBwMqHl/LBK3uuMPrUw+mwoioysXgyXBcKjV5E8UamO5T0BuR4nCNOVJYliSy3k7ouX/84I6Gn3U9vV/DqG44Ci01lcB/H+CHLEl7P4BpH1zOSEGR6h19gIUsSty6ZTnlhBm/vPMnhU81094aJxjWsqkJmmpPZZTmsXTSdmeU5Y5Lb5POH+f6PRlK1Oj6sXjE9ZTilSHG9IkkSd316LQvWVjPtpnKEEORX5PL3L/4p6blpiD4PTcG0PL76gy/S3tCJYZhk5qeRWZDBotvnkVOc1T9e1bIZfPV/v0jRjPERYBwtmRku7Ha133Dq7A6i68Yl1TyTyeWhhMnOvbL05aolBvEGXA0TSOjJCsFrkSNQrSqqdeilXgiBrMhEw7H+kJ4kS/1exfMxT9NMNgU2dKP/803P8VJWVUjJrIIpm4/324AQgorCLD73YAZd/hChSBxN11FkGafDSobHgTJFrs0bgZThlCLFGJFbmk1u6YUwjM1pZe6q2ZdsI8kSuWXZ5JZdGq6ZuaTykr/Tsj2kZQ9sqjxVqCjLIj3Nic+f9IB0dgU5U9fB9MrcSZ5ZkrCWYFtrHZIQ3JxTgtsy/FCibhgc7m4lrCWo9GaSY3eNej75aS5OtXdS39VDOJ7Aax++kRGKxanvTFZZFaS5R3RcIQT/+sbXBg3fQNJrgxBs+MkWXvyvt7A5rcxYUMZN66oonlFAerYHm9OSbKTrC9FW18mRnac4sOU4zWfaWHLnXD7xtQfJzE9DSt2YJx1ZlsjJGNlvZLwRgqQIriQRjSZGPZ4sCdLSHHg9dspKsq6+wziQMpxSpEgxYnKyPcyekc/Z+k4AegMRduw+Q3lp1hXbPkwUreEAX9j8ayySzIvrP0WVZfgGXczQ+Ma+dznY1cKfLLiFz85eOur5LCguYMvJOnpCEd47foaHbqoa9r5vHTmFPxoFYFFp4YiOK4Qgr2zonCpDN/jNU5t49X/eweV18Pn/81GW3jUPu8s2qJeuauk0bnlkKacP1PPTb7zMpud3YnfZeOIvHsQ1BfS7UkwMXq+DJz+x6qrbSZLAblOx2lTe23KcvfsvaEmpikxZSSb5eWlkZDhx2CxYLMn2TLGYRiQSp70zQGNTD43NPf3Gv9tt44mPLmfh/FJycibn4TJlOKVIkWLEyLLEw/cvZMv2kwSDMRIJnTffOcL8ucXMrRpc6fh6QULgsdiI6hqHulvHZMw1M8p4+oO9+CMxfvD+brJcDpaUFSX7+A3RIiOa0Nh2up4ff7AX00xW2K2ZMbDX5GjobO7hmW+/SjgQ4ZN/8yFWP7zkquFWSZKYvqCMT//Nw/zVh+p462dbmbdyJivuX3hdf+8pho/HbRt2815N03nh1RpOnm4DwOuxc8etVdx2y2xysz1YLAqqKiNLSYV30aegrxsGibhONJagoambF17dx56aOgLBKO9uOc7c6iJsVwhBjyfy17/+9a9PypFTpEhxXeP12BEIjp1oRtMMegMRTpxqobwsm8x016TmO/XEIvzk5F5kIfHY9AVkjyDcppsm29vqOdrThsdi5dHK+aOaixACl9WKPxzlaEs7XcEw207V0xOOkNANookEMU0jHE/QE47S2OPnYGMrz+46yPc376IjGMamKjy5cjGrp5eNqXDhxmc+YNur+0jP8fC5v38UV9rwJAWEEKTneNn7zmEaTyWNyxX3LUyF68YJ0zTRDZN4QiMa14jFNeKJa/8n9+WwXStCCCTp6v9M0+TdLSd46mdb6Q1EKS3K5Kt/cBcP33cT2Zlu7HYLVquKosh9c0rOS5YlFEXGalVwOqzk5XpZuWwaXred/QcbaGrxcba+k+VLKrHbx7cX6WCkPE4pUqS4JmRZ5v718+nxhXnl9RriCZ0zdZ186983cOsts7j79jnk5SSVz8/fi68Hj4QALFIy3BiIj021oF1VePzmBRxv7WTX2Qa6wxGe/mAfL+8/RobTjtNqQRIC3TAIxeJ0hSL4I8nwnCwEt82q5EMLq8e8V13toXMYhkF2USYWmzri7ye/PIf9m49x+mByHJj8MO31znkNpnAkzsHTzRw/205zhx9fbxhNN9AMY9Q6Sl/+6Bpml49/PmIoHOP5l/fg743gdFh45KFFLJpfMuLf2fmmzvfcNY9DR5t4Z/Mxjh5vZsPGwzz+yNIJX1dShlOKFCmuCSGSLvvPfHwFVqvCL1/YjabpNDb38PNf7uCFV/ZRPbuAWTPyqSjLJj3NkXyyHMWTrt1uobR4fPsPGiZ0RZPtKcbKuyOEoCTDyzc/fBff2rCFbafr6Y3G6AlH6AkPLjEggAyXg3vnzuTLty7HZbWMudqzvzMAJpi6cU1iArqWrPbr7UqOk2J0mKZJbyjKhg+O8dzb+2nrDqDrRn/z57GiNxQdw9GGZt/+c5yqTWqPFeSns3b1zFHlQFpUmfvXz2PzthNomsH720+xbvVM8vPSxmrKwyJlOKVIkeKa2FNTx8nTbbS2+Wlo6kaWBOebsOiGSTAUY+ees+zck2w1IgRY1GQ+w7VSPbuAb/3Do2Mw+6GpD3Szt7MRgHzH2CWfCiHI9bj4uwdu4/2TdbxzvJaDja20+QPoF3kQVFmiKN3LotJCbptdyc3lxdgt4yMs6fDaQUBrfSchX5j0HM+wn961hE7d0abkOG77pLYpuVEwTJOnX93N8xv3E0tMTr+8sWTvgfp+71hZSSYe9+h0t4QQZGW6yc5y09Lqp63dT2Nzz/VnOL3WvIl32naSYfHy+cpHyLNloRk67bEutnXWcDJQR3fcjyQksixpTHOXsjBtNqXOwiG7fJumiW4a+BK9HPCd4JD/JJ0xHzE9jlt1UukqZknGHIod+dgky5AX+o/OvsgB33FuzVnG3fmraIl08GbrNmqD58iwpHFX/krmeqcjIeFLBHivfSd7uo8gC4nZnkrW568mTXUPmbwZM+L4E0EO+09xMlBHW7STgBZGFjJuxUmJM5+53unMcJfhkO1Dnm9Yi/Bswxsc8J2gylPJ4yX34FIc9MR7qek5So3vON1xP7ppkKa6meYqYUXWAnJtWShi8OTSweabMDW6Yj4O+k9yovcsXXEfQS2MJCS8qpM8Ww4VriLmeKaRbvGiSkP/PM6P1xLpoKbnGMd6z+DTAgggXfUyw13Kkoy55NoyUIRyXYRoUoyMZ3+9i5qD59C04WkTmSbJhqzxa78hhCMDy5ljukatv4uQdqHpcHPID4CBydHuNkKJ+ID9Lieh65z0d/LrMwfpiCSVtpfljm1fOCEEXruNe+fNZPWMMnzhKL5whO5QmEhCw2lRyXA5SLPbSXfacVpGHj4bCRXVxWyWdtHbHeTV/32Xz/7Do1cN2Zmmia4ZvP/ibhpOtgBQXl00qpyZFEkOnWrhtfcPX2I0qYqMVe3LARLiktD3tTJRLWXONXb3/z8zY/SyHpCc+/lOBb2BKD2+8JiMOxJGbTh1x/3UhZroiHUR1iKEtAib2nfxy4YN+BOBS7Y9CXzQtZ9jGbX82azPYhGDP0WF9ShvtW5jQ+tW2qKdA1yUe3uO8HLTuyzOmMMjRXdS7hy8iqcj2s3ZUBMnAmeZ4S7le6efpS7c3P/+Qf9xvjzt41R7p/G908+ys/vgRe+d5ETgLF+Z8QQZFu+AsY/21vJq8yYO+E4Q1gd3te/pOcyLjW9T7Z3Ox0ruZZanAlkMdP3rpkF7tJu6UBOKkPElAtT0HOO5hjdpiAys6tnZfZBXm9/jnvw1PFh4Gw7lyu0BTEzOhVv4Tctmtnfup1cbqv3CEQDybFn84YwnmO2pHGI7aI9183LTu2xq30VokPP/oKuGFxrf5rbc5dxXcAuZltH1Rkox9QiH48M2msaTzmiIv9z5Bge7WvpfO79maIbBn27/zbCdIRevNdO9WdxTMmuspnkJ5w0or91GScbA9WWirpVl9yzg+f/cgL8jwBtPb8EwDG79yHLKqgqTXqTLSMQ12s51sv21Gl76741EglEsNpVVDyxCSglgjpqdh+sJhpN5dULA7PI87lg2k/nTC8jP8uC0JxX7R+vdm6iVOBK5kCMYi42NB003TOLxZIhY03QSCX1Mxh0JYxaqC2tRInqMt9s+4LmGNwlqYVSh4FVdWGULvYkQQS2Mickc73QUMfAiM02TiB7lVw0beL1lC3Ej+XTpUV0U2LKxyha6Y36aox3EjDjbOvfRFevhM+UPM9NdPuRi0xrt5KWmd+mM+6jyVNIR66Ej1k1Qi/B223ZOB8+xr+coebYsMi1eaoMNRI04x3rPsLPrIHfnrRowdl2oiZ1dBzEwEIBNtpFry8SjuDAxaI120hHrwQQO+0/x1NkX+OrMT5Nvy77iouhPBNjeuZ8NrVvpjvuxSCqljnycip1AIkxjpI2YEadXC/FC00bcqpN7828ZckzTNDkeOMtP6l7maG9t/+sSApfixKU40E2dnkRv/+edYfFSYMsZcryWaAdP173Mrq6DGJjIQqLAnkOGxYtuGrRFOumK++nVQrzS/B4dsR5+d9pHccoDu8GnSDFa3KqVu0tmIoTgaHcbCWPgQjqS/BBB0mj6s5vWjqga71qZzGuioDyHu59Yw/P/8QaJWILXf7SZve8eoWxWIbmlWaTnerHaVHTdINATpK2+k6bads4eaSAR00DA/NWzuGld9ZjnX/020ukLoveptzvtVv70k7cyqzx3yGjFVOfixt/1DV0kNH1U3i7TNAkEInR0Jp0yyeq7ia/kHDPDScdga+c+NrXvwqU4eLjwdlZkLcCtOJO6DKZBY6SNA74TzPfOZLDe5Zqps6F1GxtathI3EkvnfiAAACAASURBVHhVFw8V3sbanKX9ITndNGgMt/LMudc57D/FicBZnq57ma9Mf4JcW+agi9CZYCNBLcxfzP48Fc5i2qKd/Ffts5wM1HHId5LD/lOsyV7MJ0rvxypb+KCzhqfOvkBYj3IicJZbshfjUC59+lqdvZjNHXvItqazPHMBVd5KrFKyMgYT4maCHZ0HeK7xTTpiPdQGz7G5Yw8fLV5/RWu/M+bjuYY3USSZO3KX81DhbaRbvEhCYJgmTZE2flb/Kgd8J4gbCV5r3szSjLnk2AYmzJqmSVOknafPvsSxwBkAvKqL1VmLWJuzlBxbZtIDZkLMjHMm0EiN7xilznw86uA3jIge5dlzb7Cr6yBCSCxKm8WHi+6g1FmALCRMExKmxiHfCX5S/wpt0S52dO0n15bBR4vXY5UnvnQ0xfhQUpxBQpvYp72SovQBr7lVK0/OWsrHpy+kIxpkb3sjbzWeYmPjKQSwMLsQp3J15XBVksi0OZiXWcCdxTPIsNrHtPR/KiLJEh/68l3Eowne+vlWQv4wLWfaaTnTniwpl6VkM2eSCeQXK5ArFoU5y6fzhW8+TmZ+yqM8Ftj7QrOmaZKV5mRGafZ1azQBlBZncvBwMl+w7lwnNQfOsfimsmsO62q6wdvvHSUcSYbe3S4baV7HmM13uIxpcviGlq0UOfL4nYpHqPZOQ7osLFWluqgaIvxjmiYtkQ42tLxP1IjhUhw8XnIvd+SuQJEutVBneSr40rTH+V7ts+zrOcbR3lo2tm/n4yX3DTq2gcGi9GrmeKcDUOosYFF6FbXBBuJmAodk45HiO8mwJl3m1d5pFNpzORWspyPWTViPDjCc3IqDv5j9eTyqE3kQ75kdG7fnLSeoR/hF/Wtopk5NzzE+Unw3V3KUmphopsadOSv4ROn9A447w13G5yse5W8OfYeeRC++RIAjvbWDG06YvNO+o99oyrFm8smyB1iRtWDAnF04yMxMY3FmNcCghi3AQd9JtnbuxcBknmcavzftMbKsA29mK7MWIgmZ751+hl4txLbOGpZlLmC6u2TIsVNcX3ztj+6Z7CkASY+NRZaxyDJui5VydwYLs4vY1lqHbhj8w9K7qEqf3FYwmmEQiSf6KuOmzu9fCIE308Un//ohyucUsfEX2zhZU0c0FMMwTIxBvHdCEpRXF3Hz3fO55zNryS7MmISZ35gsqirm5c2HiMY1/MEI/mB0RA1/pxqLbyrj1TcOANDdE+Knz27H67UzozJ3xNdBNJZg09YTvP72of7XcnM8FBUOvP+MN2NqOMlC4sHCdVQNYjQNh93dh2mLdQEw013OqqxFA4ym82TbMri/YB2H/aeJGwk2t+/h3vw1pA+SjwRcYrBJQqLQnotVUgnrOsWOfDItF7LyXYoDl5K0YoNahIQxMDYrhCDdcuWKG1nILEyv4vmGN9F0PZmvZZpXDTB7lKSn7XKj6Ty5tkzmpE3n/Y69xPQ4LdEOTNMc8EMMJEJsbt8NgCIU7s5bxbLM+YMaev3ndYXJaYbGW23b0E0DgeCBwnWDGk2Q/HyqPBVMd5ext+cIbdEuTgXqmOYqnlI3jhQ3HkIIHKpKkdNLfaBnsqeDaZq09wb5m5feZk5hLh9aWE1JxvA8NOF4nH99ayt1nT0UpHn407tW47FfOafxWrA7bdz+2ApuWltFy5l2ju85Q/3xZnwdvURCUVSLijvdSdG0XKYtKKO8uojswnRU6/hU+/22snROKSsXVPDenlP0BmP86u39PHHvYpy2qWVwD5d51UWUl2b1t2Y6dLSJ//uvr/PoQ4tYvnQaLqf1EjHO8+domiamCYZhoOkGHZ0BnntxD5u3nSQcTnqbZFmwaEEpeTmD3/PHkzE1nDIsXlZlLRw0AfpqmJjs7k5akoqQWZRejWsIwwGSN/i53hnkWjNpiLTiTwQ44q9lVfbCQbfPt1/aDNClOPoNiEJ7ziWGnkVSsUjJBSFhaOjmtSfApqnu/rHjRgLN1FCuIhJ3U/rsIQ1ASBqoxfY8IOlNCycimJgDjJ5jgTP0JoIAeFQnt+befMVKuavRFGmnIZxMVk+3eJjlvnL7B4/qIs+W/NxNTE4G6rgzb+U1GdUpUowEh2yhwpMxJQwngP0NLXxQe44dZxpo8vXyzQ/djSJf/UZoV5Pr0PbacwgheHDBbBaXFY3LHCVZIrswg6yCdOasnAl9QoyYJoi+1UVcuLldjzfyqY7NovDVJ9bhddl4Z9dJfv76Hk6da2f9iiqKctPwumw4bBbUPj00cY0hL1WWJ6QKMs1r54nHlvOd/96Izx/BNE3O1nfyL995i4z0rcyfU0xFeTZ5OV7sdhVFTqZ7aJpObzBKY1MPx0+1cux4M5HLGgRPq8zlww8smpQOBWNqOJW7ivoNjpES0WM0RzuApKemzFlw1QtTEhLlriIaIq1opkZdqGlIw+m8B+k8spD6zQyn4rjE6BCI/mMbpsFQ0mPn9SkieoyGcAut0S78iQBhPUrciBM3NEJamKh+oRR6ODJmpc6CqxgX4pLPWTf1QT1ZZ0NN/UZfqaOANHV0XbObI+2E9aRwWtxI8MOzLwya5H8xJwN1/f/3JQKjVrxNkWI42BSF6d4sajqbUaaAoX6gMfnAIQQsLS9GGeZiL4RgaXkxz+46iGGa7KlvGjfD6eJjivNWUooJRQhBptfJ731kFYurSvjxq7vYtv8su4+cIzfTTYbHgcthxaoqo2qb8ql7l1JZnHX1DUeJJEksX1JBW/sSfvTzbf3VcKZp0tUd4t0tx3l3y3HgQqK3aZpoWlL0cyhKSzL5wqdvISN9csKYY+5xulYCiSBaX0hMCDGssQT0h9jO6z4NFrKSkAYJT13YxnINXhjN0DkXbua99l3s7j5MQAuhGTq6qWNg9snmJ7/4kWq+pqsepBEsWkON3hP39x+7wD50h/Th0psI9octg1qY99p3jmj/mBEf8WeRIsW1YJFkvlC9jCdmLiLdOjrRvbGgti0ZqlAkiaUjNHyqC3L6i0OOt3SMx/RSTBFM0yShGZw618HbO45T35LUQYondBpafTS0+sbkOPeuqp4QwwnA4bDy4QcXk5Hm4hfP76SpuQdNHxjF0S8rPhgMu03lpvklfObjK6ksz5k0r+eYGk6jCQNFjUT/TTXZK2p4nivrRdvF+sa4PGR1taoEwcieSONGgvc79vLT+lfpiSeF9mySlXx7NlnWNByyHZtsQRUqCTPBu207SZjD17CwjFHlWUSP9X+mdnn0eRExI47R58FyyDbybFkj+uEW2Cbvh57itwshBC7Viku9ejXdRNAeSGqnuaxW8rwj8/ym2W24bBZ84Sit/sDVd0hxXfPqlsP84MXt9PROvLDjeGG1KNx1ezXVVQW8/e5R9tTUUVvXQTQ6UNB2MDLSncyZXcDNiyu4be1s7LbJrc6eMi1XrJLab/CYMGxDI35R4rYqKYMmN4/lrdo0TQ76TvLMud/QE/cjECzOqOae/DXkWDNwKU4skooqKchCojPuY2vHPhL68A2nsao6swgFQfLzjA+S4D5S+hXATShy5PK7lY9hlYd/Y7JIKqqYMj+5FBPE+fDs5VFaIX578mQiiT5NOruVkUZXhBC4rEnDKRwf3o0mxfVJbWMXT7+6a4DRdEE1fGzuD5MhcSCEoLgwg08+voK7bp9DS6uPM3Ud1J7toL2jl2AoRiSaQJYEDrsVl8tKaUkmFaVZlBZnUliQjsdtnxIK9VPmLuZRXUmPlZ5caLvj/v7E4ivRFU+6LiWkIdujjCVhPcqm9l10xJJJpyuzbuILlR/p16u6HG2Qct6JwmNxIRCYmLT3VSuOBrfqQBUKcRKEtAi5tkycysRraKSY+sTjGp3dQXp8YYLBKD5/hFgs0e+KT093svLmaaPqW3c9YetL8o7EEyMOVpuYxPv0stSUOvcNzea9p+j0X+jskO62s2h2MSvmVzCtJItMrwObRR1Vo2wAi2Xybv2KIlGYn0ZBnpeF80uTDYzNS9NaBAJE0sATUtJUnEoPWVPGcLLLNgrsOfgSAXRTpz7UPKTm03kM06AulGwyqUgyxY78cZ9nRI9R39e2xSHbWJoxd0ijCaA77kNnctpSFDvykYSEYerUhZqI6LGrtme5Enm2bGyylZAeoT3aTU88kDKcUlxCQtPZva+O3fvOcvJ0G80tPfj9kX415PPMnpnPkoVlk2I4GabJ8LXExZg8naf1SQj0RmP0RqJku4evSB6KJejta13hsU+N0GOK8aGls7f/4UJVZL74yEruWj5r0kNT48H5IoSp4EEaKVPGcBLAovRqjvXWopk6+33HWZuzZMjcHBOTU8F62qLJpEuHbGO2u2Lc52mYen9vOqtswaO6hjSadNPgsP/UoDpQE0GVuwKbbCWohemJ+9nZfYBbspdcsxxAiSOfHFsGXXEfCVNjU/suHi+954q6UClufEzTRDdMTte28Yvnd7LvwDmCwdioKig1Tee/friJmgPn+l9bu3omH3/0ZpQRtGzQDYOGoI9NzWfY1lpHU9BPVNeGXaRQ4krj6dseG/H8L2dGbhZ76puIazq7zjZyz9yZw2zOTXI/PelxqshOiU3eyNj79JpM0yQ308XdK2djs6S0sqYaU8ZwAliWOZ+NbdtpiXZw1F/Lts4a1uUsHfTG7Iv38mLTO8SMeP++uYOoZ481spBxyg468RHV4/0l9pcvgqaZ1C3a2rkP3ZyccF2OLZNlGfPZ2L6dmJHgpcZ3yLZmUOWpvKLxdL4i8PJtLJLKPflrONFbh4HBxvYdTHeXsii9CuUKhQGGaRDUIjhlG/IQgqYprl903eCt947yo59tpb1jbJKXJUmisiybl16r6X8CD4VjPLB+Aelpw/NyJgydN8+d4J9rNtEY8l/bPMYoPHBzRTHP7D6AZhg8t+cwi0uLyPVe3evUGQzx3O5DfV4yWFZRMibzSTE1WTanlNe2HCYcTZDQDEYhIZhiHJl8gZM+hBDk2jK4M28FNslCrxbkl+c28G77LqJ6DN00+v7pNEXa+dHZF9nfcxyTpIDlnXkrJ2SeNtlKqbMASPZt29Kxh664D8M0+v9phs5B/0l+eOZ5msLtEzKvwRAI7sxb0d+wtz7cwn+f/iWvt7xPV8zXL5+gmzoJQ6M50sHm9t38/NxrtMe6B44nBAvTq1iaORdIyh08dfYFXmx6h85YzyXjaYZOR6yHHV0H+MGZ5/l141v9GlApbhx03eCdTcf4wY+3jJnRBMnE8ZnT88jPvSBL0tEZ4OCRhmHtb5ome9ob+fb+zf1Gk4RAFgJZSCgj+DcWVBfkMi07+WC3v6GF723eQU8ogmGaAzxzZt9rPaEI39+yiwMNLQCUZaYzp3ByW8ekGF8WzS7mruWzkYSgpzfM+zW1l+QApZgaTCmPkyIprM9fTVfcz1ut22iPdfHfp3/Jc+c2UOzIwyZb6Yr7ORdqJqxHMTHJt2XzROkDlDsLJyR5zCHbWJ21kMP+U3TH/dT0HOMvD/0HN6XNwqO6CGphaoPnqA+1YGBwe94y6kLNlwhBThRCCKa7S3mi7AF+Wv8KzZF2GiKtPHX2BX5e/xrpFjcuxYFm6PQkeglpEXTTIN+excqsmwYd0ynbeaL0geSNqecwrdFOnjn3G15s3EjaReP5tSDBRDhpRJk6C9OrJs3zlmJ8MAyT3fvO8r8/fZ/untCA9x0OCx6XDatVJaHpNLcMX4NGCEFOtpvK8mwam3v6j7dj1xnWrJhx1Ws9rCV46exh6oM+ZCGYmZbNo5XzWZJTRJrFjjTM5r1jYTgJIcj1OHl08Vz+feM2wvEEz+85zIGGVh5dPIeq/BxcNiuyJNANk1AszonWTn615yDHWzvQDRO7qvLY0nlkuVI5hTcyVovClz6yivxsD795/yjfeXYLZ5u7WH1TJWluO3arikVVUPrEL6/1niePYt8UU8xwEgjsso1PlNyHV3WxsW07bdEu2mJd/T3szqMImVmeCh4pupP5aTMnrI2HEIIF6bN5tPgunql/nV4tSFu0kw2tWy/Zzi7buD9/LfcV3MJrzZsnxXCCpLr68sz5uBQ7LzW9w2H/aWJGnLAeIRyJDLqPXbYNqaMlhKDIkcvvVD5KXlMWWzv30hX3E9IjhIYYzynbKXcWXrOqfIqpSTgS4+e/2jnA05SR7mT50krmVRdRVJiO123nTF0Hf/uNl0c0vstpo6w0i607TveH687UddAbiOL1XFnUsjcRpaYzWcQx3ZvFPy+/l+r0kTcWHSsUWeb++bM43dHFc3sOoZsmx1s7+MfX3sNptZDpdGBRZBK6TncwQiAW699XEoL1c2dw37xZqaq63wJkWWL53DKisQTPvb2fp17eyUvvHaIwx0u6x4HbYcVqUVCV821TRv6bfnjdXErzU/ly18qoDSebbCXN4kY3jTERWTw/5kOFt7EsYz57eo6wr/so53rbCcWjuBUn0zwlrC1YyGxvORkW75CLoUOxk6a6USR5gGGlSDIe1Y0QEjbZwsVDCCFwyna8qhu36sTQwReM4OzrEWSRVO7IXUGFs4jtXQc45DtJXU8HhmmQaUljpqeMu0puZoanDJtkocpTyUZ1Bw7ZNrjOlBA4leTxYHhColbZ0r+9Q7Fdcu3EExqRWALdMBECLKrCHM90Sp0F1IeaqfEd41Sgnp54L2E9iiJk0lQ3hY48ZrrLmJ82kxzrlS+qTEsaHyu9l3W5SznsO8UB/wnao90EtTCykPGoTorsuUx3lzLbU0muLXPMfh8ppgYf7KzlyPHm/r+FgBmVefz+F26lsiIHu03tvzZ7fAM9UldDkgSlxZnYrAqhvsaevcEorW3+qxpOMV2nOdyLJAS3F02nahKNpvOkOex85bYV2FWVF2uOEIjGME0IxeKEYvEB2wvAabXw4ILZ/O66ZWQ6U96mGx3ThD/89gu0dQUIRxOEosnfRXdvmO4xFMRcPq8sZTiNglEbTo8W3cUjRXcBYyc0KYTAIlSKHXnkWXNwtRbzzAc1tDd30SUE0UwLj36q6IpGE8CXpj2OyeODzm22u4L/t/CvMAd5TxUKvz/94/3vvbPvNN/+1at87fFbWbsgKZGgSDIz3eXMdJfjC0b4ix++TkO7j2OBCB1ejce/kotNSpaQLkqv5sdLvzHoPCDpkfnytI/11/lc7XOUEKzPW83deasHbN8dCPPTt/by1p6TBCIxrKrM7Yum86UHV+K1u5nrncFc74z+7Yc65tVuMkIIbLKVMkchZY5C7itYO6rxUlxfxGIJ3nznyCUtEqZV5PBnf3Q3lWXZY/Z95+d6sVguGE7hcJyOriAzp195P8M0iOkaEskw3WQI/g1GusPOV+9cxZ1V03l5/1FOtnXSEQgRisVJ6DqKLOOwqGS5nMzIzeK++bNYWFKAOgmNTFNMDvXNPfiCg3vvU0wNRm04CTFWOteDj93dG+Z7r2zHqip87bF12K0W4ppGfubVxS6vNLf+Dt/DeO+81sTFomPnBboA3A4rf/LoWnrDUX7y1l7ONHddMs5QxxnOXEayvWmavLPvFC9uPcTtC2ewrKoEwzTJ8jixqsqAOY3kmFeby/njd/iCNHX6mVdRMOxGpimuPxqbfbRc1DfLalW467Y5lJeMrA3P1cjKdF2i9RSNJfD7r/7krQgJt2olEI+hT6HEWiEEqiyzsLSAuYW5tPYGkoZTPJE0nCQJh8VClstBfpobqzKlsilSTABCgvG286fGY8T1y5S+Kk3TpLHTR31bD1//1B2sXzobSRITXmGwZl4Fi2cW47AOnqOjyDLTCrPQDYOctOP9htNEE0toHKlrw6oqfPGB5WR6Jt61/8au45xr8zGrJDdlON3ANDR10xu8UCWZ5nWwctk05DH+zp0O6yVjapo+rP5WdkWl3J3B/s5mTvg6MExzynidzqMqMsUZaRRnpE32VFJMEYSAp/72Y+Nu7GenOcd1/BudKW04AfSGkotzltfVb4VPdNhHVWS8IxDdmywSmk4klkCWJTI8jgn/nEwTdhypJzvdNbAxWYobip6e0CUGTHamm7wc7xX2uDasNuUSZWFdN4gnri4o67XYWJVfxsHuFra2nuUjwXmUuVM5HSmmNkIICsbhOkoxtkxJw8kfivK9Vz6gvSfIufZkKfK///p9nnpjFwDzKwv48kMr+xVW23oCvLe/lppTTfiCERw2C9Vledy3bDZ5GcmQXntPkO+8+D4fXjOPN3Ydp8sf4mO3LcRtt/KLd/YRTWg8tu4m5lXmI/WN+9+vbmffqSYMw8Siyjy5filLZhZf83n9eMNuTjR28Pl7b6Y8L6PfsDFNk5rTTfzkrb3cvWQmdy+dNewxDcNkx7F63tx9gpbuAKebOglH4/zOvz4HgN2q8vHbFrKsqrRve4Oa2mbeP3CG2pYu4gmdTI+DW+ZXsnZBZX9IL6Hp/N2P32TxzGLmVuTz6y0HqW/rwW5RWTO/gltvmobbbkUIQWt3gOc3H+R0cycHz7bgaLbwpe+82B/avHvJLD68Zu6Ivq/zRGIJNu47xY6j9XT6QzisKoXZXtbOr2TBtEIUWeLw2VZ+8Jsd3LVkJuuXzrrkcw2EY3zvlQ+IxjX+6hO3oaSqksaESDSBpl3Ib8rMdI1L64S+LlUXXjCHZ5OrkswD5dVsaTnL0e42/r8D7/NnN60l1+5CFlIq5+4GwjRNNM0gHIlTW99OS5ufYDh+Sf7dSHnwrvk4Han2NikGZ0oaTgJIc9nxOKwossSZlm6mFWZSmJW0xMvzLjw5xhM6z28+xNbDZ8jP9FCQ5cUfjPCrTfvZcrCW7/7Bh/A4bcQ0jR3HztHhC5HutlPX2sPfPLWBuRX5mKbJiYYO/uc3O/jHz9xFpifpxlw0owiv08aB2ha2H63DP8qEvbkV+fzwjV3MKcujNCcdWU4u3glN592a0xw/186XHxq5kKeqyOSmu0lz2enyh9A0nZumFwJgVRQy3BdCdt2BCP/2q81YLQrZaS4yPQoN7T7+6ecbaer088Qdi1AVGRM4UtfGmZZuXt1+hAy3g7x0N42dfr717HucbenmSw+tTJZQazqKLFFRkMmekw1keBwsqCxAUZIhlsIsT//xh/t9JbfV+O5L29iw+zhzyvMpyvYSCMc4WtdGbzjK3Ip8FFkiL8ONbhg8t+kAq+dW4L5owatv7+HV7Uf57D1Lp1yo5nrm8n5vVsv4GKShcAzjohugLEtYhnmsEmcaf3HTOv5s++u8UneUms5mHiirojojl3SrHVWSr9pp3iYrVGWkRCenKqZpUtfQxYtv1LBp+0n8vZE+w3o0Hm/B7atnpQynFEMyJQ0nj9PGF+9fjmmabNpfy8Z9p3hgeXW/1+RirBaFh1fN4a6lMynNSUNVZKJxjafe2MWvNh/gaH1b/34JTacwy8ufP76Ol7Ye5rsvbyMvw80X71/OC+8f4qdv7yUYiZPpSTbtXTqrhKWzSsj0nGDH0fpRn9fskhxmFGWzaf9p7l9ehcdpwzRNWrsDHKhtZmZJNuUjLBGVJMGSmcUsmVlMIByjtTtAJJ7g9x5YMehTdabHwdc+dis5aS6yvE4kIWjrCfKH332JPScbuW95FTlp51tBmDR2+PjC/ct5ZM087FaVlq5e/vZHG3hzzwk+u34pFkWmOCeNLz6wnFhC4/Udx5hZnM3n770ZxyCNKUfyffUEI+yvbWZuRT7/9OR67FYVwzDp8IdIaHq/dyzT42BFdTk/eWsP+041smZeRf+5v1dzGpfDyuIZxSkvwxhiVRVkSULrM2rO96Yb68+4uydMQrsgnGqxKLicV5e16IyG+JeazXREQ8T7ekU2BH189/AHKJKE12LDIslXNaZLXOn84o6Pje4kUowLpmly6mw7//nD99g/TEX5YY48KrMrxY3PlDScRkpBlodQNE5PMEJC09ENk0xPUlCuq/dS/Zg55Xmoikxhthe33crskhxsFoWibC+haLz/RjAe2CwqD6ys4lvPbrrEQDh6rp3api6evHtivCKzS3IJhKO09QTRdAPTMMnL8NDVGyIavzTxdkZRNusWVGKzJH8qWV4nN00vouZ0M7Fh5JoMxnC/L4/DRlG2l8NnW3lj13GWVZWS4XGQm35pY2UhBHcvmcEv3tnH5oNnWDyzGKfNgj8U5d2a0yyaXkRZXnrKcBpDvF47VquKFk4KNba0+YnHtf+fvfeOjuM87/0/M7N9gUXvvRCVACvYqyiJEm1LMiVZjoscX8vdcbl2cpPrFN+Um/jGx3Z+jmU7kVwkW7ZsWbaKJUpiE3sHCRb03usC29vM/P5YECREgASBRSP3cw7P4cHuzrw7M/vOM8/7PN8v+kkaKKaDqqrUNfTgcl3TODKZdCTE39rjzebz8rumqglfCygKg56paeLopTtiirwjsTs8vPCHU1y40jH2N0EQMBm1aLUaREHA5fbi8QaQJBGTUYckCqgqBGQFj9c/bjkv0mxgQ0Uuq5dlET0PjTVhFg+LflbwB2TO1HXw5slq6jsHEAQBURCwuTy4PD6U9zw6mA06BEArSUiiiHF0ohdF4Yblh1AjigIr8tPIS43j5cMXqSjKQFFU3jpdQ1ZyDEtzk2f95m5zeXn12GWOXW5h2O4e61jqGBghPT7qhq8fazFhMRuuSSAIAga9FhUV+b0Hdwrczvky6rV8/gMb+Nlbp3n2jVP8cu851pVksr4km3XFmei01y7fmEgTD6wp5I2TNXT0D1OQnsCRS824PH7Wl2QRaQqLb4aSlOQozGYdztHAaXjERV1jL2Ul6SHbh9vt53xVG27PtcApymIkI+3WWVmjRsuG5OwZjyHVFDnjbYQJPaqq0tw2wPEzTWNd1nExZrasW0J5STpxMWZ0Wg0vvX6WvYdrSEmM4snH15GUYCEQULA7PbS2D3K5rovzl9rx+WXSUqJ54uEKluQkzvO3G4+iKPRbHQzb3Xh8gZA83C/JHIKmQwAAIABJREFUTBgriQhz+yzqwElVVeo7B/i3F/YRZTbwhYc2EB9tRq/RcKK6bayY/HrG1a8Kc9+hlxpnoaIwg7fP1NLQOYBJr6OyvovHtpYTZb65GvJMkWWF3x68wK/3n+OBiiJ27FoyWkcm8b3fH5pQmVYSxZBlwaZzvjKTovnGh7bS2mvlVE07b5ys5kBlI49vK+fPd1YgXec5tn15Pq8cvczxy62kxUdx8kobEUbdhEu8YWZGVkYcsTHmMbsVm93D0RMNFOYno9VKM/5dqapKfVMvp861jCsGz81OIC721hmnRKOZ76x/34zGAKCZoqddmLmn8lI7LncwqI6PjeAzH9vM9o2FGK7Leh452RDUztJKLMlNJD/7WlCkKApDwy4OHKnhFy+doLaxh6d/fpCvPLWDrPTYec1Qq6qKzy9z5HwTB07X0947jMvjwx+QRx/wZ8Y/fu5BlheG7iHnbmNxB05AZX0n7f0j/O+P3suaomAdi6KonK5txy8vPFNZjSSxa20xe07VcOB8I6IgEGnSs74ka9bVgQftLk7XtBEfFcEXHt4QzL4JAr6AjMPlvcknpzaBXJ1oFEW9IdMH0ztfgiAQYdRTkpVEcWYij2ws5du/PsCfTlSzeWkuBRkJY+/LSoph09IcXjt+hdKcZKqaurl31ZJ50bO604mMMLBp/RJq63tQ1WBQvmfvJZbkJbF9c+GMbjqqqtLeaeU//2s//QPXfPC0WokH7y2bklaURpRIMVtu+b4wixMVuFLXDQS9/DavW8J9W0tu0I7T6oJ+bj5/YFwXKIAoisTFmHlk1wqMRh0//PlBzla18vxLx/n65+7HZLyxRnMuUBSV1p4hfvjiYY5XtcxK+YjXv/DujYuJRf04JQAGfTD26xt2AMFJ93JrD2+fqcPrm14NzmyTkxJLeV4qZ2rb2XeunpyUWIoyEmf9CUcjiWgkEZ8/wIjDgyAIuDw+/nSimobOgZBs32I20N4/TN+wfSyFLitKsHCY2ztf/cMOTte2Y7UHM2FXj48kiRO2pJsNOjYszcbh8fH68StYHS7uXVUQrm2aBQRBYMfWYuKvy/5Yh10889xhDhyqxTfN354sK5y70Mb3nn6H+sbeca+Vl6ZTUpw6o3GHGU/lu1fobRuYc1HhGaNCb78NAI1GZPWyrAkFd3VaCUEAv18mEJj4wUyrkbhnYxHLSjJQVTh0ooGW9vkRMVZVsNpc/OeLhzl6oXlWgqaoCMNYzWqY6bHoj96K/DTKcpJ5+pWjvHGyeky7pygzkf4Rx7S3W9PWx95zdQw7PDR1D+L2+fn1/vOcrG4jwqjnwbVFLEkL2kvsO1fP+YYuHG4vZ+s7GLS5+P5Lh0iMjiDCqOfPH1iN2XCttVUAHt1SzteefgV/QOaj966csAMt1ESbjWxfkc8zfzrJV59+heTYSEacHvRaDfetLqC2vX9G2xeA3ZuW8l+vn+BrP3yV+CgzvkCA3ZvKeGTTUuD2zlf/iJMfv3acIZuLSJMeSRSwOb04PD4e2Vh6Qwfi1U7I9Pgo3j5Ty9riLDISwmJys0VSgoUnHl3Df//80FjQ29U9zHd/+Db7D1fz0IPLyc9NRKfT4HvvE+6o9o7XG9SD8voCdHZZef2tKk6cbryurTxIfFwEH350zVjgHSY0vPLjvbRWd7J0fQE7/mwDuaUZmCwGJM3Ml1tnG8do04AoiiQnTJxdNOi1iKKI2+O/6YO0yaRj+8YCjp1pxOP1c/xMIyUFKbMy7puj8uaxao5XtaBcl7aXJHHMZF4UgyIagyMuZCUYWMVFmUZ18oJLkFfFkK/WoWokkdWlmbxvUwnFOUkkxYZr92bCgp+FUuMs7N5cRmLMjXUNgiCQkxzLv3zqQQ6eb6R7yIbJoGNtUSYFGQm89G4VWUkxAEQYdDy0vpS0hKC9QWJ0BDsrCkkZvYBSYi08vKEUy2gRscfnx+H2IQC5KXHkpsSN7dfh9o7rKHO4vXh8fjSSyJqizODYCHZuDDs9434AV8edlRRNVmIMQ3bXaPv8zI+VViOytjiT9EmCBVEUeHRzGekJUZyt68Tt9ZORGMWW8jycbh+HLzYRYQwGeKIgsLOiiOTYSLSaa09yogCFGQns3lw+Vlh//ffavbmMlDgL5xu7cHv9RJkNFGYmjr0+1fMFkJsSy6d3raWqqRurw42qqsRGmijPTaGiMANxgvoTi0nPqoJ0atr72LY8D5N+ftLtdwOiKHD/9hLaO4Z4/a2qsQ4lh9PLkeMNHD3RQHJiFJkZsTcsrw0MOXnhdyfxef0MDDlpaO6jt882oWihwaDlw4+uYUV55ozGK6sKfS4Hgx4XroAPWVXJjIwm1WRZ8EHCbOF1++hu7qe7uZ/9Lx6nYFUOq+8rZ9nmQnJKMzBFGhbssVFGgwYEJq3DjDAHtQBdbh8O580lM0oKUhGEYNanpqFntoZ9U9xeP68fHm+enZoQxX3rCllflk1qQhRmkw5REPjkt16gpWsIjSTyo//9IcxGPYqiYHd56eof4XxtJ8cuNNPSPRQMoFSVwsxE0hOjF+w5XSwI6qLL0S5+VFWlpdfKU9/5LTsrCvn6Y1tD7vF1txKQFf7mmTdo7xvmnz/1APmp8fM9pDue/gE7//lf+3n3aG3InXYkSeDxR1bz5J9tmJYgoaqqyKrC5aFefttYRY21jxGfB68cQFZVPl+6no8VrBi7kfgVmVabFY8cIFpvJNVsuaOFU7/7pZ+x79fHUGR57NwJokBSRhzZpemsfWA563ctxxIbgSAKC+aGqygqn/jyz2jpGESv0/Dtv93NqvIbm0COnm7kX/7jDewOD5/7xFY+/NDqSefaYZubR/78h8iKSkFuIs9+9xOz/TVu4GJ9F1/+95dxjXaSpidF8+UPb2Hjshw077H9+sTf/5Kalj4kUeSV7z0VtLoaJSi5INPUMchPXznBu+caUFXYvCKXv/kf982LJdedxILPON2JeHwBXnq3Cq0k8cDqwlmxqrgbkWWFo5eaudzSw4MVReQmh73J5oL4uAj+55fuJyU5irf2XWbI6rz1h6ZAYkIkjz60iod2LcdomJ4+lN3v5dnqUzxXe44Rn/sGsRGHf3xThIDA96oOc6CzkaKYBP572+PEGe7c5oIv/vtHeeDjmzn0h9NcPFJLT2s/TrubntYBeloHOPPORX75r39k9X1lbHt0DelLUohNikKU5tm2RoCUpChaOgaRFYXmtoEJA6f0lGj0Og124HRlM48+uGLSwMnl8o1dH/7A7On53Yy6tv4xwVeNJLL7nnI2r8ib8B5xrU5Jxe0dr78nCEFHiYKsBL75qfvx+AKcvNjC8aoWfvHaKT732MY5KQ+5UwkHTnPIuxcaae4eomvQxt5zdTyycSn5o3VSYaZPe98wRy42M+RwcaiqiUijnt1byiZcygsTegRBIMpi5M8/upGyknT++KdKLlxqx+udXoG4XqdhxbJMHn1oFSvKM9Fqp2fn4gn4+XnNGZ6+dJyAGrwRSoKAWavH5vNM+BmNKLIpJYc322qpGuym2TZ0RwdOeqOOkrX5FK/Jo699iEvHa7l0rJ5zBy7T2zpAwC8z2D3MW88d5t3fn6JwZQ5lmwqpuLeMnKUZ6KYZ0M4UAcjLSeD42SZkWaGuqY+ALN/gRZmcGEVUpJGBIQeXa7upaehh+dKJ/UYvXGkfy7pFmOfHbqV7YGSsbkmn1bBt1ZJJH6yv17Fze/wTvkcQBCLNej62azWNHQP0Wx3sP1XHvWsLKctPCd97pkk4cJpD6jr6eeNkDaIo8KFty/nw9uXhqD8EWB0u9lXW02d1UJiRwJM7V5MaF25Fn2sMei0b1uZRXJhCQ1Mf+w9Vc+58Kw6nF39AQZYVFEW5tiQ0qqMmSSJajYTJqGN5eQb331NKQX4y0VHGaU/sqqpyrKeVF+orCagKsXojj+eVc19GAWaNjkffeg5XYOKbzbqkTCRBIKAqnOhtZXXina93IwgCSZlxJGasZ8P7VjLQZaX6VAMHfneSusoWPE4vHqeXC4druHS8nj2/OERWUSrbP7SelfeUEBFlQqvXzumNeFlxOi+Ip1CUoBhmT5+N9JSYce/R6zRULM+isbUfj9fPT54/xFc/s4PsjHi0o0tfAVmmrWOIl9+oHOsuzMmIu2F/c4HT7RsbQ3SkkcSbaJZd1atSAZtz4gcBCJ7b4pwkyvJT2H+6nv5hJ6cvt1Kal4wUDpymRThwmkOe2rWWT+1aC0xVGSnMVCjLSeG/vv44ED6u840gCMREm6lYmU3FymxcLh8tbQM0tQ7QP2BnxObG6/GjqmrQdy7CQEJcJNlZ8eTlJBAZaRg9h8KMGiacAT9vttXQ63aQbIrkn9bsZHtqHuJoQCTe5EpJMJpJMkXQ6bRxxdo76fvuRARBwBhhIH1JMulLktnx4Q00X+7g5J4LXDhcQ8uVDmxDDga6rAx0WTl34AoJ6bGs2VnOmvvLyVmaQVxK9Jxke7PS48jJjKexpZ+2ziEu1XSRmhR9Q4Zmx+ZiXt97EYfTy6XaLv76X/7Axoo88rITEEWBto4hjpxqoKt3BAh2sG2oyJv18U+E1xcYe7AwGbQ3ra+LihhV/lZhaOTmFkJmo46CzEQOnWskICtU1nbypKISLq2dHuHAaQ4RhFt5sYeZDuHjurAIzvXBM2I26yktTqO0OG1Ox+Dwe6ka6kYANiZnsTkl55rK/C0K2EVBIMkYSafTRo/LfvM336GMaaZpJPKXZZFXnsn9H9tEy5VOrpyo5/Tei7RWd+L3BuhrH+T1Zw5w6OXTZBWnsXxrMdseW0tKdsKsFZQHA3QTK5Zm0tQa1KAbsbtRFAVRHL9cl50ex45NRbz6dhWqqjIw5OCVty5Muu1lpeksLZrb6/UqGo2EQPASdXv9N71Ur1qmqKh0DYzcdLuCIBAfY0YjBY25u/pHFp921wIiHDiFCRPmjsMjB+hy2hAFkYqEjNsy6xUQMGuDS+jOSZbz7jYEQSA+NYaouEjS85MoWJXLqT3nOfDSSTzOYIG9bcjBxaO1XDnVwOvP7GfdrhU88vl7SctLQqMN/a1Gr9Owdf0SJEng3s3F5GTETVj4rddr+OjutVhHXBw73TipqKQgCJQUpPDpj2zCEjE/Pm4Wsx5BFFAVFZvTg8fnH5OIeS9Jo+UIqgr1bX3IijLOguq9GHSasWzciMMT8g7Yu4lw4BQmTJg7DkVV8MoBBCBSd/s3Qb8S7Gwy3kbAdSfjdnq5cqKe84equXi0lobzrQRGRU1FSSAtLxlRI9JZ30PAL2Pts/Hmz9/l4tFaHv/qg2x7dC36EFuYCILAspJ0lpWk3zSrJQgCKUlRfOWpHaSnxHD0dAMdXdYxcUhRFEhJjKJiWTYf3LWC3Kz5kzBJibcgiSKKIuP3y7R0DbE0b2Ihzvz0a+Ns7hqid9BO6k0Ef21OL7Ic/M7hbNPMCM8KYcKEuePQCCJmrR67z8uIz31bnw0oMh2O4NJHgvHWhsJ3IqqqIgdkHCNujr9+jiOvnqX5UjvD/TYUJSgiqTNoySvPZOfHNlOyLh9REmm50snhP57mzDsXcTk8dNT38Mzf/haA+z+yCSHE0iu3swyYEBfBJz+8gffdW0Zfv43BYSeoEBtjJiEugsR4y7RlL0JFTmocWo2IPyATkBUuNXRTmps84fdMTbRgNupwun309Ns4cbGFh7eVTZh18vllGtr78Y1KHZiN+pCILt+thAOnMGHC3HEYNFqyImKoGuzidF8Hu3PLprxcd7a/ky5X0AdtTeLEret3KqqqYhty0FjVxtl9lzj0h9MMdFlRr1p3aCVS8xJYuqGALR+sYOn6ArTX2eCk5SWxftdyWmu7eOXHeznw2xPYrU5+8U9/oHxTESnZCfP11RAEAYNeS2ZaLBmpMTe8thAoyErEYjbg8vgJyApnq9t5eOtSjBN0X0eaDKwsSudwZRMur58X364kIymGVcUZ4wrkZUXhWFUzx6taxjJN2SkxC+I7qyqoqoLPL4+aMKtoNRp0uoVt+RMOnMKECTMt/vRWFdlZ8RTkJaEZteVZKJOdRatnZUIqVYNdnOht5URvK5tTcm/apaSqKt0uG8/WnEZRVSK0OjYmZ8/doOeB65dshnpHOPbaWSoPVnPlZAPDoya6EDyvRatz2fjQSso2FZG3NAPNJEaxkkYitzSDz/zzE4iiwJs/P4Td6uTs3ou8/6l7Zv07TYWFcp2+F7NRx/LCdPYcqwaguWuQps5BSibIOhn1WlaXZHC8qoWArNDSNcR3nt/P/euKKM1LJibShN3l4WJDN28cvUL3wLXzubwwbV6El69eb4NDTqrruqmt72FwyIHXG8DvD6AC6yvy2HV/2aSffS/zcS7DgVOYMGGmxZ69l2hpGyA7M56dO0pZtTyL6GgThjnW85kIvaThwcwiDnY20mK38s2Te/jS0o1sSc1FJ0rXFKIVGbvfi0cOUDvcz9OXjnG6rx1JEPhAdgnZlpib7mex4xxx017fzbu/P8XxP1Vi7RvBNyqmKGkkouIjKF6Tz30f2UjxmjzMUSakKaqGmyxGdn58C8f/dJ6RQTutNV2z/XXuCO5dW8C+U3X4AzK9g3aqW3opykm6QXNJFAU2LMvlnZN1XGroBqCla4ifvnICg16LJAooiorH5x+nhJ6WEMX68pw5txKSZYXunhHe2n+Zt/Zdwu7w4PUGbvCnTIib2IBYVeH8xXZa2wZQAUukge2bi5CkcOAUJkyYRYIsK9jsHqoud3DxSgfJiVGsXpHNmtU5lBSlEhdjnrcAShAEVsan8VTJWv7l7D46nTa+eXIPmZHR5Fhi8chBVfMDnY002AZpdwxzZagXnyIjAKsTM/hkUQVGzewJ1KqqSkBRcPn8+AIyGlHEYtTftDMq1Pz6O6/xp2cP4HH5xv4maSQKVmSzbGsx6x5cRsGKHMRpCP4IgoAl1kx8ajTD/TY8Lu+tPzRNAgGZoWEXg1bHqOCqjCwr0+4cW7siG71+7uudBEGgKDuJZQVpDA472LIyn2VL0phIcEUQBDKSYvjw/Sv5dtde7KPHNyArOCY51gadhg9uLycvfW4dKxRF4dDROp5/8TiNzf3T2kZQc2uQHz5zAL9fxmzSkZuVQG7O3C//3lWB09nOTn567hx2b/Ci+vqmTZQnJc3703EosHk8/OT0aZqsVlampvLx5csxaG7/9PpkmW+8+SbDnsmVaJclJ/PZNWuI0N3+TaVxcJB/O3wYb2ByO46Hiot5pLgYTdgyZdGgqtDdO8Jrey5w6FgdaanRrF2Vyz1bi0hJikajmXtvM0kU2Z27FK8c4L8un6TXbafFbqXFbh17z/nBLs4PXsuESILAsrhU/mH1veRZ4kKuD6aqKn5Zobann73VDVzu6sPlC9az5CbE8o2dm4iPMI+9X1FVArKCiookiEgh1kVqutSOx+ULFnsbtZRtKGDb4+soWZtPYlrspMtxU0cAITjmUHfVqaqK1xfg9PkW3j54he6+EZwuLx5vAEVRxrrmpsPPvvcJEuYhcAKItZj4yke2ICCQnRJ7U8shQYBtq/LpG7Lzi9dPMeKYfN7WaiWeuH8FD28vQz/j8zp1FEXhwOFafvTMAfoHHTe8LghMOcBdvyaPZ587jN8v4/EGOHKigZzsubctu6sCp0G3m5MdHVjdwS6b/+G+vW6bhcwLVVU8c/YsAUXhWFsbSRERPFRUdNvbUVSVUx0d9LsmV6LViCIBWZ7WOO0+H8fb2nDfJHBalpKCEm6XXbSM2NyM2NzU1PXw2z+cpqw0nfu3l7AkP4nkpCi0mrkr/NSLGp4sXMW6pCxeqD/Hmb4OBjwu7H4PPlkO3tAlDRatnvSIaO5LX8JjeeXE6qdv9zIZqqrSYbXxo4MnePtKA26ff9x1rowGVdfTPjTMv735Ll3DdtbnZfLlHRsw6UJ3Q9fpteSUplO6fgn3fWQjeWWZSBppNN6Z+fdXVRW9QUd8agxpeUkhGPG17VpHXPz4uUPsP1KD1zc9X8TJmM/5R5JElmQEsyhTOQcajcgTO1dSmpfM7/dfoKFtAIc7aHOk1YhEGPVkp8by/s2lVJRmjvO4m21UVeX8xQ6efe7wuKApymIkKdFCQlwkUVFGTp9rpn/gxqDqvSTERbIkL4mz51uRZYVLVzpwuX2YTXPrLXhXBU53Mu0j18whfbJMr316iseSILCroIAuux2b14vN68Xu9dLrcOBXZu4YHms08v6iIgZdLmweD3afj2G3m36XKxwsLTI2r1+C3eGho9M64blTFBWny8eJ002crWwlOyueZUvT2bAmj5KiVIwhzkBMhCAISAgUxyTyD6vvp9VupdVupd/jxBPwIwhBsctEYwRLouJJMkbMWlDXbh3h/+05xP7qxluJl4+RHBWJqkJd7wADDicfX7cck25yrZ7b5eHP7iA+NZa0/KRgwBRiYhItPPnNR/D7AmQWpoZ02+8er+OdQ1dGu7GuoddrMOi1aCRxwiWuWyIwp8ulEw7hNq5BQRDQSALLC9MpzUuhrcfK0IgLr8+PXqclNspERlL0nAZMV/F6A7z+1gU6u4dHxwrLyzL54AdWUJifTEJ8JJIk8vVvvjilwEkQoKwknbPnWwHoH3TQ22cjd467NRdF4KSoKsNuNwFFIVKvx6idX62NhUhJYiJGrRZPIECMwUBhwvQuJI0o8vVNmwgoCgFFQVYUfLLMV994g8ru7hmPM81i4W+3bRu3/dbhYb6xZw+dNtutNxBmwbD74VXcs7WYuoYe3tp/mUtXOnE6vfj8N2Yj/QGZ+sZeGpv6eOfAFVKSo7n/nhLWrc4lNsaMwTD7BeUaUSQvKo68qLk1cFVVcPl8/OzIWQ7WNgMQadBRkJRAcUoCh+tbaB0cnvCzeo2G9XmZHKpvZsjp5kJHD2kxoQucVmwvBWavM8kUaWTZluKQb1dV4Z1D1WNBU1JCJDu3lbJ2ZQ5x0WZEUZyRTlFMlClEI51btBqJvPR48haIL3VX9zBHjtUDwaBn47p8vvCp7aSmRE/7msvNvib8abO7GbI6w4HTRPQ5HHxjzx7aRkb45tat7FyyZL6HtODYXVKCrCh02GysSE1lU1bWtLYjCALm99QuBRQFnRSap1FJFG+ojXL7/eF6pkWIXqchMSGSxIRINq7Lp73TyskzTZypbKGusQ+r1XnDZxRVvW4pr5vno4+zZlUO69fkUbgkmeTEqHlpk55dVOr7Bnm9qgZZUchPjONr921k85JsNKLIX7zw2qSBE8DKrFQEBFRUzrV2sausMGQjW8z1nb2jcglarcRTH9nMzm0lwOL+TncaJ840jS2jxsVG8MTuNTMKmgCSEi1IkoAsqzicXmz2yeu6ZosFHzipqkqj1Uqz1YrD58M3zdqaOx2jVsuTK1bM9zDC3GVcnQAFQSArI47M9Fh2bCumvX2IM+dbOHi4jq6e4Rtajq9iHXbx1r7LHDnRQEZaDCuXZXHPliKyM+NHtaGEaWUOVFVFJWg1vBBupEcbWnB4fWhEkac2r2ZbQe6UA8S0aAs6jYTHH7hpgBUqZmLHMZfHOirSSN+AHUkUyc6IWxDnOcx46ht7x/6flhJNUcHEKuhTRRAEtFoNep0Wl9tHwC/jC3F921RY+IETUNPfz4DLNa0usTBhwswdgiAQFxNBbLSZpSVpPLF7DdW13by9/zI19T3099vweG+c6JxOLzV1PdQ19PKH1yspzE/igXvLKClMISnRgl6vua0Jt9/j5Nf159mUkk1OZCzReuOc69Zcz5mWTgDiI8zcV7LktrJqOo2ExaDH4w8w6Jy8aWOmuJ1eBrusOG0uPC4ffq9/yrVYoiiyYmsxwhxp6ggC7NqxlB/94l0CskzVlQ7yshPQzkKdVpjp03udiGpudkJI6qwkUQh2GrqDkiiTPZTNJgs+EnH5fFzp6yMQgsLkMGHCzA2CIKDRSERGSKxZlcPKZZm0d1qputTB6XPNVF3pYGTkxq5WRVFxu32cv9jOxcsdpKXFsLI8k4pVuZSXphEZYZhSAGX3efl+1WGeqz3DmsRM1iRlsCklh3zL/GQm+u3BZcvMuCi0t6mJJCCgGw0IAkroM+6KotBwoZW3f3mUi8dq6WsbxH2TtvaJ0Bm0/K71B+il2S/4v8q9W4ppahvg7YNX+P2fzqHRSGxdX0BcjPnWHw4zJ/ivq3c0mUJzbciKgs8ffPgSJRFpGhpjM2VBB06qqjLi9XKxt/fWb57hfgKKgicQCBYsqyoCwQ4zrSRh0GgQhdDopyiqijcQwCvLyIqCCoiCgEYQ0Gk06CRpXp+M7yRUVcUny3hlmYAsowAiwTornSSh12hCupQjK8rYub3aZSYKAhpRRC9JaKWF7b80m2g0EjlZ8WRnxrFtcyEDg3aOnmjg4JFauntH8Hj8KO/R3ZEVlbb2Ido7hth/qJakRAvvf6CcR9536yVpQQj+foe8bva013Kwq5Gf15xhZUI6H8guZmV8GmatDo0wN/pSV68H7TRqBRVVxeULqnlH6EPbdq2qKlWHa3n6r35Fe133mCfdQkcQBKIijXz+ya0U5Sfzi98e5yfPH+IPb1SSlRFHeko0cTERGA3am+ogTcbWdQUY5sHwV1VV/AEZSRQRQ6zZNR9c77HnvE5kdbqoqorN7sEzqm5vMGgxzUF37ntZUIGTqqp4ZZkhl4s+p5MBl4tLvb00W4OCdX5F4XRn502zT8kREVSkp0+p2FgjiiiqSsPgIO80NnKsrY3GoSFGPB60kkSs0UhRfDwbs7LYlpNDRlTUlC7k2oEBavr7UVSV8uRkcmOChop2r5d3W1o41NzMue5uehwO/LJMpE5HqsVCaWIi9+XnsyEz86bLkhd7e2kcHJw0ja6TJNakp5NgvjufvFRVxenzUdndzcHmZs52ddE+MoLT58Oo1RJvMrEsOZm1GRlsysoiOWLqLeinOjrostmreF/lAAAgAElEQVRQgS3Z2cQajQD0OZ0cbG7mYHMzl3p7GXK7UVQVi15PZnQ0y1NSeCA/n+UpKfPe6jyfCIJAlMWIJdJAbnYCH9pdQU1dD8dONlDX0ENz6yDDI+OXo1Q12D1js7vZd7B6SoFTrN7EJ4sqOD/QRc1wHw6/jzbHMG2OYV5pvkRhdCL3ZSxhbVImpTFJROmmlsmaLnFmE80DVvrtzttWs+4etjHiDmaA0qItIR2XY9jFf//ti7SN2qHojTqSs+KJSYpGo5t6wKHVaRDn/LoWkGUFo0FHRmoMlZfaaekYpKVjcMZbXv5MxjwFTvDTV09iNugoyEwgOzWO+GjzvGRVQkFqSjQXLrUD0NI6gN8vTyuQvZ5z51vHfkNRFiOxsXN/n1swgZOqqpzr6uJnlZX0O530O50Mulw4fNeiVG8gwK8uXOBXFy5Mup3tOTksS05GMwVVa4Mk8U5jIz8+dYpLvb3jAhG/ouDy++mw2Xi3pYV9TU18ed06VqSm3jIjtK+xke8fO4asqvzPjRv5bEUFQ04nPzx5kldrarB5x8vhWz0erB4Pl/v68AQCrE2/eS/pq9XV/OzcuUkDpyi9nqcfeuiuDJxUVWXA5eJ7x46xv6mJfuf4zi7/qDZVk9XKm/X1rE1P57Nr1lCRljal7NNzlZW8WR9sr33mkUfYlpNDy/Aw/3LwICfa228Q9hxwuRhwuTjX1UWMwcCylJSQft/FytXjbNBrWV6WQVlJGkNWJ82tA1yu6eRsZSvVdd03aPRMNeaI1hv56xXb6XbZuDjYw7HeVvZ21NPrsgfrJof7qBnu43cNF1gal8y6pCwezCwk2WQZU/4JZSBVmBzPmdZOOqwjdA7byI6bWmeRqqq8c6VhLBu3PDO018+l43W0VAfrryyxEXz0rx9i6foCYpKi0NzGDU4QhNt6/0xRVZVhm5v//uVh9h2pweWeeTZj/A5Cu7mpMjDs4I8Hqhi2u4mJNLG6JIPPPLqBjKTF6ZlYVJDMm+9cBKCrZ5iGpr5pF4hfzTYdOlY39reEuEhSk6NDNt6psmACJ4CW4WH2NTaO+5tWFMcJL2pE8aaBi1YUmWobTlVvL0+fOoXV7cag0RBrNGLUapEEYSzzZff58CsKR1tbGXK5ePqhh8iImrqOSrfdTrfdzneOHOHN+npUVSVSrydCpxvLeLl8Puw+X9DuITkZ0y10qqKNRlIiI/HLMn5FwS/L+Eb/fzejqiotw8P83d69nOzoQFFVJEEg1mQiQqdDK4rIqorD52PI5cITCHCopYW6wUH+cccOtufk3Nb+2kZGqB0Y4O/37eNcVxeiIBBtMGDW6RAFgYCi4PT5cPh8xBiNlCQk3GDUGSaIJIkkxEcSHxfBymWZPP5IBU0t/bx7tJaDh+sYGLx9QVdJFEmPiCbNHMU96fl8uWwTh7ub2dNWw+WhXgY8TnrcDno6Gni3q5mfXD7BhuRsPpBdQklMInEGE1oxNMur24py+d2ZS7j9fn565Ax/+cAWIvW6m247ICscb2rjD5VXUIEYs5GNedOTGZmM84eqUQIKoijwib/bzQNPbp4VIczZ4I29F3lj38UxaxVJErFEGjAZdGg04mgB/vTOXbCjc+653NiD2+NHVWHI5sLt9RNrWbwPwGtX5WKJNGCzexgYdPDya+f4/Ke2ERNtuq3flaoGpQd++eJx2juDK1CSJLJqRRYx0XOvubWgAqeypCT+atOmcX/rsNn4eWUlEFyCel9BAaWJiZNuIyMqKhg8TYGrQVNuTAwfLi9nTVoaqRYLeo2GIZeL052d/OrCBap6elCBK/39/Lqqir/avHnK36nLZuOZs2d5o66OGKORXUuWsCotjazoaMw6HT5ZpnP0Blw/OMja9PRbXlBPLF3K5qwsHD4fdq8Xh8/HifZ2/lhdfVerb494vfzgxImxoCnaYOCx0lK25+aSHRNDpE6HJxCgZXiY/U1NvHz5Mn1OJ912O98+dIis6GjyYmOnvL/q/n5OtrdT2d1NdkwM9+fnsyIlhTSLBYNGg9Pno21khOr+fkY8HvLjwi3TN+Oq91h9Yx919T1U13XT1DKA3T4za6SrtioJRg27c5fycHYJl629nOxt42RvG2f7Oxj2eej3OHml5TKvt16hPC6FdUlZbEnJYV3yzIIVQRBYmprMxvwsDtQ28ebFWiRR4LFVZRQmx9/wfllR6B6xc6CmiRdOXaBz2IYkCHygvIjkqImd46dLf8cQqqqSkB5HxX1l0zLznQ9UFfYfqx0LmhLiItm5rYSVZZmkJEVhNunRzsAf8franLmkuWuQwGiXmEYSWV6QjnkeanhCRWysmR1bS/jjnypRFJUDh2vQakQ+8vha0lJjpnx+untG+M3Lp3jnwJWxLrqE+Eju3146L3PqggmcBEGgID6egvhrE4mqqlR2d48LnLbm5PCBaXiwTYTV7aYwPp5vbt3KuoyMcbUnETodaRYL2TEx/OWePbQOB/VT9jc18ZnVq4kerW25FWe6ujjV0UFWdDT/a/NmNmZl3ZBRKk5IYHtuLiMeD5FTKP6MN5uJf88ynCgIvFJdPaUx3Ymoqsrehgbeqq9HUVVijEa+tmEDu0tKxinNm3U64kwmShMSyIuJ4e/27cMTCNBstfJCVRX/a/PmKYt9vlVfjycQoDw5mf9zzz0siYtD/57atLLkZO7Pz8fh82EJcWHvnYCiBIthBwbtHD/VxNET9XR2D2O1OidUIA8FkihSHpfC0tgkPpizlDbHMKf72tnTVkPdyAA+WaZyoIsLg92c6mvjpeQnZ7xPi1HPn29cScugleYBK78/e5mjDW2kRUfS2D8EQPeIjX/fcwi7x0uPzUHnsA33aFF4eUYKH6ooRx/ibJDsD96E4lNj0OpnX709lFiHg8vwWo3ERx9dw/vvLZ9T89rZoN/qHLPOkiSR4tzQ+fvNBzqtxK77y7hU3UF9Yx9+v8yevZeoqe9h1fIsNqzJIyszHlm+9sAfCCi43X4CAZnGln5On2vm5JlmmlsHxoImrVbiQx9cTVJiaGv+psrivspmiEmr5alVq9iQmTnhhCGJIitTUrg3L4+fnj2LCgy53TQMDbE6LW1K+3COLtP85aZN7MjLmzRxLIkisabFKfO/EHD5/fy8shJPIIA46rf3WGnppEGQQavloeJi3mls5O2GBmRV5XBLC48UF1OWNLXJyub1kh8by7fuuYfSxMRJbzpaSSJmioH23YLfH6Cjc5jahmBh+KmzzXi8/psWTut0GpJDOFGKgki80UycwcTy+FQ+WVRBk22Q11qu8ErLZbqcNqze0BiBi4JARXY6f/+Be/h/ew5R2zNAh3WEDuvI2HuGnG7evFQ37nOSKLAiI5Vvvn87ufFTf0KfKjGJkQgC+Lx+1MW01C9ATmY8/YMOJEmktCB10QdNwLjfgCSKZCTNff1OKBEEgSV5iXz2k1v57g/foat7GFlRaWzup6m5n5deOYtGEseybAAHDtdw/HQjdocHny8QFLO9bl7Q6zV88P0r2LmjdEa2OjNh8V9pMyApIiIYzNzk6AuCwOq0tGAxtqril+UbCo5vxcqUFLZmZ4dlBmaRs11dY1lBnSSxq6DghuzPe5EEgXtyc3m7oQEILgu3Dg+z9CZB0PVoRJH78vMpio9fVE/qc831StQer5+zla2crmzh4uVO2joGx2m9TITRqKNiRTZrVuWwrCxjVsYWUGTO9ndyrKeFmuE+plsbczMEQWBtTgb/d/dOXj1fzetVNWP6ThORFBnBQ8uL2b2ylKwpFpPfLjmlGQiiSG/rAG6HB1VVF8W1LAAP71xOdX0Pbo+P6vpuCvOCDzyLYfyTcX1tlSCAXrf4fVkFQWD1imy+9Jl7ePa5wzQ29wPB+ntVUfG9R5vM7vBgn0RHTKuR2P2BlTyxu4IIs2G2hz4pd3XgVJGWNqXlk6TrlsUCioLT77+t/dybn48hbEw8a6iqyqmODryjHW2Rej3LkpOn9NmcmJixBgRvIEDj0BABRZmS3o5Zq2VTVta0tHnuFhRFweny0dM7wrGTjRw8UkNPnw2P2z9pPZ4ggMmoJznJwoa1+ezYUkRiogWjQRcSHzsVUFQFh89Lj8vB2x11vNNeR5tjGKffR0BVEAWBKJ2B7MjQdjMJgkBhUjxf2bGBj69bzqWuXi519tJjc+Dy+jDqtCRGRrA0LYnlGSnEmI3oZlH/a92u5fz6O68x3G9n34vH+chffgDNIsncrFuVw1ee2sGvXj7JS6+fQxJF1qzIxmTUodVKSJI4ZvZ7u0dPCJFu3+0SH21GEgVkRQ0WRLu8REXMX4AQKgRBYH1FLjlZ8bz86jkOHK5hxOa+5UPTVUxGHdmZcTz+wQrWr8nDOA9SEdezOH4hs0RRwtQclXWSNO6HJ99GSluAKS/9hJkentGARx69EQvALy9cmFKGr8tmGzdBWkf1l6aCXqNhSVzctMZ8pxMIyLS2D3LhYjuVVe2cPd9ySwE8QYCMtFjKl6azalkWFatyiAzxTcMnB2i0DXGqt43jva0c723D5rv2dKsTJUpjkliflMWG5CzWJmWGdP8wWqyu1ZASbSEl2sJ9JfNnWp6QFsuHvvY+nv+/f+S1/95PXEoMW3evwRxlXNCZG0EQEEWR8uI0Ag+v5oWXT/KdH79NekoMmWmxxEabiYzQo9Np0EjSbS7pCDz6vhWYTXNfk7gkMxGtRkL2BZAVla7+YdISp97FvZARRZHU5Gi+8NR2Hrh3KacrW6it6w7WNA67cDg8+APBQEqv0xARYSApwUJGWgzLlmawbk0uUZaFUc5yVwdOcXNUUxSub5ldrnYXXqXP6eTfDh2a1rZcPt+UJVwkUQwXfI+iqiqKouLzBTh7vpV3j9ZRW99Dd+/ITU04g6adEsWFKWzfXEh5aTqpydEYDKEpVFZVFVlVcQV8HO1p4Y3WGqqtfXQ4hvGOLhFIgoBRo2VLSi4PZhZREptIujl6yk0CCxlVVfG4fExWPCYIAtseXYNj2MXL//kWP//H33P8jUo2vn8l+cuyiEuJxmDSI9wy0ydgMN9cXiHUdHYP83+++xo2uwfriAtVhfYuK+1d1hlve+f2knkJnJYXpBEVYcQzZCcQkLlQ38XqkolrcBcroiiQn5tIXk4CDoeXYZsLp9OL1xsYS0poNBIGvYbICCMx0abb9qqcbe7qwMk8B8tnoiCgu4uVoucCTyAwtkw3U2RVnfQm816kUTuVuxlFURmxuWhtH+TU2RYOH6ujq3t4XLHnRBiN2mB2qTSde7YUU5CfhCSNLquEYIKUVYU+l4Nm+xDvtNezt7OeHqedgBocl4hAvMFMniWWHelLuD+jgFSzBY0Q1IFbOFP0zFBVlU+v/t+MDDomfF0Qgj5zOoMOn9ePx+XlzDsXObf/MqJ0dbnq1kdDb9TyQu130c1hG7/H66O+qW/O9jcXxFiMPHbvMn7y+2MEZIXD55q4b20hmcmhbwyYbwRBIDLSQGTk4luKvKsDpzvtQrxbUVR13PJabkwMHywpmdb5LYiLQ3MHZBrmgtb2QY6dbKDqcgdXaroYnsC0971EWYysXZ3LivJMlpVlkJIUFZK6pffS73byjeOvc2mod9xSnCgI5Fpi2ZG2hLVJGSyLSyVGv7CXpWaKz+vH7528LtPn8QPjbW4UWeF2/IQFYe7FtiPMBjavnZ1lzvns0Nu1sYSq+i6Onm+mqXOA3++7wBce34RBH66TXSjc1YFTmDsD/ahh71ViTSY+vXr1tLoYhTso2zDb/OjZg5ypbLlpgacoChgNOtJSotm+pYgNa/NJiI8IWaH3ZDj9Po71tALBuiWLzsCqhDR255axNDaZOIMJvTQ305+qqji8PloHh0mJiiTCoLtlx2coiY6PnHUfOZ1By1z/cpITLPzNXzwwK9uej2U6CM4/cdFmvvxnWwnICqcutfLHAxcRRYGPPVhBtMWIdAeY/y52woFTmEWPSacbJyraa7ejqGq4222Wsd2kK0ajEcnKiKOsNJ01q3JYvTwL3ehT/FxM+oIQNPotjU1iU0oO96TlkWOJRRy9uc/1jeedK/X8w6v7yEuI5ePrV/DoyqVzsl9BEPjWb7485nU3e/sJGv3OJZIkhrx5YCEgCAIZSdH8w2ce4Ce/P8a+U3W8+HYl52s7uXdtAcXZySTERmAy6NBppWmFq0aDDs08qMQriorb7cNmd+P1BQgElBldmxFmPakpd7lXXZgw0yFCqyU9KgpREFBUlSG3my67nZyYxWmMuVgRhKCi76plWWzeUEBxYQrpqTFjAdNckmSM5AebHybPEkeiMWLen9BPt3QSkBUa+gbxB+ZOaFIQBFIXufr03YSqqvQOOegfstNvdRAbZcISYcDm9FDd3Etdaz/x0WaiLUYMOi3aaXrqfemJLRTnzM11oaoqbrefoycbOH+xjZ7eEZxOHz5/AFlWUNXpL/OuXpHFVz53b0jHOxUWfOB0/XKLyngxvTBhINjmWpGWxu8uXQoWissyb9XX85mKirDo6BwQYdaTlhpNxcoc7tlSRHpqDFqtJmSF3tPBpNGyPilr3gOmq9T3DgJBFflNS0Jr1BvmzkFV4bP//BusdjfKqJbT9fI3sqLQO2Snd+j2Ta+vx+acWGAy1MiywpnKFp59/ghNLf0EAvJUe2+mRFbG1L1FQ8mCD5xMWi0CwaDJFwjg9PsXjbptmLljfUYGqZGRNFmtBBSFt+rruS8//7ZMe8PcHkmJFnKz41lWlsnysgwS4kNrQDsTFtr8MOIOFs5HGfUkRCxet/sws4/HG8B7EwmPxURnl5X/78d76eganu+hhJQFHTgJgoBRqyXebKbf6cSvKFzo7ub9hYVE6OZWMyTMwibGaOSJsjL+/cgRAorClf5+vn/sGH+7bRsJZvOkmSdVVfHJMi6/H28gQHLkwrn5L3S++Ol7MJl0GEOkuXS7qKo6J51cochaXq23M2p18+avNVVUVUWRFQJ+GUVRUJXgMqwoiUgaCUkjLqi5V1WD+mF2p5f65l66e0dwOL23lMS4GR96aDUR81QgrtNK6LSzW585V5n4fe9WjwuaDAYtyUlR5OckEBtjxqDXIk1zuREgK2N+BIgXdOAEYNHrWZGSMuYn9nptLXlxcezMzyfeZEISRQKKgjsQwOnzoZckEiMi7sglmoCi0O904vL78Y0uSflkGW8gQHV//9hNxK8onO/uJqAo6CUJnSSh02jGus9SIiMnPD4On49BlwtvIIDvum17AgGGPddSu4NuN0fb2og1GtFpNOgkaWw/UQbDpIKfQy4XI17v2Hav7qN9ZAT3dTY2LVYrR1pbMWm1wW1ft484kwmzbmKtmN2lpVzs7eXNujoCisIbdXV02+08UVZGYXw8MUYj2qvXi9/PsMdDl93Oxd5ejra2ck9uLn+5efP0T9BdRnxcxLzuv8Vu5fho59xsYdHpeX92yYy3kxUXTfOAFZvbQ0BWWIiuJoqiMNg1TEt1By1XOuls7MU+5MDj9qHVaYiIMpGSk0hGQQp55ZkkZcah0c7vF1FVlYaWfn7/p3McOdnAiD00pszvu7dsXgInQYDPPbYRn392M05ZKXNT/1l1uWPs/0mJFr706e2srcib9cBwtlmAP9/xROh03JuXx4n2dmxeL+5AgP84doy36uuJuxo4yTKe0cBpa04On6uoQDeH7b5zxcCoInbL8DC+0cDjavDk8vnGtIxcfj9PnzyJcTTwuPpPr9EQbzLx/V27iJhA8fpISwvPnj2L+z2Bk0+WxylzV/f383d79wYDmvcETg8WFPDp1asnHP9z58/zbktLcNvXBX6eQADHddvf29jI8fb2a0Hf6L9IvZ5PrVrFjry8G7YtCAIxBgNfWreOPqeTUx3BH2xldzfV/f2kREZOGDgNuFz4ZBlJENiemzuj8xNmbjk/0MU3T+2Z1X3kWmJDEjitzc3kYG1zUJZgaJjilMQQjC40qKpKwC/z7u9P8tbzh2mp7sQ+NLn5sN6oI7sknTU7y3noMzuIiDbNW8axpqGHHzx7gIs1nSHb7nw+cwuCwPs2l87fAEKMx3MtAFy9IptN6wtmVYZkrljw0YUkiryvsJD2kRGeP3+eYY8HdyBAZXf3hO8vjI+fcyG2ucIry1zu66PZemtLAaffP6EZcazRSGASr71ep5PzPT239GqTFYURrxeuC3auUpI4+Q2haWiIqp6eW4ycYGDlvvHJ0ajRMOByTfCJIIIgkB8by3/s2sV3jx7lYHMzAy4XnkCAZqt10uMmCgJxJhPxc2TBE2ZuEAjOH6oaVBK/HQySBpNGR7IxNEu39xXn8Ydzl2joG+KlM5f4qwe2oJ/nbA0Eg4+RATu/+var7P31MdzvcaWXNEGjXEVVkQMyqOB1+6g920RjVStVR2r58vefJDUncQq2LKFlxO7mVy+f4lLttaBJFAUiTEGPOlEUcDg9uNx+NKPSBZIkoqoq/oCMy+0jcF2HY7TFyJZ1S1i1LIuYBeKJttjJzY7nSm0XEJQouVMWgub/lzsFDBoNX1y7lrzYWPY1NnKlv58eux1PIIAkipi0WqINBjKioliekjLpMl1uTAyfWrkS96g9R1b01PQf4s1mPr92LaqqohXFmwYHAKtSU8feLwgChhBZu0Tp9Xx02TKsEwQVU8Wo1U4qvleelMQX1qyZUeBZnpw86Ws7lywhewYSAZopHHtBEEiMiOBbO3ZwtrOTfY2NXOzro3NkBKvHg1+W0UoSETod8SYTWdHRFMTHszotjdVpabccwwNLlpA7WnAe9qmbXwqi4/lc6boJXxMArSgBAi81VdHltKGXNBRFJ5ARET0mgCkAroCfIa+L+uEBmmxDKKjsSM/nkZyl5ETOvLlAEASSoyL54vb1/OubB3n7Sj3FqYk8tKwYnWZ+lywUWeGVH+/lzV8cIjBakJyYEUfR6lySsuKJiDaj1WmQAzLOERf9nUM0X+qg+XIHAb/MxSM1/PRbL/HFf/8osclzp6ejqirNbYOcqmwe69KKj41gx+YiyorSiI02odVq+N1rZ3j73WpSkqL4xIfWk5wYhSwrOJxe2jqHuFTTyZkLrXh9ARLjLXzg/mUU5U8+h4W5PR68r4zDx+sZsbm5XN1Fd8/IvOguhRpBXUT9/YqqYvd6GXS5cPh8BBQFURDQiiJ6jQaLXo9Fr0evWViGgGHmB1VV8coygy4Xdq8XTyCAoqpB/0BJwqjVEqXXYzEY7nrPOVlWFkWmViAofAi3Lg73BPx8v+owv6yvJDsyhr8o28jS2GQsWgNGjQZJEEFgtEbSz6DHxdGeFn50+ThGScPfrLyHHen5iMLMrw1VVfEFZA7Vt/BPr+9HVhTeX17EY6uWkhIVVPaeyowVfBAL3fNuW10333jgX7ENOtAbddz30Y3s/NhmkrMTMEUaEKVgIbiqBlvj3Q4v1r4Rjr52lj/+aC/W3hF0Bi1f/v6T3PPEhjlbhlFVlZ/+5ig/f/E4AInxkXz+E1vZvHbJOLuUnzx/iBdePkVWeix///X3k5997cHrqs/ioRP1/PQ3R7GOuFhWks5XP30vuVnx4XtICAgEZF7bc4Hnf3Mcm83DqhVZfOyJdeTnJiJJwWxm8JIRpp2Nmo/ztCgyTlcRBYEog4Eow52nFhsm9AiCgEGjIc1ime+hLHj2Haymq2fhtwwnJVh48P4y4Ob2OLKq8Ke2al5svECaOYp/W7eLstjkCSdZSRLRSxqidAZyLLEkGM189cirfLvyIIUxiWRGzOwJWVVVjje1M2B3MuBwsjQ1iXfrmnn+eCW/PnWB+AgzcRGmKSndp0ZH8p3Hd81oPNdz4o1KHMPBeqYHPrGFT//zExN2zQlC0ObDbDFiijTw2JcfJCEtlh987XncDg+H/3iGbY+tRRTnyMYGqKkPLvuLosCWdUvYvqFwLKi+ilYrIYgCvoA8blnu6ueio0y8775y9HotP3h2P+cvd/Dc747zV1/cOW+2K3cSkiTy8K7l5Ock8ssXT1B5oY0z51rIzUkgNzuB5MQoLBYjep2EZhrZ16RECyvKM2dh5DdnUQVOYcKEmR3e2n+JM5Wz26EWCspK08cCp5vh8HnZ21GP3efjgzlZlMYk3fLJ9Gogtik5h/yoeK5YeznQ2cAnCidudrgdvvXqXtr/f/beOzyO87zXvmdmewEWu4veO0gQYAELxCJWFapYcpMtW7YUO9bnxCUusb8cHydfEjt24hPbURzHPm5ytyPJlmQVShQl9t5JEARB9N6x2F5nvj8WBAmiE8vqva+LF8nd2XffmZ2Z95mn/J6hkQmvhyIy3SMuukdmJ2jo8Ma2GqqlthNZVjAnGdn65N2zkhoQBAFJEljzcBUv/eAt6k+0jI1zw1CgdyB6zFQqiarK3AlGE4BmVIg1FIwQCk9sDyQIAipJYH11MXsOXWTv4YvsP9ZIc9sAi8pmDt3HmR1qjURCQrSZdjgiU9/QS31D77zHXbe6+KYYTn/e8Yk4ceLckbhCAc4MdiMJAous6UhzCMVqJIlSSzIAe7qaYjIflShi0Kjn/Ucfo3zJS3hGvKBAel4yCTbznMIeGp2a/PLs6DhO77X3zbhGPN5ocYooCqQmT+5V1mnVSKKIzx8kOI2opF6vYdPaUgRBIBAIc+BYbH73P3fCYZkXXz3J33/tJXbsqsUfmFiwdDsS9zjFiRPnjiMkywz5o0UUumto9nwp563X547JfD6z6S68k1S5zhVzjAsSEmxmEEBSS9eUYyKOennMSUauqdvsPBiXnjuF0WYyapEkEa8vhMsdmLbrRFlhGoIQbXtS3zR/b0gcqDnfyU9+sRevLzjhPY1GhU6rmtRTOFtMxpuTthM3nOLEiRNN0pxDYm80n1MY+xuUCTkkk24/yVdEE4+n/i6NWsJmM5Gfa6d6xUQNr0m/TxDQSCq84SBNzqE5tWkKyzItzqh0hSYGOUseOJsAACAASURBVDuCILC1onTe41wPiipzePv3IgNdwwT9c2tnpSjQ2RDNMyqszLnh+jxGg5b+QTeKrEwpfJlgjkoQRGSZju5hZFlBkiafp9mkG7P9hh1T61hdC4qiELjOopZzQaOSEG9AQcxbO2vHGU3WJCOrVxWybHEu1iQjapU0r/PGbI4bTnHixLlJvGvrElYtn70AqChGwyAJZj1arYoTp9v47fOHx22TmKAn2W4mMUFPSrKZJIsRk1GLWh29aUciMj5fkBGnj56+EYYdXgYG3QwOucfyZXQ6NX/18Q3cu6kcjXr2N1m9pCLHZKF2uJft7fXcl1NKcaJ9xo4CYVlmX3czpwaj2jOlFvusj8ntyOqHl/HC996gv2OI03vOc8+H187qc4qicP5wA83nOtAbtax/z0qka/DsXTMCZKRaaGkfJBKRaW4bYPniic2Ts9KT0GlVuNxw+EQz731wGfopPBxuT+By94VpHgKuhUAozMN/8+Nbxnj69hceZcXC658b1Nw6MPbvnGwrX/nCgxQXpo4ar9deSXeziRtOceLEYd3q4mv6nD8Q4vXtZ3n1jdNjryVZDKxfW8ryJbnk5yWTbDejUUvTejIiEZnhES8trQOcPtvOO3vq6Ogaxu8P8dvnDmM0aNmwtnTWT8kJGh3VqTnUDfdxwdHPvxzfwdMLq6lOzUElTlzgFUXBFQrwemsdPz5/mJAcQRJE7s0umftBuY2wpVl4/+e28vN/+gPP/cc2krNsVKwpRTVNSwxZVrh4splf/+vL+Nx+1r93JZXrym6oAKYAFOYnc+BYIxFZpr6pl3A4MqEyKy05gQSznv5BN3UN3Zyv72JZ5UQDC+DUufYxz6fJGPuKOn8wRDA0MUH9ZnCjEvn1uss5eUsrc1hQmn5Dvvd6Ezec4sSJc03IssyuvRd49jf7cLr8CALk5tj58mfvozA/Ba129npqkiRit5qwJRlZvCiLezaV853vb+f02XZ6+5384Ke7UKsl7l49u5YNOknFo/nlHOpto3a4l33dLZwb6iU/wcoiaxp55iSMai2youAI+GhxDXOsv4NujxNPOIgkCDyQW0pVctY8j9KtjRyRWfuu5biGPDz/zDb+7S9/xKK7ilm1dQk5pekkWM1IKpFIOIJzyEP7xW7O7K3j2I4aHP1OyquLeeSTWwj6QvS1D077XTqjlgRr7PobLlmYxW/FaBiuuW2A7t4RsjPHC5ZqNCqql+XT2NKPPxDmB7/YzWc/sZmivORRvSeBYChMc9sAf3jtxFjeVGFucszmeashigI3ysZdvaqIU2faiMgKkbCMLCt3RMuV20oAM06cOLcO7Z1DfPF/P0dvnxOAvFw7f/e5rZSVTK6XNBcURaGja5h//e42amqjLTWyMpL49r88Rlpq4qzHONjbyteO7eCCo3/WRV8qUeT+7FK+uORuck1Jd7QQ4uvP7uLU7vP0tA7QdLaN8CQeEVESkCOTHz17RhKKouB1+ggGwkxXWrfxsWr+9gd/Gaup0903wle++RINzX3odWo+//QW7ttQPmFhrm/q5fP/33M4XdF2MlaLgVXLCsjPsSGJIu1dwxw83kRvf/Q8Vkki3/zKu6muil3vykAwzPu//CzBSSQRrkQgqj2l16rRqCUa2gambIGl1ajQqlVj+xsKRwgEw4QjE8OMkiiQm2ElP8NGVkoij26sJCN5dtfRfHC7/XzrmTc4cKQRu83EV7/0EAtK51bleisS9zjFiRNnziiKwra3augbXWy0GhX3by6nqDAlJoaGIAhkpFu4b1M5jU19+PwhOruHeWNHDU9+aPWsvkMQBKpTc/nWXQ/yh6azvNJSiyPon1RxXAAkQSTbZOGxokoezV9EmiE2feoURZmx/+NciOWis/flY5zcWTvtNlMZTQADXTP3zZzNONeC1WJkWUUOTa39SJKI2xNAlmXEq0KxOZlWtqxbwEtvnEKWFYYcXra9UzPluMsqc1hYEtuQklol8s9/9cCM54FAtKebKAi8vv88DW3RHCFBgASjjoqiDCqK08lIToz25LuUXK1AOCITDEUYGHHT2jXM0XOtNHcNER7tCpBuT+QzH7ybtDnKTswHo1HLp57eRF6unZdePcm3v/cmWzYsZEVVPpnpSWg104fwZ0IQuCFJ7lcTN5zixIkzZ/r6XRw80jiWE5KYqGdtdTHqGPZek0SRVcsL+M1zh/D5QygK7D14kQfurSBlCt2eqxEFgUXWNMqSUvjr8tUc6W+nbriPbo8TdyiIJAokaHRkmSwstWVQYUvDoNIgxXhh+ebru3D4/DNvOAMpZiNfvn99DGYUJTXbRk5ZRszGmw57emzFOzVqiY2rS9Dr1GxaU0p2hnXS0natRsWH37MSp8vP7oMXpkz8FkWBxQuz+MSH12E2xbZaSxRFlpTOTlDTHwjx2zeOs21/LbKikGTW8+jGSh7dWEGS2YBKulwBe7XRcalCVZZlAqG7OHuxi1+9fpQT5zs4eKaZZ367my8/uQlrojGm+zcVsqzgdPooLkxl9apC3nz7HD/91T5+8bsDqFVRUcwEsw6tVo1KmrskRkV5Jk99aM31mfw0xA2nOHHizJnmtoFxJdt2q+m6NO9MSTZjt5vpGQ0HDg17aG4dmLXhBNHFRS1IpBhMPJS7gIdyF8R8njPx9vlGepzz14TKtyfF1HB64n89SmASjZ3rgSHGpeOCIFBemkF5aca0XgtBEEixJ/CppzaQlW5hz6GLtHYMEhlNkBZFgcw0C9VVBTxy32Jys2wxnedcUBSF4+fb+Z/tJ/H4gtgSDXziPat5aF35rB5KhFHJD1GMtjCprswjL8PKN559i8NnW9l3qom8DCtPPrwSvTa2YqqT4Xb7+fI/vIBjxHtFQrpCJCITCIRxewJ0dV/7+Hr99d+HyYgbTnHixJkzfX1OvN7LC67NZpqXkN1UCIKALeny07HHG6Cvf3btSW4lVJI4YyNpBcaa6V4d0NGr1aglEYshtsaHPSO2XqAbzVzCPDarkY+8r5oHtlQwOORmcDhq+FstRmxJRqxJxnENgm8G4YjML187hsPlQxQENq0oYeuaBfPy5KbazDyxdTlNHYP0D7t5bd851i4poLxw/rmIMxGRFYYdnml12m5H4oZTnDhx5ozbExhXWn09F5wrS8yDwQhuT+C6fdf14sOrluAKTO/ZURSFQDjMiNdPv8tDY/8QXQ4nKknkqdXLuG9RMbm22Hv1/lwQBAGNRkV6SiJpV3ksb5UCgLMN3dS3RlXLNRoVD65biFY9v2tLEARK81Ioy0ulf9hN35CbvScbWVCQGvOQ9NWo1RIrq/Kvm+FUUph6fQaegbjhFCdOnDkTLca9fDccdnjnpDo9l+8Zr+KscLsVAguCwFNrqma9vSzLuPxB6nsH+OPJc7xRU8+u+iaqC3PQquK37FhwqxhKV1Pb1DP2QGLQqsnPtMVkrmaDjlSbeaylzOn6aFPm6+AkHofRoOV/f/HB6zb+dHpj15P4VRgnTpw5o9epUakkQqM3+a4eBwODbpLtsalEu8TAoJuuHsfY/1WShE53bXkNCoCiMDEQNh3CjGrjsUYURRINOpbnZVKWnoyiwJ9O1/Ldt/bxvccfxm6+MYm9cW48nX0OInI0eT3RpEMdIzV2URRIMGoRBZGIItPWMxzTSs/pvjcx0XDdv+dGEzec4sSJM2dsNhN6nXrMcBp2eNl/uIGH718cs1ynSERm36EGHCOX+5Dp9Rps1tkbDoqiMBzwcXKwi1bnEO5QkLAy+3YaVq2ep8pWzGnesUIQBMw6LU+tXsa2sxc41d7NkeYOHqi8vn3vFCUqVjhXz55qBnX4ODPjD4THwlqBYHhOJv5MBILhsd/UFwhNJ7kVZwbihlOcGZEVmWBEJiLLyKNXmzD6JK4SRdSiGL9h/pmRk2UlIUE/Jiro94f40+unKCtJp7QoNSYCmA1Nfbz6xmn8/tDY64mJ+gnq0FMhKwo1Qz184/jbNDgHGQn6Cctz60FWkGC9aYbTJbKsiWQmJdA8MMzu+uaYG06KohD0hzi5q5Yjb56mq7kfvyfAXBJT1Fo133jxC6hvQKXWJRRFGVOivlPuP1qNaiycNuLx0zfkiolQpccXoGfQNeZl0mpUcGccsptC3HCKMyWKotDtcbG7vYXtLQ1cHB5g2O9DVhTMGi1pRjNLU9L5q6UrSTPGNkQT59YmJ8tGeWkGHZ2XBRAbm/v5+rde5VOf2EhFeRZGg2bOC5qiKHh9Qc7VdvK9H79DW/vQuPcXlKSTmz1zubgC1A338eWDr3HB0T/2ukDUkzNdmEIAUg1m0vRmKmxpc5r/9UASBGwmI80Dw7QNOWb+wBxQFIXu5n5+9o/Pc2jbacLBa2tCq9Gpb0jo5xKKotA74GLn/joKcpLJzkgi2WZGfZNyXmJFVkoikigSjsj4g2Fe31/Lkw+unNd+KYpCbVMv5xp7xl7LTk264SHoWBEKRejuHSEcimAwakhLuf4K6FcTN5ziTMmgz8s/7n+H3e3NBCLjWwX4wmH6vB4CkTB/UbHsJs0wdlwdlrhTnmCvF5Ik8q4Hl7DnQD2+KzxC7Z1DfOuZN1i+NI+11UVULsrGkqif1Zgut58z5zrYd7CBoyeaGRgcr3uk06l51wOzCwWGIhG2d9TTOBLtn5aqN7E1p4xiix1REPjno28hCiJPl6/CpjXiDgU4NdDFvp5mfOEQGzIKeHrhKrJMN7+KTSG6PwDeYGj6jedIJCzz/DPbOPDKiWtq/Jqaa6ewMofCypwJDXavNyfOtvHfP9+N2aSlYkEWn/jQWoryU27oHGJNeWE6GrVEOCITici8treWstxU7lqchyjMzbN26Z424PDwm23H6Bl0jr1XWZxx2xpOA0Nu/vOHOxgcclO1JI9PP73phs8hbjjFmZJf1Z5iR2sjsqJg0xtYnZFDhT0VjSThCgZoHBkmJyERu/72T/6LKApvtTawv6OVpxevICfh5i+YtzqlRWk89u4V/O6Fw+OkCYaGPby18xz7Dl7EZNKSnmYhL8dGWkoiRqMWnU6NKAj4/EG83iB9Ay5aWgfo7HbgdPnw+UITDFm1WuJ976qirHh2rTCcIT+HetsIKzI5JgtfW3kfK1Ny0EoSYUXm26d2E4hE2JpdRlGiDVlR8IZDHO1r5xsn3mZHRwNVyVlkm26+ztGI10dzf9TzlqDTxnTsrqZedj1/CFlW0Bm1VG9dzJqHq0jOsrLt53t489d7WXFPJY997gHCoTADncOc2nOeYzvO4hx0sXTDQp74u0ewJJsRr3eJ1lWcPNsGgMsdwO0JkJgwOwP9Vqa8MJ2SnBRO1Uf7M3b1j/D1n7zJRx9ayaaVxVhM+tFw3vRGTzgi4/L6udDcx09fPkRN42WVSWuCgXVLC2/bZrsBf4iLjb04Rnxk3iQdsnkbToqiMODz8nL9eR4sKiXNaIo/rd8B+EIhtjVdRFYUJEHgq9UbeKR4wW37lDIT/nCY39WeYW9HC48WL4wbTrNArZZ498NLcbp8vPLGacJXtLJQFPD6gnh9Qfr6XZw+237N36NSidy3eRHveaRq1iELfzhEq3MIAdiQUcja9Pyxc1dQQCepcQYDRBQZQRCQBAGzRsumrCKCcoTP7nuZ/zyzj6rkLPITZpdTdT0Y8fr52f7juPxR7ari1NiqWp945xyBUY/h1ifv5mP/+H7UWtXYe6IoYko0UH5X0VhPsM0fvIsTO8/xs398gZ3PHcKekcR7P30fqnnqDc0FRYmq10PUO1yYa8duNd2w779eqFUiH314JS0/egOHK1oUMezy8b3f7+FPe2pYVppFaV4KtkQjFrMOjSYqjCrLCqFwBLcvwOCIl84+B6cudHK6vhP/FeFXlSRy711lFOck37brdCQij8t7vBnE5EzvdDn5+oFdLEpJJc14+5+8tyOyotAyMoxNbyBRO3914R6vG2cwmvhr1xvZlFtwxxpNAN5wkDP9PTNvGGccSRYjT35oDVqtihdfPUkgcG05MlOhUUs8vHUJT3ygGmvS7KvpQrKMI+hHEkQqbGkTzl2dSkVQjhCUIxP0p9ak51FuTeXUQBfvdDbw8YSV89oHRVFoHXRM2rV+0u2BQDhMQ98gb59v4EBjGwogCnB3Sf685nI1bRe6UGQFk8XAfR9Zh0pz2TBVaVQIokA4FCYciqDRRg0nURJZurGcxz0BvvvpZ3ntZ7uoXFtKxZrSG7oYD494AZAkgYLb2BC4EkEQqCrL4gP3LuXXrx3D44+KpsqKQnPnIM2dg2jUKkx6TVQSRJKQRCFaCSkrBIJh3L4APn9oQs6ZIMDikkwev28ZRr3mZuzevFEUhXBEJnCNuXixIh6qu0Pwh0N8dfcOPlW1ijVZufMezxUMjPVyshsMaMTbO+lyJk70djMSmH8T1j9HLIl6Pv6RdVQuyubFV05w/kL3vNW9DQYNZcVpPPrQUqpXFM5ZmVxBISRHEBAwqq5eJAQSNdGHi0G/Z8JndaKKKnsmpwa6ONDTyscXzM9wAnj6ly/OsVedgjy6GEK0WfHGsgKW5cyuUexscfQ7URSFjIJUEmzmccaHRqtGFEWC/hBBfwjNFRVzkiSy+sGlvPzDHdQcqGfXC4cpry5GuoF5TvIVx8Ziuf3TBS6h1ah44oHlmAxafvfGcboHXONC18FQmKFQGJzTDHIVZoOW6so8PvPBu0lJur2dG15f8Ka3cIkbTncIzY5hOlwjMTmhFEXBHwqPPbHcyZ4mgIgss7+zFYV4he61cKmVxZpVRSwsTefYyVZOnmnj9Nl2Orsds9YDEgRIT02kojybpYtzWLE0D7vt2m7yoiCgk9T4I2EcwfEGsQBYtdGFtsk5xIaMwgn7k6iN5sv0eOewOk1DKBIZS/CeK6IgsKYol09vvAuzLraegtDok7tao5qQ86IzapFUIn5PAL83gOkqIUNRElmwooCaA/XUHWtCjsg31HBKTNAzMORGAcKhazu2tyKCIKBRq3jv5sUUZdl5bV8tu4434PbO/WFEEgVK81J535YlrFmST6JRd9t75jzXcBxizZwMJ0VR8IZCvN5Uz0sXavFHwixNzWBVRta4xVVRFJpHhvmHPW/zldXruTg0yJ8unqff66XYauMzy6vJS4wmdfV7PfzP+bMc7e5k0OfBoFazMj2bpyqWYjMYEYA/1J3j7EAPZdZkXqg7x93ZedxfWMyPTx2jy+3kk0tXsiYrF1EQcAeD/PHCOfa0t9DrcaORJMqTU/mLimXkWZLmvDAqikK708lva09zpq8HTyiITW+gKi2Dj1YsxazREoxEePbMCTrdIzxQUMrvz5+h2TFMToKFJxYtZnlaJtJofoCiKAz5fPz+/Fn2tjfjj0Qot6fwgQUVlNtTEEURgahr9senjtLhiu7fH+pq2NfRSliW2ZBbwKerqhGAI90d/K72DDX9vXS7XXx1z1sY1dGb693ZeXx+5Ro0M6jPtjkdvNpwgXbXCL1eNz0eN0N+L8OBaIz9wtAA97/wiwkGlF1v4B9Wb6QieWLJtqIoBCIRRgJ+Tvf3cLCrjYbhIQZ8HmRFwaTRUJhoZUV6Juuy8rHrDVM2Qe3zuvnXQ3s42dfNI0UL+GzVXfjCIWoH+3ij6SLnBnoZDvgxqNTkW5LYmF3AuqxcErS6SY2+YCTCid4uzg/2UzPQQ/3QIE0j0eRbBfjMjlfRTdHa4uvr7mF1RvakN5+ILOMOBWl3jXC4q4OTfd20uxx4QyF0kopkg5FF9hQ25RZSnGTDoFLPeBNTFAVPKMTF4UF2tzdzur+Hfq8bfziMQa0mxWCizJrM8rRMFtiSser049SGFUVhT3sL/3ZkD75wmPXZeXxh+RoSZgjnKorCT84c4/d1Z5EVhQ8tqOQvK5fPON8ki5EtGxawtroIl9tP/6Cb5pZ+WtsHGRzy4HT5CY4u1hqNhNmkw5pkJCfLSn5eMqnJCZhNumgC+TySV7WiilSDiWbnMBdHBsaF4wRBoCDRBh0XOdjbypOly1Fdef9CGQtTh2P0aGszGca8RzMiRI07jUqiINnKvQuL2VhWgMWgj/mipzNGzwOvy0ckPD6UaEo0oNaoGBl04xx0Y0+fmIiblBrNBezvGLqhXgBBgOL8FBpb+pFlhb4BF4oSff1OQRJFlpZlUZqXyuP3V7H3ZCOHz7bS0ecgGAoTiSjIioysRM8XUYxq62nUEmajjsXFGWxaWUJRth1rgjHmyeCKohAOy8iyjEol3TA9Lc8t0KtyboYT8PvzZ/jvE0fYkJNPqdVOk2OI7xzZP2GBCkYinBvo5Vc1p3D4fSxJS48mjIZCSMLlBfLi0CAHO9soSbKzOjObHreb586fpdfj5p/WbcagVjMS9PN2SxPuYJACSxI/P3uC2sE+Ms0JtI7I/OzMCRbaU7DpDXS6nLzd0kh2QiJVaRk4An7ebGrgwmA/P976bhK0c6tK6fd6+PLONwhEwmzIKUAjSXS6Rqjp77tCeVVhyO9lR3MjFwYHqErLpMRqZ097C198exs/uP8RKpKjzQh7PG7+ad87tIwMsyWvEKNay5HuDr749uv8y/p7WZGeOXb1D/l9HOpqR1YUwrLM5rxCBnxezJrL+2DR6rg7Ow+zRsuQz8f9BSWUWKMJpFnmxFk1cawfGuC/Tx3GHZq8CWkwEqHVOVE/xhcO4Q9PHmsORMJ859gBtjXVRz1hk2xzvKeL5y7UUGyx8YUVa9icWzipkReWZbo9LppHhrkw1E+b08FPzhznj/Xn8IbHJwme7OvmpfrzrM3K5Usr10WN0auOwZDfyye3v4xjitBct8c16esQPX8nQ1YUDnW1839PH+VQVztBefIn4HfamvjJmeM8VFjKl1auI9kwfd5Oh8vJMycO8FrjBXyTHutedrQ2ArDQlsx/bHqQEqt93BZ5iUloJRW1g/14QkHeW1LOIvv0IpX9Pi87WhtpdAxhUKtZmpox7TyvRBAE9HoNOp2aZLuZhaWzq4S78vPzxaDWUJxop8k5RM1QDyNBP5ZRL5IALLamIwkiR3rbONjbwpq0PMTR+9KQ38uBnlYAUnSxaW/ywyceJTJbzxvRJF6TVot6tFLtei1Iqdk2BFGgt20An8c/zsBMybahNWjoax+gq7GX/PKsCfPwOqMPV+FwhBstRb1uVTFv76sjFIpQc6ELvz+I/jbN3ZkKQRAw6jUUZtkozLLx1MMrcXr8dPQ6cLh8eP1BAqEIKklEr1Vj1GnISEkkJck0TrYj1udPJCJzsbGXA0caGXH6yM22sXFdGZbE8cZ9IBhm974LMf3uk6fbYjretTAnw8kbCvHLs6dYk5XDV9dswKLV4Q2H+N+73uL8YP+E7UcCAZodw3x3ywOkmcygKAQjkXGehRXpmfz7pq0kG4yoRJFAJIyMwvHuLrrcToqSokZAv9fDp6uqMajU7O9sQyup+PyKNbzd0sgzxw6OeYKKrFa+ueFekg1G1JJESI6QbDDy8zMnaBgeZFna7BcAgDbnCD0eF59cupLHFlQgEF3IncEAJs34i7TH4+Yrq9eztaAk6l7PzOHLO9/kd+dOs2j9PShEn/4PdbXzzJYHWZedhwA8VFTKV3Zv5wcnDrPsgXePe/rtdDpJLTLx8cVVGNQaZFkmJMtjQn6ltmRKbcmoRYmdrU2szcplbfbccpyKkmx8ccVagleEErrcTl6or8ETCpFuNPHhhUtQX5XnZFSryTZPLj6mACd6u2h3jSAJAkk6PSVJdjLNCahEkU6Xk+O9XXhCQS46Bvnm4T1kJyRSbkuZ9iJvc47wrSN72d7SgCgILElJozgpqs1TPzRAzUAfITnCvs5WxKMCz2x+cEKyvFmj5XPLVxMIX97f39edoXkkKub40YVLyJxiv4qTJq9qEoAuj4sTvV2E5AgaUaLQYqXAYiVRq8MdClDT30ercxhvOMQf6s9h0en50sq1E47rJYb9Pr534iB/rK9FVhQSNVqWpmaQajQhCQJDPh9NI0M0jwwTlmXCsjxBiFQQBDLNCazKyOJMfw99Xg97O1opt6dO6X1VFIVzA700OqJeuCXJ6eQmWOZ8872ZIQGjSkOlLZ0dHRdpdzs4N9TL6rTcsTkVW+zkmZNocg7y9WNv877CSipt6YwE/fyppZY6Rx8Ai+1zu19MhiAIt2x/ufzyLERRwOvy01zTTuYV3ebT85MxJRoY6Bxm35+OU7VlETqDFkGIJiOHQxHO7I8uiuZEww1395SXZrB0UQ5HTjZzobGH2ovdLKvIue1DUZNx5T4lmvQkmm6u9MKI08cPfrqL0zUdKIqCRiMx7PDwsSfWjtvO6w3w7//5Zkwbc8/ac3sdmZPhVD80gDMYoDojG4s2Gis1qNTcV1DMSxfPT9heVhQeLCol1WiK3qQFYUJ3b5UoYlCraR0ZxhMKEZIjaCUJfyQ07uk+YVSpWiNJGFRqshMSMarV2PQGvKHg5SRKBBJ1OjpcI7iDQUJytFWIolx2v8+FTHMCqUYT/3P+LBadnorkVFKNJmyTaBeZ1Bruzs4fC8sttKdQarVzsrcbdyiIRpTY295KqdXO4pT0MU9IljmBNZm5/LLmJM2OIYqv8BioJYlHiheMhd8kURwbP1bkJlj4aPmSca+d7uvhtaYLeEIh7AYjTy1ahn6S8NVU+U9aScXTi1eQYTTzUFEZK9My0alUY0/1siJzYWiArx/cxbGeTtqcDp6rq+Ef12yaNpxaO9jH+aF+FtpS+NLKtSxPyxwzPIKRCDtaG/nmod30et3saW9hf2cbDxSUjBvDoFLzkYXj93dvZwvNI8OjhmwZVVN4WKbaX0EQ2JJbyMHONoqT7NyTV0iGyYwkiggIKEQfGn5+9gTfP3UYfzjM9uaLbM0vYWnqRI+MQvQ3eGtUR2tVehZfW7uFnATL2BwURSGiyHS4nexsa8KuM2LWTHziVoki7y5eyP/U1TDs9/HChRo+tfluUgAAIABJREFUUr5knOfySoKRCPs72xjwedGIEhtz8rHqbi+NHEkQqE7NIdtkISzL9PpcYzlsgiCQY7LwrryFfL/mAPUjA3zr5C5UooisRJPKFaKime/OX3ST9+T6svjuBeiMWjwjPnb/8ShrHq5CkKLnl8liZNnGclpqO9nz4lESrCa2PL4Gg1mHz+Nn5/OHqTsa9XaWLi8Ykyu4EQiCgNVi4GOPr2bE6aW+sZef/GYfX/rre8nPsd+RxtOthNcbpK6+e8wgCgYj7D/UMMFwUpRoMvvNTuaONXMynAZ8HjSShEU33h2XMk24If2S0TQFNQN9/PTUMVqdDoxqzWgozDnhQOtUqmgcd1RzRTsa0rnU1+dSx/N25wg/Pn2Mc/29aFUq9Co1gz4vgUjkmn68dJOZL65cy09PH+Oru9+iwGJlc14BDxcviO7blU8CWh3SFXFk9eixCkYiOAMBknR6ej0uUo2mcV43QRCwG6KGWJ/XM85wkgSBVOP1fVq9pGNzJVcbCJIgzMlgEwWBzTkFbMopmCJ3SWJxSjr/z+IV1Az04guHOdLdgawo0yajK4BZreHv79rAqozsce9pJImHCks509/Ds2ePI6Owq61pguE02f5e+T9xjvt6iSSdnm+uvxeNOHmzU62k4onyJZzs6+adtib6vB5aRoYnNZxQFPp9Hob9PlSiyPrsfIqTbJOOW5JkpyTJPnGMKyhKsrM8LZO3WhrodDvZ29E64bhcwhkMsKu9GYA0o4lV6dkxN9avN4IgsNCayqcr1pBrslBhSx93XmkkFY8VLabBOcirLbWEFXmcXECq3sTnF99NjvnO1vOy2M0sXlfGgVdP0nimFceAC2tq1NsqCAKbP7iaHb87gHPIzSs/foc9Lx4l0W7G7fAw1DuCIitoDRpWP7QsZs2dZ4sgCJSXZPDZj2/iv3+xi3P1Xfz7D7bzngeWsXJpPmaTNm5AXSfUagmb1URn9+UUjtSUhJs4oxvLnAwnlSBGGyteZYHI08S2VdOUsTv8fr5xYBeeUIgvr1pHgSUJjSTx+/Nneam+dty2giDMWPLkCQb5rxOHOdjRxlfXbKA8OQWtpGJ3WzPfPXpgpt2bkhXpmRRbbTQND/FifS3PnjnB7rYWfnj/I+NypsJyZFyYX1EUwlcI7AmARpRGG42OP2aXmo9ebWQIgjDtMbyVmc1iW52RjU5S4QuH6fW4xgzg6dicW8iSyYwNosdvc24BP685EW0U6xiadLvrhVaa/pJK0GhZlprOO21N+MIhHMHxeSVXopEkVKJIRJZpczoYCQZI1FzbYiACj5UuYmdbE8FIhNebLrAxJx+9amJT1tP93TSNHrdyewpltuQ5f9+tgE5S8+78RWNepqtJM5j5+6otrEjOYnt7Pe2eEYwqNZW2DB4rXMxCa8qUYdQ7BUkt8cBTGzAnmbjvI2sxX1XWn7sgg/d/biu///areEZ8OPqdOPovVxqqtWo2vr+aqs2LbnhJqizL+Pwh8rJtfOqpjfzyhYMcOdlCc/tbpCYnUFaYRmZGEgkm7ZyNus1ry9DHuILxTsKaZOSjj6/muZeOMTzsIS/HxpOPr572M3qdmqWLczAa5qd+394xRN3Fm6u5NyfDKTvBQjASocvlJCLLYwtjk2N4hk9OTqNjiHbnCB9YUMmarJyx5ps9btc1eYd6PG7OD/SxMiOLe/OLxsYb9vvm3BX9SoTRHJ1laRksSU2nKj2TbxzYzaGuNu7NLx7bbsjvY8jvwzgaLnEFg/S4XSRqtSTp9YgIlNmT2dPWgjcUxjQaKglFIjSPDKMSxbFqw7kiCgKKwg1ttBkLDGpNNHwbgLAiE4xEpl2sREFgQ3b+tLpSmaaEsXu4MzC1YXIzEAUBk1qLOHpuBsLhyWUQBIHiJBuFFisXhgZ48WItIVnmfaXlLLClXJMBVZGcSlVqBoe7OzjV101Nfy8r0rPGbRNR5LGcKkkQeE9J+bgqvduNmaQ07DoDT5Qs44mSZWMm+6VPxOqcURSFi72DhCIRrCYDaQlz664QkWXah0dAgZQEI4ZJwrHzoWrLIqq2REOSV89LUkm86xObSUpJYPuv99Hd3I/fF0Cr12BPT6J66xIefnozBvONL3Pv7nXy7z/czuCwh4FBF25vEEVRcHsCuD39NLZMzLudLSuW5MUNp2mIqvmXc++mciIRGZVq5iIGm83EZz+5hbR5eKYUBd7YUUPdf2y75jFiwRwNp0TyLUm83dLI1sISMs0JOPw+Xq6fmN80G/QqFaIg4PD7CMkykiBworeLA51tXMvji0aS0EgSDr+PQCSCRpJoGB7krZbGcYnPc6HT5cQTClJosUaTIrmcnKYZ510QCEYiPHf+LH9dtQqNKHGoq53agX4+tLASraRCURTWZeXyWsMFXmmo46OLliCJImf7e9nV2syarNwZq6ymItkQbVTa5nQQluVoQ8hLM7tJRsNY/FuOUD80QJNjmG6PC2cwMFaRF4iExwlPzmT3mTUa7AbDtPt0peElj3pIZ1NdGAsUJeoz6/d6OD/YR5tzhOGAD1cwSCASJhAOUzc0MKOBKwBFFhtPLVrG1w7sHEso39/ZyiJ7KhtzCticW0jKqGTHTL+xIAjY9QbWZeVxoreLbreLIz0dLElNH3e82p0jnO6LPs1lmRNZnpZ5R2tbXXncrud+/svrOxlweXlk6QI+vnb5nM5HXyjMV1/cTjAc4en1K9myoChm85rNeaM1aNj8wdVUri2jt22QwKjhZEu3kJprR7pJhrXb6+fY6dbrM/jt9fx5w7ks7QHiLL2yKknCaNDMcz1SMBpuvkE7J8NJK0l8cdVavrZvJx995QWyzIm4QgEKLVaSdHNv81GcZOPunDy2NdVzYWgAtSgy7PexISefPe1zvyDSTWbuzS/ilzWn+OirL5Co0dLn9VCZkkaPe+oS8+m4MNTPvx/eR0RWsOn1+MMR+rxuqjOyWJUx/mk9OyGRU73dPPGn51GLEq1OB2U2Gx8uXwxET7a7MnN4eskKflN7mj9dPI9RraHT5aTUZuczo9pM10JFcipLUzP4r+OHeKWhDo0osTorl79cUoVauPE3NkVRaHc52dZUzx/qa+hyuwjLMhFFHiesKQjCnIxag0qDboZw2M3CGwpxsq+bZ88e51RfN95QiPDo/l7yeokIs/YKaiSJ95WUk2Ey88NTR6kd7KPHE9XZ2tvRwvdOHGJDdj4fWlhJkcWKfgZdKJUosSEnn+cv1NDqdPBaYz0fKK3APmqsy4rCzrZmBn3eaJJ8YemUCeRx5kbboIMep5sBt/eaPt894qLL4eJoc0dMDafZIggCKdk2UrJj2ytvPkiiiMkY+/PzkiZSnNiiVksYYiAXcT1+87kypxVIEATuysjmu1se4GBnG75wOFohlppOuT2FTNNlF5xNb+DTVdXkJk6dXKmWJP6uej0r07NoHRlBp1KxIj2T3EQLOQmWsaTzxSnpfGSRMqb/9Hh5JaWjCdTZ5kT+YvEyLFo9KlHkLyqrKEyyUj84CAIsSUmjMiWNoiTbtHOZimWpmXx+xRoaHUN4QyG0koqiJCvVmdkTFnCVKPL19Vs43NVBj9vNe0sXcndOHlb95YokrUrFU5XLKE9O4VRvN4FIhAJLEndl5mDVGy57iYDVmTkkanWzqvLVqVR8c8O97G5rpsfjRiepWJaWccM8LVdzfqiff9j3Nsd7OqMJ3RoNi5JTyU2wkKTTY1Sr0Ukq1JLEd47un6DHNBWSKIxV5t1KuIIBfnnuJD86dZSRYAABKLBYKbJYSTGaSNBo0alUaCUVx3o62d7SMKtx1ZLE+ux8lqSks6+jlR2tjRzp7qDL7aTH4+L3dWfY0drAI0UL+MvFy0kzTB8GKrMmsyw1g1ang/OD/Zzs6+aevOhCPBLwc6irHX8kTLLewNqs3DmfP4qi4BjxMTjkxusLEgiEmEeUfAJmk5aFZfOXCLidEAVIMujpcrhoGbi2tIg7kZTkBL70V/del7HNpvn3+4wzHpNBiyoGyvKGeeZIxYI5P7pLoshCewoL7SnjXv/Y4qpx/082GPnbVeNLEyfDpNHwruIFE15/qnLZ2L+r0jKoukJ/6cmKy+/lJFr45NLLvaQ0ksSWvCK25I1/KnuyYumMc5kMi07HPflF3DPjlgoRRSHZYOSxBRXTbikKAqsysidUhV2JIAisz8lnfU7+rOYpCALpJjMfXFg5q+2vJ8N+H88cP8ixnk4AqlIz+MLyNeQlJpGo1aJTqaPJ8oJARJH5/snDszacbkUURWF/Zxv/99RRnMEASVodTy1axgOFpdh0egyj1aLiqP6NgDBrw+kSiVodDxSUsC4rjy63k70dLbxQf45mxzADPi+/PHeSHo+L/7PhfgzqqZ/qVKLIe0vKeaWxjrAs88KFc2zOLUQAWkYcnO7vBqAiOY1iy+RVfJPtv88X4nRNOzv31tHU0o/XGyQUjhCJyDEtRV5Qms43/uE9sRvwNkBAwKiN/qbD3ng/xUskmHRsWlt2s6cRZxqiobxoUZnFMn9JE0EQUKslNBrVWAeCm8GtGfOIc1tzsreL46NGU7Y5kW9tuJ+CxKRJF2FvKBRTcbSbgawoPFd3FmcwgEoUeaJ8CX+9dBUqUZywz7Ki4LtGI1EQBBK0WswaOyVWOx8oq+CVxgv85/ED9Ho97Gxr5o3mi7ynpHzacZalprM0JZ2jPZ2c7Ovi3EAfC23JHOhqo8fjRiupWJ+dP6lW2YR9l2Uam/v58S/2cuxkC5FIDN1Lk+B0/XkaDpcuEf8UyvVx4tyK6LRqHn/vShQUyorn1kFgKiRJRK9T31TD6daLecS57enxuHEGov2ElqSkRxOYJzGaFEWhZcQxr4rHWCFckV02G0mEK1FQqB8aAEAnqVidmYNamlzLyR8J0+GeX+NYQYj2pErQ6vhgWQUfLY96U33hEDUDvTMaolpJxUOFZUiCgMPvZ39nKyFZZseoFyxRq2VDdv6s+ujVN/bxne+/xZHjzdfdaPpzJRiJ0DE8AoBBM1E+Yj74PH7eee4gXU29yPHfL06M0es1fOKpu3n6qfXcvWZy3bi5IkkiWm30OrhZmWhxj1MMEBCw6Q3kJCTeMmXvNxOFy0Up0jRJloFIhJcbaq/ZAxNLrtTj6vV45vz5K00V1RQ5WJcMxT2j4pLTjqcoKETDetOdU6IgUDjaBubKis/pEAWBVelZFCfZqRvq51hPJxXJqWNtk9Zk5pKdMHnLmSvxeIP85Bd7OH+h67opAwsCmIw6zGYdOVk2Nt19a4dmFEUZJ8g72fuyrAAzGymyouAJhHjh+Fl6nW4AClNim5x9Zt8Fvv+3v0GtUbHpsWo+8S8fiN/D4tzSZKQl8l//50OEwxH0utg+SMyWuOEUA9SSxNNLVvD0khU3eyq3BCkGIwkaDYN+H2f6euhyuyhJGl+G6g0F+d35s7x08fysm59eT0qT7LzKBRTg1cY61mTmkDTrNiMCBRYrnW4ngUiY/Z1tVCanjWsvJCsy9UOD/Ouh3fR43DOOGJZldnc0IyBQmZyGXT+5BEOvx81LF6NisVpJRcGobMa0sxUE8i1JVGdkUT88QP3QAH+sryUkR8bas8xm6Tx+qoXjp1onGE1qtUROppWMDAsmgxZJJTI07OHA4Wh7Do1GRUV5JlZLtPgjFIrg8QboH3DR2e0gFLpcZanVqHjisWru2bSQJEvsO7zHGkWBXx06ie+qkJo7EG2gXdPZy0/2HZ2VcRIIhbnQO8ChxjZkRUEQYH3J7HIeZ0vtoQa8Lh+KrJCWf3sKncb580Klkm66SnnccIoTcyqSU8lPtDLo76R5ZJh/2LeDx0oryLckEZZlWkaGebu1iUPd7RhUaoos1huu8H01m3ML+eHpI3hCIXa1NfP/7n5zLM8nGAkz5Pcx7Pfx7uKFE0RKRUHggYISDnS2EZJlflN7GncoyIbsfEwaDUM+H4e729nV3kybc4QFtmTanSO4Q8Ep5xNWZLY11bO7vYVscyKFFivFSXbSTCa0koQ7GKRheJDjvV2c7IsmdOckJLIlt3BW+6uVVNyTV8SL9bX0eNzsbGsioihU2lMos07fvgWiuU1v76ob9Z5cJi01gb/48FoWlKRhsRjQatSIosC5ui4OH4uG8wx6Ne99uIqllTmAQjgiEwyGcbkDdHQO8adtpzl1tp1gMEwgGObAkQaqVxZgTbo1G+VeiazI/HjPUQY9k8sOnGrv5lR795zHFYCVeVksz8uc5wzH093ShyIrSCqJ8urimT8QJ06cuOEUJ/akGkx8YcUa/tee7bQ5HRzu7uBYTxeXnAWXdIwW2VP525VrOd7TxX8cv/aWOLGgKMnGZ5bdxQ9PHcER8LO9pYG3WxujnoHR0ItOUrE6I2eC4SQA9+UVcW6glxfqz9Hv8/CzM8f5ec0JBKIhNFlWMGk0fGhBJQ8UlPDl3W/insZYFBDQq9QM+30M+Lyc6use04FCuBwSklHQiBKLk9P4+9UbyTCZZ73Pq9KzKbencqCrjSG/D0kQuCeviKSrelFORlf3CC1tA+NeK8xP5kt/cz+lRWkTPENajQq1SiISkQmHZSRJwHCVkJ3NaiIvx8bKqny276zl2V/vY3DIw+maDr79X9v5wqfuIe8Wb+AqiiJPr1/B0eYO2odH6Blx4/T75xXKTNBpWVWQzac23kWSIbbNlr2jyfZJqQmYLZPnIsaJE2c8ccMpTswRBIHqjGz+bf19vNxwnsNdHXS6RwjJMia1hpyERO7KyOE9JeWUWu2EZfmmq1NrJIkPL1xMpsnMyw111A72MeDzIisKBrWaZIOR4iTbpJVmgiBg1Rv4m6rVFFqsbGu6SINjEEfAj0oUSdYbqExOY0tuIVsLSpAVBZveQOM0hpNaEnmsrIJkg5GTvd20OR0M+Lz4wiEiStSIs+sNFFisrM3KZVNOAXlTVC5OhSQIvK+0nANdbQCkGk0sT8ucVYuV7t4R3J7LFW46rYoH76ukpDB10nCaKArRtgwBCI8aT1dzae5arZoH7q0gEpH58c/34PYEOHuuk988d5gv/839aDS37m1LFAQ+etcyPrhiMZ0OJxd7B6jr6ecXB07gDYYoTrGxJCd9XDHCVKgliSSjnoJkK6vys7AaZ65ynCu6UeNVFMWbl2k7Ba+8dQaX++ZUUT5y3+J591SLc+dy696B4txUymzJ/OHRDxGRZbSSaly+zmy4lIBckZyKMxAgEIn2ZJMEAZ1KRYJGh3Z0gb4rI4d3PvAxBEHAoJ6Y7JdiMPGdjQ/gC4dQiyLJBtO0351qNLLjsY+hoKAe1U+aDWaNlgcLy1iXnY8nGCQkR8b2RSNK6NRqTNNoJCUbjHykfCnvKlowphouEG0BY9ZoMGo0SKONsp/Z9CC+cAirzjDpeiUJIhXJaSywJuMOBfGHw4TkSFSFfHROalFEr1Jj1mgnNIeeLWlG85hXrNSaTGVy2qw+Nzjkxue7nMdjsRhYU100ZTNVURRRq6O/dzgcIRSeXi1eFATu3VROY1M/r755GllW2L3/AhvWlrL2rls/pKRRSeTbk8izJbGhtIC3ahto6BtkeX4WX9iyJmqozIAoCKhEEUmcvkBgPmSXpCOIAq5hD0F/6Jbq6/j8K8fp6Lo5gp9b1i2IG05xpiRuOMWZFJ1KRW7C3JXWr0QQBIxqDcZpjI1L35VvsU75vkoUSZ9DCEolSuRbrr1ZskWrw6K9NuVglShi0xuwTRNRuSRWOhMCo14HKbbhmSt5pbEOhWgl4AMFJRhUs6tScXv8BEOXdVRS7AmkJk+dsClJwphqcDgsEwpGpl2kBUFAr1Nz/z2L2HuwnmGHl2AwwqtvnmbFsryxcuRbHUGIeg/L0pJp6BtEJYroNeqxBuk3m1X3L+HF/34Ln9tP7aEGMgtTb/aUxgjNwsC+XsxVkiTOnxe3xtV7h+Nz+9n26330tg/GfGy/L8j23x6go7E3ZmNGS6bl216YMs709Hk97OuI9oS06fWz0m66RCAYHqfbZLNN3+rlSo8TgMcbmDHvRxAESgpTSUu5LI3Q0emgq9sxqzneSpSkzpxwfzMoqMhmzcNVIMC2X+zGNeS5Za57SRQQZ/gjiQKSJE4aHhaE6IPQZJ+b7FRVqyRKClLYumkRBt3NbyR7J6AoCuGwTOQOW0/iHqcbQCgUoaW2i7JleTEfOxKK0FLXRU5pbFRZAUKBMG8/f5jq+ypJuslln3GuD8FIhBfqa+j1uhGA95SUY521/AIoMuMMH/UMPahUKhHdFV6ioWEPsizP2FldrZZYuCCd8/XRSrQRl4/2zmHy826v0vmKrFQsBl3MBSzni1qj4iNfeZSgP8iR7Wf44d/9jsc+v5XsknSkGPQVmw9///mHCEyjDi2JAga9htaOIZ75ydsMDLnRaFRkpCaSk2mlOD+F9NREEkw6dFo1kiTiD4ZwewL09Dq52NxHS/sAHd3D+ANhCvOS+eIn7yE/x45GfXP3/U5haNjDV7/+EnnZNqpXFlBSlEZqsnlWoepbmT97w8kx4OL4zlp62wdJz7VTff9iNFoV5483c/5oE5bkBKrvq0RRFBpOt9F2sYeUrCRGBtyk59lZsq4Mr8vP/tdPMtznZOGKQhaujPb+aqvv5tjOWkRJxO8NIMsKZw7UY0zQU1CeRSgYZvdLx1nz4BIMUzSV7Gzq5chbNfi9QUqW5LJ0fRmCINDR2MvRHTUIoojPE0BRFGoON6DRqilenEM4FGHPn46z6p4K9CYdp/dd4OLpNpIzk1jz4BK0Og1v/f4g1rRELp5qJS3XzuqtS5Blmdd+sZcD207T3TpAVmEK1fdV4vMEaK3rYtnGhXhdfk7vu8DKeyrwuf1cONmCKAhcPNNG+aoiFq8pIRQIc2DbKXraBikoz6Rq48Lb/mK5U5AVmb3tLTxfV0MwEiE/MYkHC0pnnQsGUS0mSRLHvE5XJopPhloljaui6+lzEonIs2r6abdeDmv6/SEcI5OX+t/KlGek8s+PbCHHapnTcb7eCIJAWq6dT3z9AxgS9Lz9uwO01nWy6v7F5JRlkGgzo55FMr4gCixYWRjTa7x0hrChoiicru3gJ7/dx8CQG7vVxPseWsbd1SVkpCZOmW93CVmW6R90s/PABf74+kkuNPbw/Wd38rlPbKEg99b0EN5u1Df0UlvXRW1dF2++c44PvX8VTz6+mtt9KfizNpz83iCvPrsbvUnH8k3lKLKCKAqcP9bMnj8dZ8Ojy6k70cLrv9zL2oeWsuP5Q6zYvIhtv9rPlseqeet/DlGyJI9Xf74blUZFxepitv/2ICqNiuziVF780TssWVuKIInseekYgiDgdfk5e/Ai2UVptNV3c+5IA3e/a9m088xfmIVGq+LFH72DPSOJ1BwbL/7wbcpXFqI36djz8nEEQcDn9nNy93lyy9Lpau7nzP567rp/MSd3n+f4rvNsePdyDr1xht3B49z7+F3seP4wC1cUUH1vJdt+vQ9jgp5l6xdQsjSXuhPNLFu/gNRsK3qjlvaLPZzYU8eSdWV4Rrwc2n6GpXeX4Rz28PJPdrHh0SqWbypHb9SiKAo7njvEUJ+T5ZsW8tbvDqJSq1h6i6s+36m0jAyzu70FjSTiC4epHehjT0cL/V4PBpWaD5ZVUGKdW5m/Xq9GpbpsOA0NeZBHr5/J0GrVJJove7Ra2gYIhWW0s8i/1esvG1zhcASvb2r9q1sRQRAw67Tcs/DWS2r/4/e3c2ZvHcP9Iwz3OgmHIjSeaaP5XAd6kw61VjUr0VGNTsOPDn8dje7GrIiKojA47OHXfzhMW+cgtiQjf/XUejauLp3R+3kJURRJsZt534PLSLGZeean73DmfCe//uNh/vaT98STw2PA2dqOsX/rdWrycmzR6trbnNt/D+aB1+Wjp22QtQ8upXhxDiVLc1GpJepONFOyOJcFKwpY+9BSzuyvR47IWOxmChZmkluaRuGiLCSVxMiQmwOvn0KjVdPTOkgoEKLhTBsehw+Xw8PKexZRubqYnNJ0BAGKF+cw3OfEMeCi7kQzi6qLUE+T6GpMMCDLMq4RL+L/z957h8dxXufb98xsr+i9VwJg772r92JJkWTLVtxLEidxHCdO7C+Jk18SlxTbsmxFsqxmq8vqotjF3kCCJACi97oAdhfbd2e+PxYACRKNJECA0N7XZRkEFoN3d2beed7znvMcSaSnw47H6aW73c7Kmxcwb3U+2UUpAGTNScHZ68Le3U9VaQP5CzJRa1SUflKJJIm01XchqSWObD8NgEqtYu3tiyhYlEn+ggxa67qQVBKJabGYrAbSchNIzoq/ZHzK0H/CiJLApvuWk78gg7S8RIKBEPveL8Vg0tJW34UoiZQdqJrs0xdhgjQ67Pzv8QN8b882/mn/Tl49d4ZOtwudSsWDA73u1Je5BIyOMgzbeuuzu+m2je6IbtBriIs9Xw1Z19A95usvpP+CknRZDuffRZgcjmw7xcH3S6k8WkfnBTmYckjGZXfT1+mgp90+gf/1XfOE6pNnmzlSWg8IrF6Wy8ZVhajGiTJdjCCEixbWr8pn6fwMZFlh575KKicxZ/TTTH3j+WvKajVQVJg8Y6o2r4ZPdcQJwiuXi+vBBUEYcRKQVBIIApJKQhAHnFgUBr4nIkkCy2+cR3Zx6sAxBRjoNTZ4sUQnWEjOiufkJ5X0tNtZd+fiERMVAUIhmZf/90NSshNISIshFAwxqFgu/JXBY8ckWrHEmqkua6S90cayLSVDq0VJJSKIAun5icxdEXaXFkQwDEQBRElEuSifQBn8fMJ/JFy2rigEfEECF7zWYNQOJFyeH5Uw8HmJosDclXmk5CSM/CYjTDlmjZYMSxSeYAB/KIRRo2FBfBI3ZeVzW24h+hEsIMYjMd6C0ajF7vAA4PEGaGqxkRA/crWgRiORlGhFpRLDVXWBEHv3nyMzfeWYE6miKNQ/W6y8AAAgAElEQVQ1nDfalCQRtfpTP21NGtEJVhLTr77/nUanvuYPxANHa5BlBY1aYun8zKvKS1JJEkvmZ7JtTwWhkMy+w9UsnpcxiaP9dNLbd35b3WLWkTBG5e31xKd6BjKYdSSmxbDv3VLmrswjFAyRXZxK0dJsdr15jOSseCqP1zNvdT7iKCsZjTYctfH0e8mbl47H5Udv0GIw67BEGzm0rQy1RkVLbScQDg+vvWMxv/r+y+QUp5GcFT/qhCOHZNobbCxYW4jOoMHj8g2NOzY5igMfnsRkMdBUHV4dSSqJZZtLePfZPZhjjGQUJCNKIovWz+HYzrMkZcQRDITQjxOC1hk0SJJI9clGAr4AcSnRmKx6nH1uzh6ppaGyDVu7fdTfV6kl1t6+iO62PoqWZuN1+zGar6y8P8LVMy8+kd/ech9BJVzZIgoCGklCJ6muON8mJSmKKIt+qMLN5fJRdraFRfMzRsxzEQSBvJwETEbdUI7SBx+fZuWyHPJyEka8BxRFoaHJNizcr9GoMI+SD3i9oCgKvmAIl99PMCQPOelPBJUoEm+evNYz3/zpZwkFrr7kXxCYUC7UZKEoDEWFRFEkJenqrFMAkhKsCMLwY0e4Oi6svLVa9BPeRp3pfKqFk1av4Y7HN3Js11mO7TxLak4C2cWpFA5Uv509XENUvIUVN8wDYOHaQqyxJhasKcQcZWDFjeHE69seW8+hj05xbFc5MQkW0vMT0Rt13P3lTRzbWY7Roufer24hKi6sthNSo9Fo1eTOTUM3hohRa1Q8+Gc3cXLfOSwxRj7zjRtJSI9Bo1Nz71e2cGT7aQK+IPd9bQuxyeGJI3deOsXLckjJScBoCUeTFq2bg0ar5tS+cwiiwNLNJQBsvHspJmv4Nblz0wkOTKDmaCM3P7qWE3sq8Lh9LI8xkZKVwKb7lnGutJ6kjDju/uImNFo11hgja25bhHBBHoQgCGy+fwVHPj7N8d3lGMx6kiLJltOGShSxTCSZ6DIwGrUUz0nlbGW42i0Ykqk4106f3TNqT7mCvERiY0xDwqmlrY9fPb2LLz62njn5ScPEk6IotHc6ePbF/dh6zm/pmU06kpOslxz7esHu8bKrso6y5naaevvo9/oJXsbWY0qUhZ89eNukjWe0opTrgcl2Fb+wXN4xTY7lsw2z6fy8o8izx45AUGaTucIMR1EU/L4ADRVtvP6rj/nWfz6M0Tx15oYRIkwlx0ob+M4/vEwoFJ5CoqIM/PPf38284tRRI0i/eXYPL7x8aOh7oiiQkhTFmpV5zC1KJTbGiMcboLqukx27K6it7yJwQUSkpCiFf/vBfVgt19d9oygK9bY+/mf7fvZVN+D0+q7oONlx0bz355+f3MFdh8iywkNf/Q1tnXbUaonvfuMmbtxQfMXbhYqi8Nq7x/mf/9uBooQr+p76yecmedSfPv7rl9t4450TAMwpSOIXP3n0svPQZiKf6ojTtUYOKRx4/xSnD1bxwLduuq5XexEiFBUkk5URR01dFwB9fW4OHamlZE4KkjSSIaHAHTcv4OOd5XR0OYDwA7C5tZeXXz/CK8LRoeS9wSbGFyKKAjdvmYvlOtv2VRQFu8fLTz7ay47ymqHsSUEAg1qDNIGqtUFMkxw5vG4RICs9lrZOO4FAiO2fVLB8YRbRUVe2jWnr6Wf7JxVD11xm2tXnfUWAFUtzeOu9UmRZwW730NhkI+c682AbiYhwuoZIKpGN9yxl4z1Lp3soESJcNVqtihs2FVNXvwe1RmLV8lwWzEsfc9UfH2fm3jsX88wL+/B6z/e6GypEGCP+Pb8kjXWrC67LqpzSpjb2nqsPt7cRRZZkprJ5Tg6JFtNlrcANmoijNYT19dIFmRw4VgtA6ekmnn/9EI8/tAbDgH3FeNfJ4GaL3enh2VcOUjWQh8rAsSNcPUWFyeRmJ1BV00Gv3c3J081kZcRNyOJiJhMRThEiRLgiRFFg5bIcnP1e1qzIIzszHp1OPeakKEkit900n25bP398vxSfb3Rn6EEEQaC4MJmvPr6RKOv1tUU3yI6KGvyhEIIgcP+SuXxz8yqiDDpEYeoa+E4Ej8uLHFLQ6jWoJsEt+8LMj6l+X6uW5vDu9jJqG7rxeAO88V4pldUd3HfbYgpzEzEatGg0EipJRBgoWFBkhWAohN8fwuX2UVHdzu/fOkJVXSfBYDjXLD87geULs6Z07J8WLGY9jz64kv9+4mN6el188HEZC+amkZ15eb5xM41IjlOECBGuOR6vn1fePMb728poa+8btW+dxaJn9fJcHv7MCjInoWx+OlAUhQeffImylg6seh1vfP0RkqNmRln2S//5Nu313dz6+AYKl+Rc8XHsNien91fR1WwjFJQxxxhJL0gmf2EmqimyjwiGZLbvLefnT++kb8AWA8LRqLg4M7kZccTHmjGbdGg0KgTCPRadLi9d3U5qGrrp7nEOu/biYkz8+Rc3s25l/oxpxHy94/cHeW9bGU89uxdnv5eVS7P5yuMbr2vxFIk4RYgQ4Zqj06p56N5lrFyazbHSBo6VNtDWYcfrDWA0aImNMbJgbjrzStIoyEvEZLy+c3vsnnCVVlZcNLGmybMTuFpO7avkzIEqSlblUbA4G7hgy1RgmAfdSCiKQm1ZE8//v7c4c6CK/r6wg7zWoCEmMYp1dy3h3m/ehDXOPOkPSZUksmFVAV5fgF/9bg8uly+85Qt0dTvp6nZO+FgCYDbr+fKj61i5JGfaRNNgHON6FRQjodGouOWGeWjUEs88v4/Dx+ux9b7Hlg1z2LKhiCirYeA6u/xjC4IwbmudqSAinCJEiHDNEQQBjUZFfm4ieTkJ3H/30vPlygIICIiSMO1bWZPFYHNfk1ZzRQ+IqcTvDdDd2kdbXRettR201XXRb3djtOhJL0gmsyiV6ATLJedBURRsbX088d0XOX3g3LD8NJ/bT1tdJ6/9/CNs7Xa+8m8PYY42Tvq51GnV3L51PrlZCbz8x6OcOttMT59r1AjmxQgCxEabWFCcxkN3L6MgJ2Hae2ruOlpNZkoMKfEWtGrVdX39h0Iyza29eLwBkhKs3LR1Lq//8ThVNR3U1HXy2xf3k54aQ3ycGZNRc9mffWFeEveO07JsKogIpwgRIkwbgxGN2b4rkmy1UNHeja3fPeGH+rXkwHsnOLq9jJqTjfgu6AWoN+lYtLGY+75104hNfE/ureDMwSpQICUngXV3LcUSa6K5uoMD756gr8vBnjeOsGRLCZs+s3JKxi5JInMLU8j6+k2crmjh5NlmztV20NBso7vHNcyEcfD18bEmMlJjKMxNZGFJBsUFyTMiqqko8J/P7SDKpGdBQQprF+awoCAVo1474wT3RHC5ffzzf7yNw+nF4fDguaAgRJYVvN4AVTUdVF2h4ajL7YsIpwgRIkSYjazNz2JXZS0Ntj6aevrITZhZ+VpVJ+qHvhYEEEQRRZbx9Hs58O4J6s408YOX/oysotRhv3f4w5MosoJKI/Hlf32IJVvmolJL+Nx+Vt++iH//4m/o73Pxxye3s/6e5ZOSgD4aJqOWFYuzWTw/E4/Hj9cXwOcP4vb4cXl8gIBRr0GvU6PTqtHp1Bh0GlQqcUZFdUJBmZrmbmpbuvn40DkSY81sXV7AxqV5xEebMOg0M2q8YxEMylTXds7IxcLVEBFOESJEiDDFbCjI4vcJsVR32vjN3iN89+YNRBtnVoWgRqemeEUeaflJGC163E4vDRWtnD1UTVtdF8/96E3+5jdfQqs/b4nQWNEKhJuRL1hfNNR2RWfUsmTzXG7+3Dpe/Z8PaKpqp6G8hdz5U9v/TRAENGoJjVqPFT2j1T5dD8JDUcDh8uJwealq7OKF94+ypCiDdYtzKclJIj0xalryeyJEhFOECBEiTCmCIJBoMfOl9cv5zw/3sO1sNaIg8OUNy0mPtiKEk7ou7jU+5vEmG1ESeeDbt3Lz59YRPfBAlkMyXS09vPnENt5+aifnTtRRf6aZwqXnq+9cznA1W3SCBZVq+ENcEAWW3Tifd57aSdAfpO5M85QLp4u5HgTSxcRGGXC4vcgXtShxuHzsPFrFwbJ60hOjmJefwo2r5jAnM2GoanCmvV+TUcu/fP+esezZroq4mOkptIgIpwgRIkSYQhRFodftYU5yHI+tXszPtn3CW6XlbK+oYVF6CkXJ8SRYTOhU4ycCm7QathbnTfoY56+bw22PbyIq/nz1myiJJKTHcueXt1BxtJa6083UlDUNE07yQP6QVq/h4iQcQRCITY4iKSuepnOttNZGGueOhyDAE3/3ACcqWth+5Bzlte109fbj9Z/3O/P4Apxr7KKqqZt39p4hOyWGW9YUs7gojZQ4K0b9zNnK02hUrF2VP93DmHQiwilChAgRppj/9/5uKtu76HK6CA1EEhweH7vP1bH7XN2Ej5MdFz0lwilvfgZGq/6SB64gCMSnxZKQHkvlsTrstpFL/Ed7UGv1GiyxJuSQgrPXNenjnm0IgoDVpGfj0jzWLc6httlGWXUrR840cqKyhV6He+i1iqLg8wepqO+ksqGTxBgzi+aksWJuJouL0kmINs0YATXbiAinUThe2sBTT+/B7w+yYX0hjzy0akbbxCuKQkOjjd89vw+3x8/DD65k3ty0Cd04iqJw8lQTP39i+4g/z86O5zvfvhmNZmKXi93h4edPfExdXfclPzMaNTz68GqWLcme0LEizH4URaGmtovnX9yPPxDikYdWUlyUMqsm/eMNLbQ7+qd7GJegGrintfrRS8EllYhao0KWZQL+81VRE9l/kVQSWp06/JC/oFovwvhIokh+Rjx56XFsXV5IR4+TY+VNfLC/nMb2Xry+wJAIVxRotzl5f185e47XEBdlZM2CHG5cWUh6UjR6nTpi6DmJRITTKLhcPmrrOvH5ghQXJTPkCDdDkWWF3Xsq2bm7Aghb3RfkJ6HTqSf0+8FgCJvNidcXxOcLDkuq1GikS/bbx0JRFJxOL+0ddny+wFArAwCzWUd/v3fCx4ow+wmFZHbsKmf33koAYmOM5OUmotXOnulpVW4mvW7P+C8ch0SLaRJGcx5rjAkE6G7tJeALjFj15nZ4cPT0IwgCiqwQCslIkojL6UEODT64R0nCHvpPhCtFEAQsJh1mo5a89Dju3TyfyoZOdh+r4eS5FupabThdvqHXuzx+XB4/DW3HeHV7KfPyktm8vICSnCRyUuPQTnABHGF0ZvUnKMsK9fVd2HpdLJiXPuGIyXXLBROUKF2eE2t+XhJ//7d34PMF8Xj9NDb18PobR3G5L3+VaDRo+cLn1tLT68LnC+JweNi2/Qynz7Rc9rEizDwCgSA1tV14PH4WLsiYlMjQhUcQxStzEZ7J/N2tG5EnoSZ7sqPe6QXJiIJA6e5yOhq7ySxKHXY+FUWh5lQjDeUtKLLCse1nWH/PcjKLUqk+2YDfG54fvG4fI9WcB/xB3E4vgiigM0y/T9L1zOB50ahVzMtLoSQniXabk9pmG/tP1bH/ZB3tNucwEesPhDhW3szJc62kJlgpyUlmw5JclhZnYJxgM+QIlzKrlYTfH+R/n9hOQ0M3v37iC8TFTu5qbSYhigKb1s+hscmG3x/k3ruWTFgoCoKA1apn6ZLzLRdq67p47/1TVySc1GqJwoLkoX97vQGqazojwmmW0N3dz0//+0O8vgDP/PpPkaSrm3glSWTL5iJa2/tQZIU7bluIegr9fq41giBg0mnGf+E0sOyGefzhp+/S0djNj7/6FI9+727S85NQaVQEAyEaK1p59l9ep7PJhlqrorGilX/4zH8xb3UBVaX19NvDOTcdjTZ6O+0kpMcNHVtRFHo77bTVdSKpJBIzZpZ31fWOKIqkxFtJjrOwbG4GX7pnFScqW/joQAVVTV302F24BwwngyGZhrZeGtt72XHkHHHRJm5eNYfVC7JJTYjCatJFBNRlMKuFk93upqKyDRg9lDxbEASBjIxY/uF7d07KsSb1Jorcj7MGRVHo6HRQV99FdPTklAILgkBOdgI/+Pu7JuV4ESZOxpxU1t+znA+f20v1yUb++bO/IC45CqPFgLvfS1dLD6FACIAbHllLKBhi+0v72fnKQSBceRebFEW/3c2bT3zMw9+9E5PVAEDAF2THHw7S025Hb9KROz9z2t7nbEYQBLRqFVq1is3L8tmwOJeWLjullc2cre3gXGMn9S09uLx+FAW8/iDNHX089eZBXt52gkVz0lmzMJtlxRkkx13aWifCpcxq4XT6bAs+X3BW5UpEiDDdlJ1uHpa3FuHKGFzMhXvqhr++1r35JJXIA9++hb4uB8e2nybgD9LRaANsQ69RaVQsv3E+j3z3TuSQgkarZufLBwmFQpSszOeWz2/kuX99k/ef3UNLTQcLNxSh1qo5c7CKA++eACAxI5Y5F9gYRJg6JEkkPTGKpFgzK+dlcfRsEzuPVnGsvAnXRQn6DpeP3ceqOXKmgZR4K/dsms8NKwqxmHTA1W+Zz8amxTCLhVMoJHP4SN2sjzRFiHAtCQZlDh2pne5hXNcM+jo12Pposzvpc3lwBwLEmYxsLc7DpL1223qCIJCcncBf/+qLfPzSPg6+X0pflxO/149KLRGbHM3au5aw/t7lQ5Gkr/77wzzy3TsJ+IJEJ1qQJInmqjae+9c3OfTBSQ5/eAoEhpo2m6KMPPw3d6I1zMztytlEMBSipdNOTVM3+07Wcfh0A912F4qijNn2xO0NUN3UzU+e38kH+8v5wl0rWTE3E9VVOpPLskJNfRcCkJkee9V5xg6nF5vNiaKEDVZTkqKmJTAya4STLCt0dNppaemlodFGU3MPR46F/VECgRBP/mYXOt2lbzc+3sJtN88nLs486rEH1bLfH+TM2RbOlrfS2+dCliE6ykB+fiIL52cMncDR1HV7u50Xfn8ARYHPPbqahHhLuMO4zcXxE/XUNXTj8fjR6zUkxJspLEgmLzcBtVoasTP5Rx+fpux084jjXbY0m/VrCyf24V0HKIoSvglrOzlb3jpQsRfEaNSQmRHH/LlpJCRYgLFXNw6Hh9+/fAiH08PNN86npDgFAI8nwJGjtdTUdeFweNBqVERHGyksTCI/LwmjYepN5QYnt84uBxWVbTQ02nA4PIRCMjqdmvi48DWRn5eIRnPpNTHaMQF8viDlFa3U1HZi63HhdvuRRAGLVU9yopXs7HhycxIGErPPHzcYDNHeYaepqYf6xm5aW/uoHmjI6XR6+el/fzjiqjQ9PZY7bl2IYYSHpaIovPv+KSoqWy/5mSiKrFyRy+qVE/cqCr9FhUAgxJmzLVRVd9Bt6ycYDGEy6cjPS2ReSRrWEXyKLhzT7r2VHD1WR3ychc8+sgpBEHA6vRw/0UB9Qzd2hweVSiQhwcL8uenk5sQjSRPvczZ4fndW1vBWaTmnWzrocPQPJY2XpCSyIid9mHBqtzvZXl5Dv8/PnOR4VudmoJYmN/9LEARMUQbu+upWNj+4CltbH16XD7VWRXxqNJZY87D3KEkCUfGWYce49fMbaG/oYscfDoZtBwYe0tEJVj7zF7ew/Mb5sy7qMBMYvL8DwRBnatvZc6yaE5Ut1LXYhplmDiIKAtmpMaxblAvA3hM11LX0DF2DsqxQVt3Gvz/zMV++bzU3rpyD+ip6+Xl9AZ58ejdd3U4WzE1nw9oC5s9NQ6O+MunR1NLD/z65HZ8vgFqt4kuPrWPpoqxrfm3NGuHkdHr4i79+CbfLhz8QJBAIDSnsUEhm+86zI/5eTk4869cWjCmcNBoVNbVdPPfifkpPNuLx+Ic6bkuSiFarpjA/iS88tpbi4tRRU3r67G7e++AUsqywaeMcrBYD+w5U8X/P7KGn14XfH0SWFURRQKWSMBg0/PMP76Hkosaag5RXtPHRx2cIheRhdgGiKGA262eNcAqFZJqae3jx9wc5dKQWrzdAMBga+qw0GhUWi5577lzMbbcswGTSjnojebwBtu8sp7PLQUZ6LAX5iZw528JTz+yhrr4bvz9IKCQjCgKSSkSvV/PFL2zgtlumduKXZYXTZ5p55bUjlFe04vYEBq4HGUVh4JoIX2v5eYl86fENFBYkjTsmt9vPJ/ureOvt4zQ19+LzBYauF0EICxW1WkKrUbFyZS5//o0b0F/Qi6y6ppPv//B1vB4//kCIwEC+C4ST/t/74NSIf3fhggxu2jp3ROEEcPpMMzt2lV9y7UqSSGyMacLCSVEUgkGZk2VNvPSHg5yr6rjAAkNBFEW0WhXx8RY+c+9SNm8sGvb+LqS8opV33z9FlNXAffcs4Wx5K79+ejetrX1D14UghM+DwaBhxfJcvvz4BmInWHTiDQR58dBJfr3nME6vb0JtKHRqNe+VVVLW0k5eQixzUxKJNRkm9PcuF0EQsMSYsMRcfhGNKdrIl3/0EDc8vIayfedwOTzEp8aweEsJCamxqDSzJ9l/puD1Bei2uyitaOGPu8uobbXh8vgvsY6RRIEos4H8jHju2DCXxXPSMA9UOD5402JOVDTx1u7TlNd24HCFrWI6epz88uW9aNUqtizPv+K5r6/PzanTTfgDIZpaegiGQhQVJF+xcMrOiKWn10VHpwNBgB17Kli8IPOqC1Qul1kjnNRqiRXLsodyL0IhmUOHa7E7PEiSyPq1BSN6GsXHWzCZdGMeu7fXxY9/9gHnqtqJiTGSnZWKXqfG2e+lsclGf7+P46UNdPf086P/7z7SUqPHHW9bm53m5l6efnYv/f1eoqONpKVGIwgCDoeHzi4nVoue2JjR3V83bZhDSnIU/S4fbref2rpOTpQ2TuDTun5QFIWyM8384ontVNd0IggCCfFmUlOjUaskHE4vDY3ddHY6eObZvbS09vKnX1iP1WIYd3/e1tPPkaN1/PLJHbS29WG16klOsqJSS/T3e+nqcqJWSSQnWUc1B5wsgsEQH247zb4DVSgKGAwasjLjiLLqUakkHA4P9Y22oQjIf/7sff7x7+4ic4xKpb4+Ny+8dIA33z4+dF/odGqSEq0YDBpCIZmeXhe9A6I9JSnqElFhNulYuTxnaDIOBEPs3lNJIBBCp1OzYX0h4ggfdMY4YfkbtpaQnRWPy+XD7fZRVdPBqbJLo6cT4cNtZTzzu0/o6XEhSSJJiVYSEy1Ikojd7qah0UZDQzf/84tttLb18cD9y7FaRm+w6/H6eeOt47zzXindtn6Sk6JISLCgVon09LrC0Se7h4+2nUYOyfzZN27AbB57DgmEQvzxZDm/3nsYhzfsuROl15FkNdPa5xj63sVEGXQszEjmRGMrFW1d1Hb1TJlwuhoEQUBv0lG8Ip/iFbOvxcZMQVEU+pweTte0cfh0I5+U1tDW7RhxG06tEsnPSGBJUTobl+RRkJmA5qJq1RiLgS3LC1mzIIfDZxp57t0jlFW3oihgs7v57duHWFqcTrTlyq658nNt+AcWW2qVRH5OwqiLqYmg12uYV5xKR2f4PTc02eju6SfxogjoVDNrhJNer+EbX90ydAH5fMGh8LpaLfGnX1hP7AgrqcHozlgcPFyLzxdk4/o53HP3YhLiLajVEj5fkLq6Lp78v100NfXQ1GTjvQ9O8aXH14+r0A8equZcVQd6vYbPf3YNRXNSMAxsB3k8fhoabfh8QazWkS9YQRBYMD+DBQNNM0MhmW3bz8w64WS3e/jVb3ZRXdOJVqvijtsWsXnjHGJjTUiSOGR18MJLB6iq7mDb9jOkp8Vw/73Lxj0HVdUdHDxUi8vt45E/WcmqFXmYTFokUcTrC9LZ5aC5pYeszLgxjzMZaDQqbr5xHpVV7axekcfCBRnExZrQ6zWIkoDXE6CmrpMnfr2T9nY7DQ02duwq53OPrB6xQ7rXF+Ctd07w9nulBIMyGo3ETTfMY/3aAmJiTGjUErKi4HL5aG7ppfRkI5s3FV9ynORkK9/8+tahrRe328ehw7UEAiHMJh3f+vrWER2JRVEY1VJAEASWLMpiyaIsIHztvvPeycsWToOi+tnn99HT40KvU/PIw6tYsSwHq8WAKAq4PX4qK9t46eVD1NZ18cZbx4mOMnDPXUtG7Szv9wd5+bXDBIMyn3tkDWvX5GM265BEEZfbx5FjdTz927243X4OH63jxMkG1q0pGHMbsNvp5oVDpTg8PvRqNbfOL+TOBUXEmQz8y7s7OVAz+n27NCuN3+47jqwoHGtoYVl22mV9ThGubxQlbDra1dfP7mM17DxSRUN7L31O9yWCSRAE9FoVc/NSuH1dCcU5iSTFWlCNs6Ws06pZtyiHpDgL//3iLo6ebQKgtsVG6bkWNi29MjFcW9c19LXZrCMvJ+GqI/fFhSl8vKscgN4+N13dzohwulIEQUCrVV/yvUE0GtWEXbQvxu32sWljEX/29a1YLMPzJJKTrKjVEn//g9cJBkMcP1GPwzn2ihbgwKEa8vMS+cs/v4m83IRhEQ1FUcjPS0RRlAlfZINbObMJWZZ59Y2jVFW1A3D3nYv54hc2IEnD83BSkqNITLDwve+/Sp/dzSuvHWHzxqIxt18BSk82khBv4W/+8laWL8u+JF8lNyceRcm5ZvvnJSWp/OK/HkWlki7JNQJITo4iGJT58c8+wOPxU1XVjsPhucQWQFEUqqo6+OPbJ/D5gkRZDXzp8Q1s3VJ8Sb6coijMKUxm04aiEcPdoiii056/roJB+fxWtBCecEcTIBNFGNgWvVycTi8vv3KY7u5+NBoVX/7iRu64beGwzy5GUUhLjSY9PZZ/+tFbtLb18dyL+1m5Im/UyLCiQDAg8/nPreWeuxYPi5zFxppITLTS2+PipZcP4XB4KDvTzMrluWNG2PZU1VHVYUMUBP5k+Xy+tWU1WlX4XBjUY89LhYlxSKKAHFKoaO8a87WTTTgvS5l8i5II4yLLMh09YYPLjw+f45PSWvrdvhG7OOi1atISo1hanM5ta4vJTI697NwkQRDIT4/j0VuXUtPcTRcywjYAACAASURBVK/DgywrHCpruGLh1NzWN/S12aQjM+PqF6EXLmSd/V767O4xXj01zBrhNJVoNCruun3RiNEfQRDIz0skNSWKhkYbLpcPm61/XOGk1aq58/ZFl4imwWNe+P+fVjq7nBw9VocsKyTEW7jtlgWXiCYIf04F+UmUlKSyb38VdoeHo8frufnGeeP+jU0bi1i+LGdE0XmtHxbiCOJ/2M9FgZysOFJToqiu6cTh9OLxBrj48a8osP9gNT29LkRRYPXqPDZunDPig33w/alU19+1VlPXSeW5sKieU5jE6lV5l4i4wfdXkJ/EhnWFvPTyIZxOLzt2nuVzj64Z9dhZWXGsW1sw4mem1agoKUnFYtbTZ3fT1enE5wuMKZwO14WjaQaNmj9ZsQDdZeR4mHVajBoNfR7vNel35+xzce5YHQ3lLfR1OfC6/ag1KszRRlLzEslbmEVSZtynfn6aKoIhmZrmbvaV1nL4dAOVDZ1DRpYXY9RrWFSYxoYleSwqTCUlwXpVPekEQWB+fgoxFiO9jnCLoJZO+xUfz36BqDGbdeNuaU9ghFgterQaFT5/EJ83gGcaeiBGhNMESEywMKcwedSfq1QScbEmGhptBIPyhE5klFXPimU5U547cz1T39BNV1e4G3txUTLRUYZRJ2tBgJKiFPbtryIYlCmvaBtXOEmiyNbNxddVpE6n12AcSOwMBEJDRQoXIssyx47XA2GBvmlDEYZREqKvV2RZpqHBhq2nHwEoLkolJnr0pGZBgA3r5/D7Vw6hKHDiZCMPPbBiVDGZn5dIUuLo4X+LWY/BoKHP7sbt8Y/ra1Xf3QtAdlwMCebLS74WBQGjNiyc3P6peUgoioKjp59drx5i24v76GjsxuvyEfSHwpVbQnie0+o1GK0GVt++mJsfW096QfJVRxwjnEdWFH7wxHucqGzB3u8hOML9rdOoiLEaWL84j5tXF5Eab8Vk1I6Ya3glGHQa4qNN1DSHm7T3e0bOv5sI3gsE32SMURAGC7LCwikYkgkErr2nXEQ4TYCM9NgxJwdBYGirQVGUCfWkiokxERMzOc7Ls5XOTgcOZ3jV43B42bb9zKj5aINtYga/DttFKGP29jKZdCQnRU3+wK+SUEim29ZPd7eT/n4vXm8A/4BI6u1zYesdO+rg9QZoaQk/qDUaicKCpGsx7GtKMCjT3NyDooBWqyIp0TpuZU1sjBGr1UBfn5s+uxubrZ/k5EvPvyQJpKfFjLmoEUUBceDvybI8boVcvy8seKx67WWbCipASA4/HDTS5E/ZiqLQWNnK7/7lDfa9fXzUQQQDIYIBDy6Hhzef2MaRj07x+X+8lzV3LEGMiKfJQYGjZ5vo67+0IXSM1UBxdhLrFuewZkEOcVHh58dkR/4EQRjWCFg7SRWR/hHsEa6Ewe1jCHuFTYdXY0Q4TQCzWTfpTUdNxtFL5iOEbw7PBSv546UNHC9tmPDvBwIhgsHQmNsnRuPlP8SmikGfqtKTjezYVU59Qzd9djcetx+fP0goKBOSFWRZHjHH4UL6+31D4l2rUQ9FqGYTsqLQP9ARftC6Y7z7SZRETEYtfX1ugoEQ7lEiw4IgjFtpe7kMejN5AkEm5ENwAR6/nz5PuEw8xjh2CsDloigKnU02nv7BqxzZVgaERWFMUhTZc9OIS45Ga9AS9Afp7bRTf7aFjiYbQX+QlpoO/u8fX8Fg1rN4c0lkPpsCREEgNsrI1hWFrF2YQ25aLFHm0f3IJgNFAd8FIsdsuPJ7wWg8P/c4+70EQyFUV+FDpihhvza3JxzJklTitOwYRITTBJiKExPZohsbRWGYQLBa9ROyGBgkId48/oN0kjvNXymKotDX5+b5lw7w3genwvkyahWxsSbi483odRqMRi06nZpQSObU6WZ6e12jHm8wOgEz5z1ONgJMqeid7JyvjNgozrZ1UtvVg8vvJ0o1cQF0sKYJfzBc0j0vNXFSxxUKyrz+i484/NEpBKBwSTZ3fGkzK29ZiEanRhBFBGGgLYysEAyGqDnVyMs/fZdTn1TS3tDNSz9+h5ScRJKyInlPk4EoCsRaDWSlxnLL6mJWzc8iyqS7LLPVq0FWFDzeALqBRWdO6pU3Z05KtA597XB6aWrqITsr/qrGV13bOZSiYNBrJn2RMxEiwinCjEQUBfR6DZIkEgrJbFhXyN13LpmwiNXp1NdN7lIwGOKd90/y7nsn8fmDpKfHcPstC1i4IIPEBAtms35IALW29fFv//HOmMLJdEEkzesL4PUGrso7ZSZyYVQoGAzhdo+f+yOHZFwXRKlGM8KcClbnZvDB6XM4vF4+PFPFA0vnTegh2OHo57XjZ5AVBZUosjInY1LH1dHYzY6XD6DICrkLM/mrX/4p6YXJo45Ng5q5q/JJ++XjPPPD19j+h/1UHKnl9P5zJGbGzZgI7vWKIMD9WxdQnJPE/PwUDLqp71hwMYqi8OBNi3AOmGGW5I2e3zseeTkJQ1/32d2UlbeQmRF3xQs6WVHYd6h66N9Wi56YSWo2fjlEhFOEGUtsrAmjUYvD4cHjDZCQYJ6V2079/T627ziLzx8kKsrA5z+7lg3rChEHVvsXEgwOd+8eCYNBS0yMiZaWXgL+IHX1XZQUj+w+f9nMkAejSiUNGcb6/UE6Ox2EQvKYuYh9djf2gUohs1l3TSfcFTnpZMdFU9fdy2/3HSfRYmJFdvqI1XWKohAIyXQ4nPx8x0GON4Zb0yzPTiM/cXI9xY5tP43L7kEQBR76q9vHFE2DCIJAdIKVB//yVo5+XEZPh50j206x6YGViGLEIfxq+extyy8xqryWqCSRLcsLJuVYC+dloFZJBIIhPJ4AO3dXsGxRFkmJ1ssWhLKsUHqqiZOnm4a+l5hgJWUa8lSvjyX5FXChl0u4bUWk2e/1Rk52PAnxYS+msrJmbLb+WXke/YHgUDJ3XKyJBfPTB8Lyw1+nKArdtn66up1jHk+SBBYvzATCEafdeysnLTFTEoWhPbJQaPruK0GA7Kx44uPNKAqcKW+hp2f0pHlFUdiz99xQq5n5c9OuWXNQQRBIsZr57KpFmHUa6m29fOeV9/mnd3bwVulZOp3hcbt8Pg7XNfFuWSU/33GAx3/7Gn88WU4gFCLRYuJzqxZj0U/uwqGqtB5ZlklMj6Vg8eX1/ErJTSR3fvg6qz7ZgCxf++qm2YYgCNMqmiabpEQLSxZlDv37+KlGnnlhP7ae0SPmIyHLMqfLW3jymd309w9EjSWR5UuysFy1xcHlM2uFk1otodeHPXECgRBt7fZZ+dCdzSQlWlkyMJm3d9h57Y1j+P3BYVUVgwx+L9y7LHSdnWsBQRwU+eHeayO9P78/xI6d5WNu00F48l2zOn+grYrCnr2VHDlWN6rQufCzG4+wkWxYcHi9ATq7nNPyWQuCQE52PEUDNiEVlW0cOlKLfFGVzeD7qq/vZteeCiBs2rlpY9E13QJRSRK3zSvkoWULkESBfp+fN0+c5ftvbuNMaycAzb0O/vXdXfz96x/xm71HaO51hMerVvHFdctYkZM+aSXngzh7XKBAdKIV9RV0rk9Ijwkfp9d12UnvEWY/Oq2arRuLMV2QJL5911n+64ltHDtRT2Bgrh5WKXfBvxVFwe32sW3nWX72i484V90xdJz4ODOb1s2Zlry6WbtVJwgC8+amUXqyEUWB3z2/j29+bQsx0UZESUQOhR+wggAWi37ctiszmcFE6lDo/Mwly3K4We0IDtRjHyvcwT0UklEYvJDDCceX42R+4fHk0IU3RXisgyv/sY4nSSL337uME6UNnKvq4P0PT9Hb6+KuOxaRnBw1tDILhmR8viDt7X0cOVZHX5+b7/3N7de88eOVotOqyMmOp/JcO+3tdnbsLOemG0qGKlJ8viC2HhdvvX2cHbvOolJJ42zXCZQUpbB1cwnvvn+Sjk4H//GT97n/3qWsXpmHyahFUokocrhE2O5wU17RRjAk8+D9y8ccqygKzCtJY3tnOV5vgOde2M/DD63EatEjiAKhkEwwEEKlkrBY9OPmMijK4DUyGK1QkJWJXbtGo5aHHlhBeUUrnV1OnnxqN4GAzIpl2QMVk+FtvJq6Tn73/H6aW3pQqyXuvXsJGWP0+JsqLHodX9+0gtRoC88dPEFTj30o6RsgKMvDetZpVRKZsdF8ZcNythbloZmCOUo9EHULDCxILhefN5xbJs2iKEmEyUMUBVYvz6XsTDNvf3AyvDAMyXxyoIqjJ+rJy05g6eIs8rITiIs1DT2Hfb4A7Z0OzpS3cKy0gbZ2+7BKP4NBw+cfWUP8ON0hpopZK5wAtmws5sOPTtPR6eBEaQPf/8HrZGfFodWq8fmD9Pd7SU6K4vHH1hEfPz0n4EoIhWSOn2igs8uB1xvA5wvi8wWG1LiiKJwqa+K3v/sEnU6NRqtCp1UTFWVg/ty0SxzQq2s6qK7pxOMN4BtIJu7sdAwl3HZ2OXju+f0YDBq0OjU6rQqtVs28uWmkpgz3rXZ7/Bw6XEN/v29gbAFcbj/lFW1A+IbYsaucxkYbWp0a7UArnKQkK3OLUy9xzo6NMfKtb9zAE0/uoLyijb37znHwcA0pyVFYzPqhv9k70KxWgcnL57lGGI1atm4pobGpB7fHz+9e2Mfx0npSU8I5PDZbP+eq2um29bNpwxxcbj8HL0iQvBhBCHtU/cmDK+jv97JzdwUOh4enf7uXV187QmKiFb1eQzAYos/upru7H78/yJYRetWNxM03zuPY8Qb67G62fXya8spWMge8zny+IE6nl6KiFB57dDWGi3LSwm2JGujqduL1BvD6gvi8fioqww7gsqxw/EQDsqygG7g+tFo10dFG5s9LGzrn4fcpUFiQxBcf38BTz+yhs9PBL3+1nbfejiY1NRqVSqK310V1TQceTwCVSuTGrXO5+67FqKdpoaRTq/nMknmszElnZ0UtZS0dNPXasbs9+IIhNJKEVa8jLcbKovRkNhflkhplmbJVdWxy+BrrbLThdniJTpj44igYCNFQHs6/ik+NiVTURRgRo1HLZx9aRWe3gwOHa4HwgsnjCVB2toWysy1Dr1WrpYFdg9G3ffU6NZ+5eynrVudP2zU3q4VTWlo0X//KZp5+di+trX20tdtpHeidIwgCoiiEq7aus735QCDEK68foex0M8GgTCgUGtbsUVGgvKJtSKxIUtjrIjU1mu98+5ZLhNMn+6t49fWj+P1BQqFLfYJ6elz84dXDwPmmyCqVyLe+vvUS4WS3u3nyN7vos7sHxjb8sw0EQuw/UM3+A9XhHmVS+HhLFmeRnRk/Yr/BosJk/vavb+W1N46xY3c5Xk+AxqaeoRWyIITtHdQaFRazjsWLMq+rSVylkrhpawlOp4fX3jiG1xvg6LF6jh6rB8LnT6dTc9stC/jco6vZvbdyyBl8LJISrXztK5vJzIjlg4/KsNn66Xf5cNZ0DF0voigMVTBOZPEQjuSm84XH1vL8Swfo7XXR2GijocE29HNJEkhMtDCS3ZTPF+T3rxymvKJ11Gv39JkWTp9pGXIJliSRzPRYvvNXtw4TToN/b+P6OURFGXjhxQNUVLbR1NxDQ+P58ahUInGxJu68fSF33L5o3HZIU40oCmTGRvO51Yvp9/pweH34AkGCsowkimhVKix6LWbd5LlBj0bx8lze/s0OHD397H3rCA98+7YJRWplWebEzjO01oYXa3NX5Q8Zgka4FH8gyLd/8gaB4NiFHdeKv3h4I8U5184YNy7WxDe/vAWLWc+efefwjNJCZqxIuiAMiLAHV3H7zfOntVBoVgsnQRBYt7aAefPSOHiohqqqDuwON6IoYjRqSU6KorgoZcTqmtgYE2tW5RMIhMjLS2SsciJJJTK3OA2tRk1UlP6SyX0Qs0nH2jUFKLJyVW7OohjuzaYbo6/ZSERHGzCOUJaekhzF0sVZ4xorDkMI3wwXo9WomD8/Ha9n5BtjNHJzElCPEu6XJJG0tBi+9Y2tfOa+ZZw63URVdSdOp4dQSMZo1BIfb6YgP4miwmTMZv2oZdE6rYrly7Kx2z3ExZpmTLsIk0nHY4+uYd2aAg4dqaW5uRePx49OpyY9PZali7PIyYlHJYnMn5vOhnWFxMQYxy2pj40x8ujDq7nz9kWcLGvkXFUHPb0uPB4/apVEdLSRjPQYiuakDGueORYajcQdty1kxbIc9h2opqGxG6fTi0olYTJpSU+LoaQ4Ff0ITbUlSaSwIGlYzsNEiI01jWqpoFZLLF2cxfy56Zw81ciZsy10dDoIBkNYLHoKC5JZtCCDuDjzmFuH2VnxrFtTgEolkjBOt3WzWcfSxdlkZ8aTmxN/RQm9oiBg0euw6K99cusgCzcUk5QVR0t1B6/974dEJ1hZc8cSTGO0N/L7AhzfcYbf/csbuOweohOtrLp9ccQ9fAxkReFUVSv+cSpirxVO95W3UbkSBEEgNTmKv/7WTaxansvb75+kvrGbnl4X4+0QS5JIQryZecVp3HXrQooKp7/Nj6BcX1m0ESJEiHDdcSX5gdcCOSTzzlM7eOofX8HvDWCONjJ/3RyW3TCPrOI0YpKsaHUagoEgfd1OmirbKNt/jsMfnKSrpQdJJXH7Fzfx2PfvwTDKgjECeP0BbvjaL2eMcPqfv7mPFXMzx3/hFKAoCn12N9W1XVTVdFDX0E1Hl4M+u5uAPwRC2IcvyqInLTWGnKw48rITyMtNHHExNh3M6ohThAgRIkw3iqJwrKGVjBgrUQY96mvkAD0RBFFg80OraW/s5r1nduPsdbHvj8c4uq0MjU6NpJYQBQFFUQiFZPzeAD6PH0VWUGkklt+0gIe/cwf6aXBvvt7QjuDZNRKSGN6eFgUBx4AJ5UiIooB0gdebLCuERundJgAmgxazUUdCjInoadyuFgSB6CgjSxcZWLwgA78/SDAoEwwNFiANbvmLqNUSGrU04zptRCJOESJEiDCFKIrCDT99Gqtex5q8TNbkZVKckoBJe+1doUfD7fTw7tO7eOepnXQ2dY+7fRKbEs2m+1Zw/5/fTNQ425oRwpW/b+w4NW4+rSAI6DQqDFo1Z+raefmj0qHf0WlUpCdFk5EUTYzVgMWow6ALd1dAAV8ggNsboNfhpqu3n5qmbjoHGoKrJJFNy/L52v1rSYmfumKDTwsR4RQhQoQIU4iiKGz+8VO0O/oRgCSrmdz4GLYW57GlKJcovW4gcjC9D7OAL0Dt6SaObCvj0PulNFd3EAwEUZRwxEJSSSRmxrFoYzEb7l1OVnEqukiz8kknJMvsOV7Dz/+wl+aOPkRRYOXcLO7eNI/M5BhirIawYBrBrkNRFPyBEE63l3abk8OnG3h9+0m6+lyYDVoeumkxj92xfNqqSmcLEeEUIUKECFOIoij86bOvc6qpDZf/fNGEJArEGA2sL8jilrmF5MTHkGA2Ik3jtoSihD3W5GAIt9NLX7cDT78PjV5NVKwZ84APnjiDthtnE4qicLa2nX944j1aOu0YdGo+c8MiHrt92WX3rVMUBVlRqG7s5gdPvk9diw2DTsPXH1jL3RvnRcTTVSD98Ic//OF0DyJChAgRZjML05PJT4zDrNPS5XThCQRQFHD7A5S3dbGjooaylnbaHU7MWi1RhvHNQ6eCIZsWlYTOoCUqzkJcSjTRCVb0Jh2SShrooRgRTVOBosDP/7CX0sqwHce6Rbl87f41WIz6y/7MBUFAFARiLAYsJh1Hzzbi8vjp7HGytCSDaLNh/INEGJFIcvg1QFEU3P4A/b6woaRZp0WvVs36yUdWFHzBIN5AkEAoFF7JDlQXiYKAWhJRSxI6tQrVVU7GIVmmz+MlEAyhliSiDLppXblHiDCIIAhkxUWTERvFjSX5dDj6OVDTwNunKqnr7sHl89Pv83OwtoljDS38/vApipITuHdxCYsyUrDotWgkadbPFxGgtsXGwdP1AGhUKm5fV4LVdHWJ3KIosLAwlcKsBI6ebaK22cahU/VkJsVMizifDUSE0xSjKArd/W5+uv0Tdp2rRRREbijK46+2rsWsmz4Dr6mmw9HPwbomTjS2UtnRRXOfA5ffjzcQRCWJmLQa4k0mUqMsFCfHc0NRPoVX2PldURQ+qW7gp9s/oanXTqrVwl9sWcPmwpzIwybCjEEUBIxaDdlx0WTHRfOZpfM50djKJ9X1HKlrpqrThtsfoNPpotNZx96qerLiotlUmMPqvAyKkhOI0usi1/Qs5kRF85A5pE6rYmFh2qSc77goI+mJ0Rw924SsKBwoa+C+rQsRxch23ZUQEU7XgP21Dbx9qoLgQHXEq8dPs7kwl/X5WdM7sElGUUBB4VRzG7/ae5gjDS24BqJsF+IPhugJeuhxeajs6OJoQzPZsTFXLJx6XB5ePFJKZUc3AFVdNp4/XMr81CTizZeam0aYGsLZkuGooiJDKBSi3x1uvaNcjrnqGGg0ahKuo/ZIIzH4INSoJFbkpLMkK5WWXjuV7d3sqqxlV2Uddo8XWVGo7eqhtquHd05VkBsfw01zC3hg6bxpfgfnCfqDtDd2gwKpuYlDzaojXBlNHb1D3RasJh26K2i8PBKSKGI16ZBEgZCs0NBqu84aoc8sIsLpGlDV1TMkmiDczLOqs3vWCSdQONvWyd+++SENtr4JN0uPMeqZl5p4xX+1x+2hw+ka9r0upwubyx0RTteAQY+f9g4HZyrCTTkrqtrp7u5HluUJXwcTYW5RCj/50YOTeMTpRyWKZMZGkxETxcbCHPrcHg7VNbHtbDXVnTY6nS46HP10OPrpdLpmlHDqbLbx7a0/QhAEni//CZoZYlB4veJ0+5CnSNDIijJ0LzpcvnEtJyKMTkQ4XQOMmksnE8MI37vekRWFJ/cept7WN+z7iRYTSzNSSbKY0KnV+EMh3H4/XU43zX12smKjSY26ci8YtSSikaRLvqeWImHoa4HXG+CdD0/x4cenqW3ovqQ/4WTi888M5+WpQBAENCqJBIuJOxYUccvcAuptveyqrOPNE2ep7eqZUX01FUXB7w3g7HWh0alRJlUifzpRXdBKpNfpweHyEm25+iRunz9Id69rqK3WdLcsud6JCKdrwMrsdF4wGehxeRAESLZYWJWTMd3DmnTKWjo42nC+07UArMzJ4K+2riUjxopepUYSRWRFJijL+IJhAaUSpatK5E62mpmfmkRlRxf+YAitSsWSjFTSoiPGfFOJoij09rn57Qv7+GjHmVEbd0aYOIqi4A+GcPn9HKlv4eOz1ZS3ddLh6J+RssTdP7qzdYTLJz7ahCSGG897fUH2n6zjljXFV5XErSgKje29VDV1DX0vIcYUyZW7CiLC6RowLyWR/7jnZnZX1aNVSdxcUkBGTNR0D2vSOdLQTL/vfPPIJKuZr65bTklywrCbVERCJUno1Gqsk9DgVCNJ/NmmVaRGWWjs6SM3IZZ7F5ZcEoWKMLkEgzIvvXKIdz48NaVRpk8DIVmmy+mivK2LvVX17D1XR4vdMWw7JcqgY+5VbGlPBS67Z7qHMKsoyUlCrZYI+WQCwRC///A42amxzMlKvGLx5HT7ePXjUqovEE7z81MiFXVXQUQ4TTGCIKCSJFbnZrI6d3qaKl4LAqEQ9bZeAhc8QNOirBRfJJqmAmGgy/wXVi+Z0r8TYThVNR2889HIokkA9AYN8bFm9Pqwy/FkkJN5ZQUEM43BRPqQrFDTZeOD01Uca2jhXEc3ds/5KM6g0/hNJfmsyEmnJOXyhdPFScCTeT+6nRHhNJnMy08hIcpEY0cvANXN3fz4uR189b41LClORxw4d+OdQ2Ugn6mj28Fz7x3l/f3lQyJcp1Gxcl7WpN2Tn0YiwinCpOANBHF4z0ebBCA12oJJq5m+QUWYMkIhmdffPo7bPbxq0mjQsmxxFjduKWFOfjIaTbhJLJM0R8+0Zp+Xi6IoeAIBup1ujje28lbpWcrbuuj3+Yfyl1SiSIxRT2FSHLfPL2JlbjpR+itrDqwoCp1NNs4eqsZg0TNvdQEG83lfoLa6Ttz93qHTozD8VI31bwVorGy9rPFEGBuzQcsjty7lp8/vxBcIIssKZ2ra+d7P32FhQSqbluZRlPP/s/fe8XFc573+MzPbGxbAogNEL+yk2ItESiTVJcuyLMlVlh0nLokV5zqObxL7/lKuEydxbCf2jXuXrd57IcXeO1hQSPReF4vtO3N+fywIYkmQBAiADfN8PirYnTlzZnf2zHfOed/vm4nVbMRkNKAoErIkgxCoQhCNqYTCUTp7B9l26DQf7Kulq8+HOhTbJEkSqxcUMbc0m0n7UU5DdOGkMylEVJVwLHb2BQmc11ARU53Jpb3TS3VtR8Jr7iQbn3h4GQ/csxDTJKVR3yic8XM72NjK9toG9tQ10djrTcigMhsMzMpOZ1VJPksLc1mQlzXxBAcBP/7GH9n5+kGMZgOf/6eHuf/P1g+//aOvPcmhzccvu3ntGgpWvxGQJInblpRyvK6dN7YdJxqLJ0MMBsJsO3SabYdO47SZSUt2kJJkw2IyYjQqaKogEovh84fp6PXRNxAgNspMcGFOKp+4ezEpkxBwPp3RRzedSUHTxHDGRhxJd+6+gWlq7mNgxDKNosjcvm429921QBdN5yCE4H8+2M37J07R6h2gP3B2Kc4gy9jNJtaWF3LH7DLKMz2kOx0J2VUTOjaCumPNAEQjMaoPNSS8r6oqseiNm6l4PeK0m/n8h1egahrv7DhJJJb4/fgCYXyBMKdbesbcpixLFGSl8LVP3UpFwbUVJ3c9ckVHOCEEg+EInT4/fYEAgUiUqKohEBhlBbNBwWkx47JaSHPYsRgnt3tRVaXXH6TTN8hgOO5irWoasixhVBSsRiNOi4lUux23zYJBv/GPCSEEEVVN8KrSubHp6vYRCJ5dpkt227h7wxwsZl00jcZz+ytp8/oAkCRItdsoy/CwpryQdTNLyHQ5huJXJCZzklaSJNY+tIzNeMZLAQAAIABJREFUz+/BbDWy9PbRPaCSPE4yZqSOeym0v2uA9obuyeiqzhCSJOFx2/mbx9azoDSHV7ZUUlXfSTgau/TO5yBLEukpDtYtLeeh9fPJ8rj0VYBJYMpHuTOBiT3+AO+cqGVXXRMtfV46fX4GIxEisRhCxDOjLEYDbpuVFLuV/GQ35ZlprC7OpzgtBRh/UOOZY8c0jb31zWyqPk1tZw8tXh/eYIhAJEJM01AkGZNBwWE2kWS1kOlykpvsYkl+LksLckm128Z07Kf2HeFYa8cltwP42oabJyWj7EoSjETpHPTT7fPTFwjSNein1x+kNxCg0+enpvPsE5AQgh2nGvnmK+9etM3c5CQeW37TmERyfyDI9zZuP2dma3RmZaXzsSXzL31SOpdFMBQhFjsrlNNSneTlpOiD8gUQQiABM1LdbJhVytKCHGbnZJJsm/oSKh994i6W3jEPo8lI4ezcUbdZeOssPv7X92G2jC8mcevL+/j5N5+ZjG7qjECSJExGhXtuns3Cilz2n2xi15F6jtS20d03eMn9zSYDZTPSWD6vgIXlucwrzcZo0LOMJ4spF05RVeX9k6f56bY9nO7uS4yDGUEoFiMUi9EfDFHf08eBxlZMlQo/376XDy+YzRduXop9nIHGqqZxpKWDX+7Yx96GZnyhyKiurDGhEYtow3Wiajp7kIDXj1bxhVuW8tjym1DGMLjtPN3I28drxtS3L61Zft0Jp9crq/jR5l0EwhFimkDV4n5M6gXcoas7u6nuvPjT6LycTD6xdD5juRQD0SjPHagcDnS8GBtmlujCaQqJRNSEbLqMdBcGfWC+IDeXFbCqOJ8FM7JJtlkwXqGivZIkYXdZmbW05KLbebKSySxIw2QeuzGvEILMgrSJdlHnIsiyRE56EtlpSaxfWk4wHKWrz8fp5h66+/0MBsIEI1GMBgW7xYTTbqYwO5WcdDcOmwmbxYThMpIKdC7OlAqnmKrx0uET/Ns7WxgcpWbZpYioKt5gGIfZNO5lu3A0xmtHT/KDTTvoPKccx1gQgNVoZH5ulh6rM0QwGqXXHyAc02MipjtGo4KiyMPiyWjURdOFkCSJf/zQhqvdjYtiT7KiXIbwtbusl95IZ0JIUnz51m41Ybea8LjtzCzMvNrdmtZMmXASQnCouY2fb9+XIJrsJhML8rJYVphLdpILu8lERFXpD4So6+7lREcXJ9o6CUSixDSNFJuVW0oLxixehBDENI3Xjp7kexu30z0YSHj/TKrv3OxMctwuXFYzmibo9geo6+6lqqObQCSKqmmUZqQyJ2vsgXSPLb+JlUUz6A+E6A+G6AsE8QZDtA34ONnedekGrnE8DhuzszPOC1aE+HJoc5834btOddjIcl28IGtxWmo8nXYMJFut/OsDd9AXOPvZ9geD9AVCnGzvoi+ge8pcKZwOCyajQnBIOA34gvHlKP3J9rpClmUUo4LdZbssQ0RdOOlMR6ZMOEViKu+drKWx92zdssLUZP7hvvUsyM1CkaVhMy+Iz/AIEa+sPhAMs+N0A5tr6ki22ajIGN908L6GlvNEk1GRWZiXzUML57CuohiTIT5VPtKT5Ezw+t76ZrbU1nNrWRHmccx0LczLYkFe1nBslRDxrJbDzW188lfPjuscrkVun1nKuvLRp/y7B/38/SvvsuN0IxB/SrpnTjlfW3/zRduUJMYchG8xGrh3bsXwdxX3EBTENME3XnyLt8a4TKozcbIyXNjt5uEyKx2dPoKhKDar7tt1PXH7J1ez8NZZzFlZdlmi1+qw6A7UOtOOKRNOg5EIJ9o6E1775LIFLMnPGfUHKgFIEgrxmYr75s3kztllBCPRcf2gwzGVn27bmyCaJOCB+bP44i3LyEpyXrS9ZJuV22eVsr6iZNxFK4eF2EhBKMQNk52nyDIXypI2KkqCEIZ4RodpEuNeznxv537GkqTpMx1XmIJ8DyluO9098UDVfm+A6toOFszNu8o9uzpsqa5jIBi+9IYTxG4xcWt50aS1t+bBpZe9ryRJ2JNsrHt0JYAe0qAzbZgy4RRVVXrPWTqZlZU+rjaMioLROvYbrxCCLTV1HGpqG35NAtaUFfKVW1eS5rSPua34U5R+M9bRGQ13ko2Vy0uoOd2JEIIBX5D3N5+grDgDq9U47YTsjzfvobpj6tPyC1LdkyqcJoo7zckX/+3jACh6nJvONGHKhJMsSZgNic2fbO9iQW7WVB2SUCzGuydqCUXPVmnPTHLy+IpFeBy6U6qOzmQhSRL33jGPTVtO0tDUg6YJPthaRUlROvfeOW9MWag3EoFIBP9lJMCMl9BlePlMJbIsJ5Rw0Zk6NE3gHQzS1j1AIBQhFIkNu4Nnpjp1Y8sryJQJJ6vRyIwUN5UjfI2e3HOYOdkZzM7KQJImt9gkQGu/j1PdvQkLbLOz0pmdnTHtnoB1dKaa1BQ7n350BT/82Ub6+gMM+IL8+sntSBKsXzMTq3X6lNwp8lw4yUECDIqMy2pB1TR2nW5EiPhqsyLJOCwm3FYrFqOBmKbhDYbwBkLENA1taKn/3vkVlGd4KM24MYoc64wNIeIVGQ5Xt/DOrioa2nrp7vcTjkQJR1VUTUNC4vYVFRcUTkKIBAsXWZL0uLQJMmXCyWE2saa0gK01dfiGnsRqu3r40lOv8KF5M7lvbgW5yUnYTJM3rd/qHaDNOzD8t1GRWVk0A7tp7N4kOjo6Y0OSZNbeXA7AL3+/jZa2fnr7/Pz3j99n4+aT3HPHPMqKM3A6LTjsZozGK+NddDX49oO3DyeFXIiG3n7+9Y3NGGSZ4rRU7l8wk7VlhXicdhRZHg4M0ISgPxBiS3Udrxw+Ec8yDkdYN7OY3OSkqT8ZnWsCVdU4UtvKH97cz95jjYQiUS50iYXC0dHfAKobu/jW/7xBNKZhNMh8dP0CHrxt3nVfMPtqMmXCSZIkbi4p4JbSQt6orBqeBery+fn59n28fbyGFYUzWFWSz7KCXNy2iU33CiHo8QfwjgjQNMgyFZnpN+xgraNzNZGk+FLN4psKaO3w8uQzuwiFokSiKgePNHK4sonc7GRyspPJSHPicFgwm42YJhALk+Zxsm7NzEk8i8nhUj5zA6Ewv9i6j30NzSwrzONv715LUdqFndbtZhOPLp3H6tJ8/vn1TWw8eZokm5Vv3LUGm/4geMMTUzXe3XWSn7+4k+ZO74Tayk1PwmhQqG/tBWD74TpuXVxKqnvsMb86iUypAWaK3cbXNtxMRFXZUlOf4Bre1Oelue8ob5+oIdftYlVJPg/Mm0WW24nFYBi32NGEoGcwkOAMLksyucmuSTsfHR2dszz70j527T1NV7ePQX+ISCQx/kbTBI3NvTQ29w6/JssTWyaYOyv3mhROF0MIwaHGVt49XoNBlvni2uUXFU1nkCSJvBQ3X1izjB21jbx6+AT3z69gccHoZVMmo5/RSIyQP0x7QzeNJ1vo7/YR8ocxmY04U+zklWaRXZSOPcmGyWxE0pd8Jh1V1XhvdxU/fHor3f2J5s2yJGEwyMiSRDgau+AM1EjMJgOrFxRS0xj3EjxZ10Frt5eUpLGVEtM5nykvuZLpcvAvD9zB28eqef7QMSpbOoiocQNFAfH1/GCIY22d/GHPYdaVF3Pn7DKWFOTiGEeJFU0IBsOJ6cCyLOGymCfzdHR0dIbYtPUkx060jmsfTRNjqjV4IWLq9VlI+u1j1YRjKoWeZObmji/msizDQ15KEnXdfbxxtHpKhJOqatQcrGfz87vZ9dZh2uu7EKN9TxK4UhysuHshK+9dyII1szDr3l2ThhCC2qYufv7izgTR5LJbqCjMoCgnlYLsFJw2M9978oPzhNVoKLLMnOIsLGYjoXCU3oEANY1dzC7KmtSC0tOJKRdOkiThMJt4cOFsFhfksq22njcqqzjY1HZe3bjBcISXj5xg26kGbi0v4tPLFlKSnnqeP9BoCHH+oKpIEgZZT5HV0ZkSLl//TDtqOuIFsDOTnGMaz0YiSxIeh5267j5qRxTSngyEEMSiKlte2MMz33+DhksJYQEDPYO8/but7HnnCLd/cjUf+1/3YrZNn0SAqebVLcdo6jhrHF2c6+GzH1rGwopckl224evnx89tH1N7kiThSXaQnuygsb0PgKqGTjQhkHXLnctiyoXTGSRJYkZyEo8unseH5s3kcEs7rxw5waGmNtoHfAn1z3r8AV44eIydpxv55t23cnPJpUuuSBIYlESRpGoaUVXFcCHXRh0dncvnKoy51+swPxCKz4aPdXllJAIIROLBv77Q5JpsCiHY/NxufvJ3T+Hrjc9eWOxm3Gku7ElWnG47JquJWDiGr9+PfyCIr3cQX5+fvg4vL/7oHdSIysf/5j7dlmAS6Oob5P091cN/l+R5+Mbj65ldlDWhJe4kh5XUJNuwcKpv7b1kMoPOhbliwgni4kmRJBwWM6uK81lRNIP67j4219ax/VQDe+qah5fxNCFo6R/gn9/8gP948C4W5F3c/0kemtkaiSbiA5ZVD6bU0Zl07towl0UL8q/oMTPSr8+YRbfNSkNPP3XdffQFgmS4HGPet2fQP1y6ym2zTGq/+joH+ON3X8PX60dWZGYvL2XtQ8uYt7qcjBkejOZ4vKkQAjWm0dPWR82hBj54dhf73qskFAjzzh+2Mf+WChZvmKvPOk2Qg1Ut+EPxLHSDInPP6tnMKc6a8Odqt5pwOc5eO529g7pwmgBXVDidiyxJFKWlkJ/q5p455eytb+YXO/Zxsr17eBmvtX+AZ/YfpTgtBedF4pVkSSLVEZ/GPLOvKjQae/vHNUjp6OiMjfvunH+1u3DdMCcng8NNbXiDIX6/6yBfWrsci/HiSTBCCELRGL/deZDBoZmm2dmTa3J4cNNx2uvjQcNzV5Xx1R9+lvTcFORzZuklScJgVMiY4SE9L5U5K0p55vtv8spP32egZ5Adrx/kpttmo0xiiaXpSH1rD7Gh1ReT0cAti4onRYyaDAqmEZmf/mBk3DOfOme5JtawFFkmzWHn7jnl/PCR+1lTVjj8niYEe+qbaOq7dEpmmsNO8ghbg5iqcbilTb9AdHR0rip3zi7DYTahCcGTuw7x7Tc+4GBjK73+AKqmJYxRqqbR5w9yoKGVf3ptE8/tq0QATouZ22eXTmq/jm6vQlM1zFYTn/nWR8iYkXqeaDoXSZJI8jj52NfuJTM/bsh5dNtJ1Os0cP9aoqvPP2xWmeSwkJk6OTOsiiInhKxErjEH+uuNqzrjNJIzqjrb7eILNy9la009MS3+Q+zwDeINhhBCXFB9S5JEVpKTTJeDHn+8wG9M09jf0MpHbwqRZJ3cKW4dHR2dsSBJEjOz0rhnXgXP7a8kGI3x3P5Kdp5qpCQ9lXSXg2SbFZOiEFVV+gJBOn1+ajq6aemPG/oqssR98ysoTU+d1L55u30IAVmFaaTnXtoiYeQ5Odw2Subn01zTjrdnUE8WmARGik+bxThpMX2xmEZ0RBzxRLzUdK4h4TSSIk8KLot5uEhwTI0HeV+KXHcSMzPTON7WOfwbPtLSzp76JtZVlIw7m0VHR0dnMrCZjHz51mWEolHeOVZLMBqlpX8gQRhJSAgSy2Oc2ffOOWV8Yc2ySxptjhezLR4XanNakZXx30wdSfEaoLolweRgMRuQpHiWuD8UQROCyZA4/lAYn/9sYoEnya5bEUyAa2Kp7lz6AkH8kbMFM20m45hKs5gMCnfPLU9w1u3xB/j59v3DwZU6Ojo6VxpJkkhzOvjWfev46oZVLM7PSRBBqiaIaVqCaLIYDSzKz+GrG1bxd/esJc1pn/Tg69ySTCRZwtvjQ72M5ZvOlri5aW5ppm6GOQmkpziHM8h9/jCdvYOT0m5HzyDNIywOCnLGZvOjMzpTMuMkhKC2q4eOgUEW5GVhNRqRJemSP3ohBBFV5al9R4iMmFbMTU5KiF26GItm5LC8aAbvnzw1/NqRlna+/eYH/M0dayhIdV+0L0IIBPE4g0AkioSEy6qbaOro6Ewcm8nIx5bO57aKYk5393KstSOeaecPEorGsBgNJNusFHqSmZ2TQZEnmQyXc8osVZZsmMuzP3iTjoZuWus6Sc1OHpM4E0LQ3dJHfWUzkiSx9I75KLrty4QpyfNgMMjEVI1wJMb2w6f56PoFExLMMVXj4Mkm2nt9w6/NK8nWa9VNgClbqqvq6OYbL71NQUoy6yqKWZCbRbbbSZLVisNsxKQYUOR4Blw4puILhWjqG+Clw8d5c0RtO0WWWFk0gxz32ILkTIrCE7eupKGnj9qu+NOQEIIttfWc7OjiQ/NmcUtpAR6HDavRiFFR0IYEmz8cwRsMUdvVw76GFo63dfL122/h1vKiix5T1TTCMZWYqhJRVaKqNvT/GjFN5XRP33n7VHd2MxAKYVQUjLKCcSh4z6jE/9+kGHT/qSGEEERVbeizPfNPfPk2pmqEYjEGQqGEfQaCIY63dQ5/nsahz9Ygn/l8FYwGRX/qmmKEEARDUQYGggSCESKR2PCsiqLImI0KVqsJl9OKxWqcFt+HQZHJSXaR7XaysngGQoAYESAkIcXrAI7hYXOilMzP5/ZPrubN32zhd99+ia/+6LNkzvBcNEBcCEF3ax9P/tsr9HZ6WXBLBSvvXajPOE0CC8tz8CTZae70ElM1Xt1cyfyyHMpmpF3WtSCEoKq+k6feOTgcP5WZ6mR+eY6+VDcBpjTGKaZq1Hb1UNvVg9mgkO12keVykmK3YhsSLarQGAxH6fL5OdXVQ/dQYPcZijwpPHTTHCzGsXkxSZJEkSeFr65bzf99cxOt3rMqu9Pn52fb9/L0/iPkJieRZLVgMRjis0vRKH2BIF0+/7BZXbLNep67+WjsOt3Eq0dPEIqphCJRQrEY4ViMUDRGKBbDF4qct8//efU9bCYTZoOCxWjEYlAwGw1YDAYsRgNry4q4c3bZmM75Rqc/GOLZ/ZVUd3YTikYTPttwNEYwGqNrMLH0wOGWdp545jUsQ5+p+Zz/ZrocPLpkPnl6tfkpIRpVOVndxuHKJhqaeuno9OIdEk/RqBo3rDUYsFlNJLkspKe5yMtNYd7sXGZVZGM2XZPhl5PKGV+7q4liVPjoE3fh9wbY8dpB/vNLv2TlvQuZs6KM9LxUHG47ikFG0wSBgSCdTT3UHm5g60v7OLK9irzSTD7xvz9Eep5H93CaBOxWM3eumsnPX9wFQG1TNz98agtf+dgtlM5IH1dbqqpxuLqFHz2zja6++JKfLEksnZNPXqZb/74mwJSNTud+KeGYSl13H3Xd58++jIZBlinypPCP962nyJMyrmMbFJk1pYU4LSb++Y0PqOvuJaqdzVYYCIU53tY5rjYvRlVnNy8dPjGufdoHLrx2LREvkKwLpzj+cITNNafZ3zj2umihaOyiFhY5bhe3zyrVhdMkIoQgEIxw6EgjL752kNrTnfgGQ8RiY0tTNxhkHHYz+Xmp3HfXApYvKcJhN+sD/ATQNI2/vutf8fUnPpBKgCRLKAYFs9VEJBxDjalU7qim+kAddpcVk8WIYlCQlbhwUmMq0VCUwGCI0FCgsTvNRXdrH22nO8guHl8NPp3RuWvVLHYfbaCyNl6WbO/xRr7+g1e4Y+VMbltSSprbgdGgnGNhIQiFo/HVj6hKV98gr22pZOPeGnq8Zx8qszwuHrxtHnaLHsw/EaZMOBV7UlhfUUxla8dFRcK5KJJEbnISt1UU88iiueSnXJ4yNigyS/Jz+Z+Pf4jnDlSyqeo0tV09wxYHl8JlMXNTXjZZSc5xH1tHZ7qhaRqn6rp47uV9vLvpOKo6/tz0WEyj3xuk39vMkWPNrFpewiMPLmV2RbYePzMBmmraGegZ+xgcCUWJhKJj2vbgB8c5+MFx7Ek2/lj9n5j0G/KEkCSJ7LQkPv/gSv79N+/T1NGPENDaNcCvXt7N71/bS1Guh0yPk96Bs4Koqr6DH/xxM97BEHWtPTR39BOJJmaiu+wW/uTDK6go0AXuRJHEFPmuCyHoD4ao6+6jprObE+1dNPb20+b1MRAKE4rFiKoqJkXBYTaR7nRQluFhXk4ms7LSKUlLnbTU26iqUt/Tx/G2Lg41tXKivYu2AR++UJiYpg33Ic1pJy/ZzdzsDMrSUylOTyXd6bho3IWmadR393Gqu3dS1/jzU9yUpnsmrb2pJhyLcbytc9hDS0IiLyWJskk4h2AkyrG2TvqDwYk1JEDTBEIILEYDc7MzcdssSPLUx5KM2h0h0FQBEsgX6IMQ4ux2Z5Di8UHXyuAnhODQ0SZ+9LONnKrrQtMmZ0iRJMjNTubPPruW1ctLrpnznShnElAQYtzWRxKMK6hX0zQ+Uf5XcZ+lKcRsNfL0qR/owmmSiKkau47W82+/eZ+OHt+ld7gEbqeVT9+7hIfWLZgWy+BTzZQJpzOMzFJTNYE2dCOIH1QgIcVvHJKEIskYZBlJOn+pb+L9YMgjRSOmaUP9iPeBEcGYiiShyPKYAzOf/e12Xv7jbh7/83Wsu0cvQXGtommCyoMNvP7cXk4cbiYQCGN3mFl560we//P1mMxXfjBpbezhB//3VWx2M3//74+MOqsihOCVp/fw9C+3EouqRKMqGdlu/vXHj+FOsV/xPp+LqmocPNLId773Jp3dow/wRqOC3WbGajGiGOT4eYr4mBCLqQSDUfyByHCpiXNxJ1n5qy/fzqrlJRiu85IeA8EwNZ3dVLZ00NLnZTA8vtIXaU47f3X76jFvL4Tg6I5q1MilffAmgqRIzFtVfknXcZ2xo2mC2uZufv3qbvYda8Q7GLr0TudgNhooyk3lTz+ykqWz8+N+YTfIA8jVZMrvFpIkxZ+SFIWraVYqSfFZkHg/Jq8jsYhK0B++4KB/rSGEYNeWKgwGhUUrSiZUcft6or/Xz3/986v09/pZvqaclDQnoWCE1HQXRtPVuTAjERVvX4BYTENoggs53S1cWoTVZsLnDfLCkzsJBiLXRIFOIQT1jd389NdbzhNNkgQzclOZPzeXghkeMjOSSE6yYbEYMRkNCASRiEooFKG3P0BHh5e6xm4OH22mubU3QUz0e4P88vfbSE9zUVGWed0O/M19Xn61bT+vHjmJLxS+9A6jUOhJHpdwkqS4oNG5/pBlibIZafztZzew80g9Ww+e4kh1K23dA5fc12IyMKcki5XzC7l1cSlZHtd1+7u5FtHn7KYZQhM8/7udVMzJ4ablxTBppv7XNicrm2lt7uWejyzm01+8FavdjKrGa4RdrQElJz+Vb333UQwGGcUw+pO6JEnMKEpjRlEawUCETW8exTcwwSXLSSIcifH0C3upOdWR8HpmRhIfvnchq1eUkppix2K+tHmtEIJQKEp37yBbdlTz8uuH6Og8e4NoaOrhD8/u4u++di8Wy9gybK8VhBD4IxF+vnUvzx84RmwoLVyRJWRJIjZUq06W4n8LRHxJeUQbDrMJl9XMkoLcq3MSOlcNh9XM+qVlrJhbQN9AgIa2Xmqaumnu6KdvIEA4GkOSJOwWE+kpDkry0iidkUZGipMkp1W3tZkCdOE0zejqHKCupoOKOTlXuytXlN5uHxISuQUeHC5rvNr7VV72MRoVsvPGlzF6LXH8ZCvvbz6RENM0qzybv37iDgqHir+Op/aZ1WoiNzuZjz+0jGWLi/juf73N8ao2IL7Uvn33KY4ca2bposJLtHbtUd3RzUsHTxBTNSxGA/Nzs5iXm0mSzcIrh05Q3dHN0sJclhTkEompdA0OUtXeTXVHN5Ik8cT6lTywcDZ20/UlGnUmB0mScNjM2K0mcjPcrFpwcW/BM/voTA3TTjiJodim9pY+Du4+RV1tJ0F/BLvDRGFZJivXVuBy2xIuOiEEqqpx4kgzuzZX4fMGSM9ys/bOOfGA8BHXZ3fnAC/8ficGo8xnvrz+vKWwaCTGmy/up762kw89uoz84vThY0SjKgd2nuLowQa8fX6S3HYWLCnkphXFCcHDkXCUX/33+5TMzGL5LeXs3V7DiSNNBAIR0jOTWHXbTApLz2ZOqKrG/p21VB9rpepYC0F/mN1bqunqGBg2QUvxOPncExuG42x2bali1+Yq1t4xhwVLE3+kVcdaeO3ZvSxeUcKaO+YMv95U38WrT+9l9bpZzF6Qx+6t1Rw90IDfFyI13cXS1aWUz8kd/kxEPPCMY4cb2b/zFN0dA9gcZspn57BibQUW66VnKi7GscONHNx1mt5uHzUn2lBVjfdePcSJI01AfCr8kc/eQn5RWsL3fPxwE5UHG+ho7UdTBe4UO/OXFLBgaVFCUPbLf9yNYpSZv7iQt17cj6zI3P3gImx2MxvfOEJTXTeLV5eyZGUJBqOCJElEIjE2vn6EQ3tPD/czMzuZx75824QHuoA/zDO/2sagL8Tnv3o75nNmZtSYxpZ3K9m/8xT3PbyU8gmIZ00TvPluZYLVQF5OCn/6+C0U5l++p8+Z/YoL0vjTx9fw3f9+m6aWuIWJqmq8vfEYixbkX3dZdjtqGwnH4jMDd88t5y9uW0GGy4EkSRxv7aS6o5tF+Tl8Ye2y4Vmohu4+ntl3lOf2V/L8/mPMzErnphnZV/tUdK4iuhi6Nph2wgmg5ngr//7NFwiFolisRhRFJhyK8t5rh3n7xQP83b8/TFrGWX8fNabxwu938NzvdmAyGbA7LZysbGbXlipSPI6Ei9lsMdLT5WP/zlrWbJhDcUVWwrFbm3p568UDCAGf/cqG4df7e/389D/fZv/OWuwOC0aTgUg4yjuvHOTWO+fyiT9dMyzoYjGNnZuraG7sYecHVdScaMViNRKNquzsC/DOKwd54u/vY9GKeCZSLKqy7f0TtDb20N/nRxMC/2CIjtY+zqg+7Zz08cbTXWx99xilM7PPE05dHQNseecYKamOBOHU3xtg63vHcCRZ2b21iu0bT2AwKKiqRjgUxZPuGrpZx48Z8Id54fc7ef25vZgtJswWI9FojI1vHGERceaOAAAgAElEQVTTm0f48/99L+lZSZc9WDSd7uLIvnqiUZWB/gAgGPAGUVriNZtkWSIaTqzP9eyvt/PK03swWwzxgHEBg4Mh3nxhP/c8tJhHP3cL1qHCqMcONdDR5mX35iraW/rp7hrg5NFmKubksmtLFYHBMNs3neCb//EIsxfMgKEzNxhlNFWjs93L6eoO8go8PPbl2y7rHEdiMMY/67de2s/iVSUsvyUxtqWvd5DXn9tHS2Mvn3tiwwVaGRutbf1U1bQP/20yKtx9+1zmzs6dlMFdkiTmzs7lrg1z+fWT24dTq2tPddDa3k9ezvU1U3e0Of5Z2U1Gvrh2GZkjbE7MBgUJiMRUVE1DVpS4j11aCn+5fhXBaIzn91fyvXe38f1H78XjuPpJATo605lpJ5wkSSIj281HPr2S1DQnRaWZWO0mOtr6eeaX29jxwUk2vXGUhx8/G4B5qqqNp365jcwcN3/y1dspm5VDwB/m7ZcO8PIfdxMdURzT4bSwcGkh+3bUsvODKgrLModnWDRNUHuyjaa6bh757M04nBYAQsEIL/x+J7u3VnPfw0u57a65pKQ56Wzr5/nf7eDtlw6QPSOF+x5eiqKcvSkd2HWK4vJMnvj7+yipyCIYjLDxjSM8/cutvPnCAcpn5+BMsmG2GPmr//MhID6T9C/feJbb7p7H43+xftKf3GMxlfdePUTpzGy+/Df3kFfoQVU1Wht7yC9OT5gF2/LOMV58cicr1s7kQx9bSlZOCv29ft57/RAvP7Wb53+3g8/8+Tps9surFXjnhxdx54cXAfDac3v58b+9yUOfXsl9Dy8ddXtJkli8qgRnkpWSmVlk5cZvzrUnWvnhv7zOxjePsHr9LEpnnn3qr6/p4NNfuo2b18/iVz98nw/ePordYeFb332UxtOd/Ps3X+To/gZmzZ+BJIHRZGD9vQtYf+8C6ms7+PbfPHtZ5zYaJpOBRSuK2fTWUd5//TCLlhdjHEo9FkLQXN9N9fFWbrt7HknJtgkdq7G5B++IWCuXy8ryJUWTGk9hUGRWLivhhVcO0D1U7NQ7EKS5pe+6E05nvOwKPMmkOx0J71mMBpAgFI3Glz2HVpAlScJqMvL4ypt482gVBxpa2VPXzN1z9WBvHZ2rybQTTgBJyTbu/NBNMML2oLAkg7V3zeXA7lM01XcjhECSJIQQbH6nklhM5e6PLGbB4kJkRcbuMHPPQ4upqmzhyP764bYlSWLB0iKS3DaOHmygt9uHJz1eZy8ajbFrSxWKIrN63UwgfkNra+5j5wcnyS9M45HHVw8LBafLysf/ZA07Np1kyzvHuP3+hQkiQo2pfOLza1i4rAhJknC5bdz/8FLefvkg7S199PX4cSZN7AY5XjRNYDAoPPipFcyalzf8+ebMSE3YLhSM8N5rh7DaTHzqC2vJzEkGwJlk5eHHVrPt/RMc2HWKux5cRGFpxhXrf3F5FiUVWQmzJjctL2bJqlJefXYPPm9w+NoAcKc6mLMwn7TMJGbOy2X3lipmzsslNz8VRZFISXPS0dbPGduLqaZsVjYlFVnUHG/jdHUHZbOz430VsO394wghWL1u1oRnhbp7BgkGz5YSSk1xMCN38sVMXk4yqamOYeEUDEbomaSK8VeSQCRuKJlss55XI8xuNiEhMRiOEtM0zn1MyExyUp7pYX9DK9tq6nXhNE0QQhBTNWKqhqppRCIxwpF4uamJeqVleVzYdM+ty2ZaCidJkojGVLravfR2+wgFo8SiKk1D5n2RSPzCVBQJTRNUH2slOdVOQUn6sMmlJEkkpzqYUZRG5cGGhPYzst3ctKKYzW8dpfZEG6lpTiRJoqdzgH3ba1i8qpT0LPfw9h2t/bQ09bB4RQkHdp1KaCsUiGC1mair6SB2jhOsJ91F6azshJugzWHGnWxn0BckEklchrpSlMzMIr8o/aI350FfiJOVLeQXpXH8SBO1J9sS3jeZDDQ3dDPgDVyghalBkuJLiB2t/fi8QcLhKGpMI+APoanxOLSROJwWrDYTkiRhs5sxmY140uOpv7IsYxpach230+FlYrWbWXfPPP7jWy+xd3sNxeWZGIwK/X1+dmw6yaz5eRSUjK/m1WgMBsIJzsRpHueUBNsbDAppHufwsmAkqjLov7xU/quJaeizCUTO921yWy1IkkSnb5BQNIbdnHhDk2WJHHcS+xtaOd01tpJVOtcvQgh6vAEqa9vYc6yBqvpOWrq8DAyGSCwHffn84GsPsnRO/iS0ND2ZdsJJCEFvt4/Xnt3Lwd11dHd4QZIwW4zEIjECg4mDciQcIxSKYjIbsVhNCWJAkiTsDvN5Tr6SJLH2jrm88dw+juyvZ9GKYgxGhV2bq9E0waIVxVisQ4G7Arz9fjRVsGdbDXu21Yzab8Ugn+fd40yynbfUFr9hS1fsRj0acQFx8UtroD9ALKZyqqqd7/zt86NuI0nScEXvK4EQghNHmnnlqd3U1XYw4A1gNhsxGBV83tEtABSDjKycFdOSFI81OoMkcUW/C0mSWLismLQMF/t31nLnh28iNc3Jvh21BAMR5tyUjzvFPuEZJ00VCdejdQotAiwjriVNE1f0mpgsUu02Tnf10trvO+93nJnkRJYkGnr68YcjpDrOnyU+83X5I+cXDNe5cRBCUNfSw09e2MGeykYCoxSIn5TjTEmr04dpJ5xiMY1f/OBdtm88wc0bZvPFv76T1HQXiiJTdayF7//jKwnbK0pciGiaQDunzp0QYmjK9PzLsKAknZnz8ti+8TgPf2Y1JrOB7ZtOkD0jlVnz886KLQmMQ6Vl7n90Gfd9dMmo/ZYkcLisCa/JssR58/5TjBACNaqiXsTw84zp6cUwGhUkJBavLuEzX16HabQyABKkZ16ZIrxCxOPPfvSvr9Pf6+fBT65g6c1l2B3xIrMv/WEXT/1y65jautqJLza7mQ33LeC3P95E7Yk2bHYzu7dUY3daWDRJ7tsmo4KiyMMiZsA3flfjsTKybUWRMF5NJ93LpCIrjb31zfT6AzT09lOWcbYUUWmGB6Mi09I/wL6GFvJSEhMiIjGVU129AFh1O4IbGn8wwnd+8z6Hq1vG5Sivc2WZdsLJPxBkx6aT5Ben89m/2ECKZ0SgpuC8p1mjyUBqmpOO1n76e/wJ8S2xqEpfz+CoT8BWm4lVt83kFz94l8qDDdidFjpa+lh2Szk5+YnxPp50J3aHmd4uH3mFl5/KPRbOtHwp5+n4DBeEzyn2qWmCrg7veUtW48WdYsedYqe3y0dmjhuH03rpnaYQIeLZlqer23nosVV85FMrR7wnCFxHy0OSBEtvLuONF/bz7qsHSUq2caqqjcKSdEpnZl26gTHgdFowmRSCwfi139Xti2epTvLMUzAYoWuEK7nZZMR1la+Vy2FpQS6/23mQqKqxuaouQTjlp7rJTXZR3dHDz7fupSDVzdzcTIyKQjAS5c2jVZxs6wKgINV9oUPo3ABsO3SaE6c7hkWTIktkeVwUZKeS7LJhMRswTEKdyiyPaxJ6O32ZdsJJHZrqjy8lnV1u8A+G2b/rFP5znpwlSeKm5cXs2VrNgd2nmLsoH4vVFK9Y3dRL9fHWUec9ZVli5rxc0rOS2PLuMYrKMgn4w6y8tSLhiV+SJLLyUiifk8uxQ40c2nOauYsKznodaQyXczGZDRP+wVjt8RmU/l4/wUAEu8MMQ3X8Ri45JqfEBWVdTQf+wRA2uxkh4ktsOzadmFAfAKw2M8vXlPPea4fY+t5xNty7YGjJSxr2U9JUDZPZeIXKwoh46RMhsFiMaJpAkuKiqaPNy4Hdpy/dxDXCmczRBUsK2b21moKSWjrbvXz882uGs+wmSprHic1qJhiMC+u+fj+1pzuZPTN70oS/EILqUx309Z+Nc7PbTKSnOS+y17VJeaaHbLeT1n4fu0438tHFc3Db4gLQqCjcPbecmo4d1Hf38Y3n32ZmdhopNhutXh9Hm9uJaRoScEvp9Wf+qTN2quo7iQ6N94oscf/auTywdi7pyQ5sVhNGgzLmOqo6U8e0E06uJCuzF8zg6P4Gnvn1Nm5aVkwoGGXbxuO0NfWeZxoIsPaOOWx66yivP7ePUCDCvMUF+AfDbH3vOKFAJCGm5QySJFFYmkH5nFwO7KqlpbGH7LxU5i0qOG9bT7qLhz+ziv/597f4zt89z9Kbyyguyxq6afdTebCR2+6ex/2PJNoRXA5FZZlk5iSzY9NJnElWKubkxoPIJYnb71swvN28xQXk5Kew5d1KhBAsWFpIwB9h23vHGPAGsV6mRcAZTGYDD3xsGe0tffzsP99m/45aZs7Lw2BU6Ose5GRlMzkzUvmTv7x92DdpKol/X+mkZ7p568UDuNw2MnOSaWno4YO3K3G6Jj7LIUTcR6qtuZdYVKOlsSeemBDTOLK/HoNBwWw2kpHjHj5eYDBMS2MPkUiMgD9MwB8mHI5y7HAj7mQ7RqNCerZ7WOiewWozsfLWCnZvreaN5/eR4nGwZFXphM/hDAX5HlKSbcMZbgMDQd7bfIKiwjRs1sn5vgLBCO9uPM6A72x8mcfjHHYlv16QJAmP086dc8r4oKqOuTkZaCNmfCXg7rkVbK1p4EBDC019Xpr6vIwMj5MlieVFeawu1QN6b2QG/KHhayMlyc6XH74ZxzmxtTpXn2knnAxGhce+dBvP/Hob775yiFef3ovLbWPxyhL+4m/v5f99543z9nG4rHzxr+/ixSd3seODKt577TCeDBcb7luIJ93J7368adRjWawmlq4uZcemE5yuauezX9mAMkp8yRkLgz//xj289dIBDu+t5/3Xj4CAZI+dkopsissyJuXHY3eY+dwTG3jut9t5++WDvPzUHmx2EwuXFScIJ0+6i899ZQPP/mY7u7ZUsfHNI6R4HCy7pZz7H13Gb360cUL9kCSJ/OJ0vvjXd/HmC/vZt/MUe7bVEIuqOJOsFJSkM2dh/hWLZ5EkibJZOXziz9by0h928ZPvvo0sS2TnpXDLhtnMW1zA//7ibyd8nEN7TvOT/3grnlocjBKJxJAk+NZXnsRkMpDicfLZJzaw7OYyIO4h9r1/egVffyCeqDCUofedv30es8WIxWrkk392K3c+cNN55zPnpnyy81I4dqiR+x9dis0xMbE7ktRkO7Mqsqk51QnEZ3I3b6tizsxsbrtl5oRnCTVNsGV7NVt3Vg+nXksSLJw3A/cVttiYDCwGA48smce98yooz/AkzO5KkkSO28UT61fy3be3cnjILHOkaFpZPIMn1q/EZbVchd7rXCnSUxwosoSqCSxmA7Yx1HnUufJI4loos36F0bS4c/agL4SmahgMCk6XFavdRE+nD1mJWw2cW3Yl4A/jGwiixjRMJgNJyXaEEPT1DOJMsmJ3nD+ohUNRujsHEEKQ4nEOp66PhhCCYCCC3xcathIwGhWsdjM2u3k4g07TBJ1t/ciyNBzYPpKudi+qppHicY4adK2pGr6BIAF/GE0TyIqM1WbCnZzoSKxpgsGh7VRVw2hUcCbZMBhkensGsVhMCUaK4VCUni5fvK0xZm4JIYiEY/gGgkTCMYQQKAYZq9WE3WmZtBT3QV8oXsYm2T5sPDoasZiKty9AOBQB4tmWziQrsiTR2e4l2ePAYokPZj1dPtSYRrLHgdGoEBgM4+2PH8NmNxOLqfR0+TAaFZJT4zNCAX+Yvp4L+xDJsow7xT7s1xUKRujpOj8T6wwSEq5k26gzYpqq8Q9/9RTHjzTytX/4MEtvLpvUQbjmVAd/8fU/DC/XAaS4bXzp87excmkxtotc6xdCCMGgP8yWHdX85JebE0w2k902fvTdT5CTlTxp53AtoWmCTt8gW2vqOdTUxkAwTJrLzpL8XJYV5eK2xa9DnRuXqoZO/vI/XqDXG8BmMfE/f/tRyvMvbu2ic+WZlsJJR2c60HCqk29+5Uly8lL42j89SOokxwZFoyo/+dVmXnh1P+qIkj1mk4FlS4q47ZYKyksySU+7uMeTEPH4svZOL1XV7by3+QT7DtYnJCCYzQY+8/FVPPLgkuuuTt14uKBA1m+c0wIhBM+9f5hfvLiTfl+Qm2bm8bkHljO3JAuTcdotEF2z6N+Ejs4NwsibbiyqsuODkwwOBFm8smR4xmsyMRhk7r97AVU17Rw51jz8ejgSY8v2ag4ebiQny01Guou83BQy0l3YbWYsZiNCCELhKIP+MO0dXppa+ujsGqCltQ9/ING7RpYlViwt5o51s69QosDVQxdIOvfdPBuX3cxvXtvLoaoW/vnn7zCrKJO5JVnMyHTjSXbitJowGhUU+fIeIhw2M8YpMKydLugzTjo6NwiRSIzKAw0EAxFOHm3mrZcOkFfo4R++//FJCW4fDSEEp0538p0fvEV1bccFt5PluB/aGY8vAcPZnHGPtNGHIUWRWXpTIV/7yu2kpjh0YaEzLQiEIpys7+D/PbONo7XxqgoGRY7/jiYhq+4/vvohFs+aMRldnZboM046OjcI4VCU53+/g0N76jBbjMyen8cn/+zWi8Z0TRRJkiguSud//fnt/PTXWzh0tDFh2e4MFxNHF8JsNnDr6nIe/+RqXTTpTAuEEPT5gjzzzkHe3XWS5k7v8HsxVYOJ2ecNo06w1t10R59x0tG5QVBVje6OAQL+MLIikeS243LbrsjylqYJenoHee2tw7z0+kF8g+HLLo1iNCikeRx86tGV3LyiFMeQe7uOzo1OJKry7V++w3u7q4f9nKaC//r6R1im16q7bHThpKOjMykIIRAC6hu7ee+D4xypbKaxpZeBgeAly0coskRKioOCGaksuamQdWsq9FkmnWnH5v21fOvHbxAKny3QbjUbyU13k+q2YbOYMCjKhMs6PXbvUorzri8/tGsJfalOR0dnUjhT5LioII3PffpmOjsHaGrto62tn4amXrp7B/GdsdqQ4tl3SS4r6WkuCmakkpWZRF5uCinuiRch1tG5HjlU3UIkcnamqaIgnYc3LKSiIIOUpCHhZJC5dDXQi6P/vCaGLpx0dHQmHUWWycp0k5nhRiwQxGLqcJyT4IyhZTzQVVHk+M1AH811pjkDg2edw502M9/8kzsoyvXc8Nmk1xu6cNLR0ZkyJCkukEYzYtXR0Ukk0xM3NFZVjZQkG4U5qbpouga5cZ3kdHR0dHR0riNuXVyK2xG3DvEOhugfvHR8oM6VRxdOOjo6Ojo61wDFual89RNryUlPYjAQ5mcv7KS925tQFFrn6qNn1elMOb1hL6+3bUcIwd3Zq/CY3Ve7Szo6OtcRqqbxVstxdnbVAfEajQ/MmMciz41n4hiNqVTWtvHKlkq2HzpNUU4qi2bNoCTPQ3qKE7fDitVixGxUEopFjwfTBFzHdfQYJ50rwFvtu3i66V0kJFQ0Hi+872p3SUdH5zpCQ3Cwt5ln6w8OvzY/JeeGE05CCGoau6hr7UFVNWKqxsGqFo7WtmEyGjAYZBRZHnIPv/wSPf/0xbtZWJE7yb2fPujCSWfKGYgOooq4GaIvGrjKvdG53ujs8uEdiF83VouJ3Jzkq9wjHZ2pQQj46ndfpN8XTHg9pmrE1MgF9ho/kSk015wO6MJJZ8pZ6ZnP/r6TyJLMuowlV7s7OtcZr7xxkM3bqwEoK8nkm1+/9yr3SEdnCtGDZ655dOGkM+XMTSrmR4v+BgkwSHpFbp3x0djSR2NzLwBJSbar3BsdnSlEgvnlOQwGwlN6GJd96upXTgd04aQz5UiShEnSLzWdyyMwxTcRHZ1rBYl4/NFUTzqZDHpg+ETQ72Y3CEIIoiJGSI0Q1WJoQkMAsiRhkBRMshGzYkKRzv/BCCEIaREGon4USSbVlIQkSQghiGhRgmqYqBavnSRLMibZiEUxYZCU84IThRD41SD+WOi840iAw2DDZrjw044QAl8sQEiN4DBYsSpmwloEfyyEQGBVLFgVM/JQ//xqkKAaQQJsQ+9dLGBSIIiqMYJaeOhzEsiShEk2YlXMGGRlwuUMdCYXv18XTjrTA0mSMOtmsdc8+jd0AxBWI1QPNrG7p5KqgQZag1341ACaENgUM6mmJGbYMlmQXMqK1Pm4TY7z2vigcz//VfM0LoOd3y77/zDJRk4M1LOxcy9HvadoD/UghMBltJNny2CVZz53ZC7HeM5MUkyoPNP4Hs82v3/eMSQk/rT4wzyQs+ai5/PLuld4v2Mvn8y/i9szl/O7+jfY0XMETWjMd5fxSN56Ch05VA008HTTuxz1nkKRJBanzOLhvPUU2LJGFU9RLUbtYBPbug5z2FtDZ6iXoBrGpljIs6WzKHkmKzzzmGHLQB5FYOpceYQQ+AOTFxSro6OjM1F04XQdI4QgoIZ4sfkD3u/cS3uoB2BoviT+78FYEF8sQH2gjc5wH/Pd5bg5XzidIaRF8KshDvXX8Ou6V6kPtCXMwPREvPREvGRZPMM1x0YiIZFhSaXYkYM36mcwFiSiRtDGOfkcEyqd4T6ea3qfdzt2owkNDcH27kME1RCfL3qAX9W/yomBOoQQaAi2dB5AAr5Q/BFcRntCe6pQebdjN883b6Qt2AOIofOSGIwFODZQR5Wvke3dh/mz4geZk1Ss1067BohEVaJ6BpCOTgIj7RcFnDdHro9dU4sunK5jwlqEX9W9ylvtO1GFhsNgpcCezSxXIZmWVGRJpifcz6nBFtpC3SxMLifTknLRNjWhsbXrIK+2biOohlieOpdyZz4pJidBNUK9v5VTgy0sTqk4b7YJQJFk7shczrqMJQgEQgjeat/Jz06/NO7z29VzFIfBxueLHiDdkszLLVs41F/Nwb5qflH3Cr1hL39S9ADp5mRebd3K4f4a9vQc4/7sW3AabMODhypU3uvYw09PvUhYi5Jl8bA8dQ6zkopwKFZ6Il5291Syv+8kp/wtfL/6Kb5e8SnKnDP0AegqEwxG0LTLj/iIaRp9ET8DkRABNUpUUxFCoEgyRlnBajDiNJpxGa2Y5POXnsdCRI3RE/bjjQQJaTFUTUORZCwGI8kmKylmO0b58pMihBCE1CgtAS++aAhFkkkx28iyJSUsvQsh6Aj56AoNEtNUrIqRNIuTFLNt3OclhCAQi9AT9jMQDREZ+tyMsoLNYCLVbMdlsoy69D8eVKHRHwnSE/ITUCOoQsMoKdgNJjwWBy6jZbjv0/2XqGmCwWCYnn4/A4EQvf0B+nwBIlEVgyLjsJpJddtxO6247BZSkmwYDXoyzlSgC6frFIFgZ/dRNnbsQxUayUYnjxXey8rUeTiM1oRZIk1odIT6MMrKJZegVKHyfPNGLIqZL5Y8xLKU2Rjls5eJEAJvdBCTbBx1MJaGYqoMnP3BWhXzZZ1jb2SAD+es5d7s1ciSTLLJxdcP/zcRLcrR/lM8Xngv92SvQpEUFEnh5EA9fjVES7CLcmf+cDt1/lZeaP6AsBYlz5bBF4s/wgJ3WUL/V3vm80zTezzfvIm2UDevt20jx/YgDoP1svquMzmEQlE0TRv3flFN5XBvMzs66zjS10KLv5/usB9/LJIgAFLMNrJtSeTbU5ibnM3StAKyrK4xCQ1NCPZ2N7C5vYajfa00DPbijQaJqCpGWSHZbKPImcrc5BzuzJnJzKTMS7bb5O8bNnmc487i9pyZ+KJhflK1jffaTtIS8GKWDZS4PHyscDF35c7GrBhQNY2tnaf4dc0ujvW3EYxFSDHbmZ2cxWMly1ieVjjmzy4Qi7CxrZodnac56e2gJdDPYDSMJgRWg4k0i50yVzqLPDO4K2cWGVbXmNseSV84wCtNR9nVVUeVt4PusJ/okOBLtziZ5c5kfXYFt2SUYDUYLyk+hRAc62/jndaTw6/NTMrgtqxyzMr4bnVRTWVLRy2He1uGX1uZXsQyT/4Vf5gSQtDR42PLwVMcqWmlur6T9l4f4UjsvG1lScLj/v/Ze+/wOK7z3v9zpmzv6JUACBIsYC8iVUiJqla3Lce2XJLYTnHs5MbOL8lNu/fmSeKbJ05y7TQ7saO4xEW2LFuWZImWKEqiJJISKfZOEARI9L5YbJ2Z8/tjFwssUUlCYtF+9FDkljlz5uzuzDtv+b5uKksDNM4vY+OyGhrry7Dp+Uv9XJJfzWuUgeQw23v2ErMS2BSNj867m9uL16FNcnJRhEKZs2BW40ogYaX4tdoH2FiwbMIdpRCCgM07F4cwIz7NzWJfbdYILLGHqHAW0TzSToHdxzJ/PWpG3mC+pyJ97BZ0x/uz7uuUZbCr9zBt0W7sis79ZTezPFA/4eRnU3XuKt3AgcFTHAmf4a3+ozxYvon5nsr3hNdJSolpWiSSBpYpUVSBw66jKGLK4zdN6x1vQDoSTWCas9+JJS06Y8N87fgOtneepD8RzYqvjidhGSSSBgPJKE3DveygiQK7mz9ovJ0PVK+Ydh9SSnriEb7T9CZPtR6kNxGZ0EssYRl0xsJ0xsLs7mnh+fNHebRuLR+YtxKvPnUBQ3t0iP848RoS2FhUy6bSev752Mv8oHkvKSsdskxZJvv72zg/MogiBPdWLmVHVxNfOriV1pGB7Fhd8WG6OoY5PzLIX62+nxXBimm/y5aUnAx387Xjr/JGdzPh1MQCjxEjwUgkwdlIP692neaZc4f5vcW3srG4Fk0oszY4Twx18Q9HtvFWbytxM3XBPpI0R/pojvSxo6uJW0sX8MfL7sSl2VAQ04b9VaHwgzN7snOf7y1kRahy1sYwZG4OkzH+8+Qb7O07B4AmFG68CONzLpBSMhJL8tJbJ/nh1rc53z00qbE0HktKugcidA9E2H+ijWd3HGXd0mo+8/BGyot9+TYrc0TecLpGaYv1cDpyHoBF3hpuCDVettt8lDp3BetDS+dsvEslYPPi0ZzZE54mVII2L80j4FadFDvGFKS9ugsl07M6asYZjfxHjCj7B09gYlHpKGZFYEH2feMRCIrtQWo95RwNNzOYinBmpI35nvdGW4KRaJKf/2Ifu95qZjAcpfSzh24AACAASURBVCDk5uYNC7jvruU4HPqk27yw/Sg9vcPv6Lx6+yJEY7OrqrOkxa6es/z94W0cHeyY9PJqUzR0RSFlmSSt3Nwpt2ab0biAtFforw8+z47OppyLuF3R8Nuc2FWNhJliIBkjZZmY0qJlpJ8vH36R08M9/MHS2wnaZ9aj6oyFeeLsPp45dxhVKBS7PAynElmjoDcxwrdP76bOW8i/HHuF1pEBPJodv83JQDJK1Egn1Z8Kd/Pjs/tY4C3CrU/t/X2rp4X/s/9ZzkT6cp736048uh0BRIwE4WQcC0ncNDg00M6f7H2KLyzdwgfmrZixIlVKyfGhTv787Wc4MtiR85pT1QnYnKhCIWIkGErGCafiPH3uECNGgnmeEJqiTPjcRhFCUOkOsLm0nqfPHQagabiX3T1nebh6+bTzupAzw70cHOdtWl1QxQJ/8bt6E9XZN8zXnniNl948Scq4eK+rZUn6hkZ4/o1jHD3TyW998EZuXVOPlg/fXTZ5w+kaREpJb3yAoWT6olXjLiNk887Jj1ogmOcquypCVA7VhjYuTIgQWQ+Trmg5IUB1XGjQGOdhiJtJWqNdAHh1NwX2QDb3ajKCug9FCEwpaYv1IrNJ5Nc3L+84zn/99+skU+mLUktrH8eOd+DzOrjztqWTbvPzX+znyPH2d3OaUyKlpGm4ly8d3MqpcE/Oa2VOPzeX1LEsWEHA5kRXVJKWQV98hBPhLvb0ttIS6WdFqIIaz9SeWQmMpBJ89ejLvNp5Omsy2VWNO8sXcVvpQoocHuyKRtwy6IqFeaH9ODu6ThM3DQxp8dOWAxTY3Xx20S3YVX3ab1ZXbJhvnd6NS7Pxx8vupMoTpCs2zNeP7+BEuBuAY0NdfPPkGxwZ7GRVqJJPLdhIocNDa6Sfvz+yjZ54BAns6ztHdzxCjWabVELkzHAvXz7yYtZoEkCdt5CHqpez2F+aYzidCvfwxNl9NA33AmkD7l+OvUKDv4TGwOQVraMY0uLrx1/LMZo0oXBf1VJuK22gyOFGEQojRpITQ1082bI/7RHsOsOhgfac3/ZkuDU7NxbXsb3jFBEjbXA/1XqQB6uXoV7E7/iX7cdJZfalCoWbiuvw6++OaKSUkp6BCP/6+A5efPPEBK+uAFRNIeRz43bYsNs0UoZBLGEwEI4ST6YmbNPaOcBXf/AKNl3lllX5wpfLJW84XYNYSPqTYSwkmlApsgezBsXlIhAU2P1zMtblogkV9QLv0OjPXZs2Xyt91pBSEjMTDBvpPmfHwmf59Jt/Ne1JI5FJUAUYTo1c1vyvJXbtOZM1mkaJxVO89OrxKQ2nq4nBZIy/O/RijtHk1R18YN4Kfr1+I0G7E5uipesoMxpgEknKsoibKZqGe/DpTrRpQhmGZfJ4815e7DiRNZoqXAG+sPQ2tpQ14FJz8/6klNxe1sCL7cezRowhLX7YvJdabyEPVE3vJY6aSUQC/m7tw2wpW4giFCwpMaXFX+1/nqFUDFNabG0/Rr2vkD9dfjfLguUIIVgWLKczFuarR1/GQnI20kdXLEyNZ2JxSDgV599PvMaRgbQxoyC4v6qR/7HkVkqdflSRG669saiOLWUL+ccjL/FC+3EsKemIhfnKkZf4u3Xvp8DunrCP0fV49vxhXu06nX3Orzv43cWb+cC8lbguMOo2FtVyV8Vi/vHwNp5vO0Z3PDLlWo2iCMGGolrmews5MJD2GB0b6mRf33nWzrIh8EAyyksdJ7KPK1x+NhTXvise+NHw3GNP7ealPaeyBpCuqVSWBFi9qJLNq+dTXRbC5bChZBr9ysy2hmFxvnuQAyfbeOXtJprb+rIq5N39Eb76/VcoDnppqHl3vWfXG3nD6VokI1gJY4KUc/kjsClXx9dCEVPn1yizvHuMmWNhHlOahI3ZG0OmfO+UwU+Z+3AN9M0ypcUL7cfZ29eafc6l2fhsw818tG4tLs02YRshBAKBXVWwqxqrC2a+qLZE+nmq9WA2J0cVCp9bdAv3VTaiTFEo4dHtPFS9nGEjwd8e/CVGporsB2f2cFNxHYV297S/3WXBcpYFy7M3CYoQrApVUeHyMzSUaQQr08bM4sBY8rmuqCwNlmXDdqaUnI8OcsMF40sp2dPbykudp7Jhx+WhCv5o2R0UOSbPZVQVhRpPAV9csoVjg53ZvKqDA+3s7G7m3sqlk67HYDLGs+eOEMusnyIE91Y18oGaVbgn+Yw0RaHaHeQPl93B0aFOWiL9U67TeMpcfm4umc+hgXYsJMOpBC91nGBFqGJW1Y2vdTUxkBhrRr7YX8oif8m7Zmi8daSV5984hmmmb+C8Lju/ctcq7r9lKWWFM+dqhfwultWX8YEty3n17Sa+/9xeTrambyjae8L86MX9fOHRzXjzbVcumavjCpnn4hAia9yMKoZfnyGlyz8emzKWn1PrLue+sptnvW2Vq/g6XNPJ2bCujp1vNZFIjCWf2nSVjevnz3oMNX37O7cTkxJzBjmCoWSM7Z0nGTHGhDJvKZ7PR+rWTGo0XQpWxsA4nQlPAawvnMddFYsnNRIu5J6KJbzYfoJdPc0AHB5oZ29fK3eXL552uxpPAX5bbti81OnLyZFyqBpLg2UTjAK/7sRvczCQTBsBo2G78bM1pMWz5w8znMmbcqg6H69bR4F9aq23UeZ5QtxZvoj/PLUTSHuudvU0c1vZwgmGkMwknp/MhBgBXKqNR2vXTmo0jafM6eeD81byj0demnFOZI7vgaplfOv0LkaMtAd5T28rbSODzPOEpjU8YkaSN7qbs8adJhTurFiEQ508z2+uMS3Jj17YRyyR3r/PbefTD2/k4duW47gIRXEhBG6nnbs3Lqa2ooD/9bXnaOnox5KSnQeaeejWRpbXl+e9TpdI3nC6BhEIAroXgcCQBn2JISxpzVm47nrCraXbsMTMBF7Nxe0l67Ar785J8FriztuWkkqZ7N57hmg0ictlY92qWt5357JZbe9y2bjv7uUUhma+4F4MvX0Rnt16kGhscvVwmQkT7ekd8zY5FI1PL9yIW7s0GYzJMKTJ1vZj2TCuJhTur2qc1T6EEBTYXWwpW8jevlZSlokhLZ5qPTit4aQgKHZ4sV/gAVYVJSccZlM1aifJzXJoes4Ff8SYmGQ/mIjmhM4W+oppDJbP+nbh1tKFPHZqZ9YxeaC/jUgqMcEYskhX0nXGwtnnlocqmO8tnHEfgrRH7THbTgaTsVnNq9IdYEvZwmyS+LGhTvb1n6faE5r22M5E+tjffz57PGUuP7eWLpzVPueCE2e7ONGSNi6FEGxeU89Dmxux65d2blcUwcLqYn7j/Rv522+9SCSaoD8c5c1DLTTOL0PNG06XRN5wugYRAoocQbyai7AxQmu0k8FkhJBt9iW37wWEEDhUO9WuUk4MtzCUGqE73k+V691zu18raJrCA+9bwd13NBKPp3DYNWw2bdbr5HHZeejelVRVTC+werGcbe1l+47jUxpOkK4aG186vzhQyrxpkrwvhbhp5CQ0Fzrc1HkLZ+VtgnRIfYGviJDdRVcsXdRxYqiLcCo+waM0iq6ok0oXCNKeIUE6kqoJZdIqPVUoOXk5CdPgQp3pw4MdxIwxOYBKd4Bih2fWn3ux04NLs2W9fS0j/cTN1ETPlmVxZpy3DmBNQdWs9iOEIGB3Uu0Oztpw0oTCXeWLebH9BDEzRdIy+WX7ce7N6F5NhiUtjg50cG6cpMOd5YtwvUveJoCjZzqzuYY2XeXODYtwOi7Pa6oogmX1ZSysLuLt4+lK7MNNHViWRM2rE1wS+WW7BhEIyh2F1HrKATgabmb/4MlJW6C81/FqLlYFFqKg0BHv5c3+o5jSnLKqbhSZ+e+9xGiDUb/Pid1+cXlzqqrgcc+dh2cUp8OGokw/j2ODnTmPlwbKcFyk4OFMtEb6s+X9ACUOHyHbzJIC4ylz+gnoY0bSiJHk7AWl/+NRFQXnFGGs8QabIhQ8k3i+BLnGy2T1aMeGOrMaVIJ0XlFnfJgzw70z/mmO9NGREeQcJWEaDKcSXFjWlbLMCTIH9d6iWXu23JptypyryRBC0BgsZ3mwPPvczu4ztE6TJ5Uw017F0cq9oM3F7WULZ20czwXnugazuU0Om87yBeUzbDE7ikIeqkvH5FtaOgZmPAfmmZq8x+kapcge5JbClRwPnyVmJvjO2WexqzprAotxTnISjaSi9CaHKHWEcFyikve1iK5o3FS0kp19h2mJdvCztpfx625uLlo5qaJ5wkzSEu0kaaVo8M7LUU3PMzWapuB+Jwwnpz6taJ8kLRo5nipPENtltDiZjM5YOOdC47c5p9VEmoyg3ZmTc2VYZtb7NBkKYlbJzEJwyS1d2qJD2RsECfy89RA/bz10SWONEk5N9ApZ0mJwXMK1AIqdszeE7KqG33ZxycwlTi83ldSxr/88Scskbqb4WetB/r/G2ye9KWiLDuaEfFcXVFLrLXxXvdPD0UTWkA14HdjmSHNJVRQCXieqIjAtSTgSf8fFa69n8leFaxQhBJuL13Bw8BQ7eg/QnRjgX089wUJvNUt8tRTaAwgE4VSEc7FuWqOd+HUPn6l7iNJ3yHCSmVLpUW+NlCCxSJhjd+oJM0XcTCBQMnnEAgWBOkvV4Uuh1l3Gh6vv4J9OPk5fcohvnnmK13oPsMhXQ7E9iEAwYsZoj/VwLtpFR7yPRl8dte7yvOE0S5wO2zvSF8vp0Gf0OI0P0wkEbs0+50n9kVQix/9oU9SLNlbsipYjd2BKmdUamgzB7KpHRyUWLoVwMjbnflVjEoFKi7S8wig2RZu10jikw44XW+2rCoXNpQv5XtMeuuLDSGBnTzOdsTBlrlzJFSklL7Yfz1ZM2hWN9UU1BC/Sq3i5jPduzaVhI2W6wCE7ZD5T4bLIXxWuYdyqg8/WP4JP9/B67wEGUsO82X+EPf1HsyekUb0aCSzx1b3jc/pOyy84MHiSqBFnxIwRMxKkZLpSSyL5bsuz/LB1Kw7Vjltz4lLt1LnL+Wz9I9jVuamAuhBVqGwqWoWCwo/OvUhLtGOSdRoLz6lCYXWg4T1TUTcX+P0X30h2Nmiain2GaqLUuAu1KgT6O2CEXyi8qArlokM4qlAmqNZP1g7m3SR1gZHj1e2Thv0uBvskOUFSyhzFb025uPUbbcp8sTT4itlQXMtTrQcBaIn08UZ3M++ftyJn/0OpONs6TmYNiyKHh9tK390wHYDP40ARAktKBodjxBIpPK7Lv9E1TJP+oWi2YXbA65zzAtj3EnnD6RpmtG/cr9Xez9rQEnb1HeJ05Bzd8QFGMm1H3JqTQnuAea4yNhQ04tfnturpQs5E2jg53Drl66a0MGWSuJVkMJUOU6SkgfUOX0BUoXJz0UrmuUvZ2XeIg4OnOB/tZsgYwZQWDtVGoT1ApbOYJb5aVgUb3jFD7nrE73tnNGGEELhc038O4y+oprRIWukctrk0ni6sbEtJE/Mimw+Ptl8ZRXDlNdPG97ZUMwnVD1ZdXHuSC2nwl0x4TgiBY1w1a8oyJ/T3mw5Lyot6//j9Ply9nGfPHcaQFhEjyc6eM9xVsQjvOCXwA/3naYsOZh+vLqii2h2cbMh3lMriAKqqYBkmiZTBoaYONi6ruexxu/sjtHaOJb3PK5teliHP9OQNp+sAt+ZkfWgJywP1xMwESSuVPUGrQkEXGg7VjlO1T3kHtaloFcv89QjAb7t04+r3F36EuDl1BdRk6IqWY6T8as19PFJ5O3ZVJ6iPdV53qXZ+d8GHiZtJHBcYNapQ+MqqL2JKK93fbhJvkSoUatzlVDpLuLfsJhJmEkOaSNIhEVtmHk7VccX79F0LLF1cjteTvhtetvSd6+nnmUGoLzCuKk2SDqtZyItqsTETIbs7Z7S4mSJhTd9w9UKimequUVSh4NevbGujoM2Vrc6TUhK0u7ihaN6cX1QVRI5EQdIySVjGrA1cQ5rELvK8MspifykrCyqz+Uuvd5+hbWSQhoyoZcI02N1zlv5MDpYqlHTfvStgWCydX5ppoWKSTBk88+phltaV4nVN3Rh6JkzTYvfhlnEyB7BmcWVady3PJZE3nK4ThBA4M8bRpWzr1py4L7M/nRCCQnvgsscI2nwEbb4JrylCmXJ8IQRlzpk1YSB9l+1XPJCXc7osfuczt70r+5ku6VwAlRd4BpojfSRNE6c2d8ZvtSeIKgRGxunRF48STsYpdU78nk5FbzxCZFw+lq6olLlmv/07QZU7mG1BYyHpiUdIWMacCz6qQlDo8MC4PP726BDMUjUiYZrpar1LwKc7uKt8MQf720haJv2JKNs6TmQ9Y72JCLt6zmaT5BuDZSwOlF7Svi6XBVVFNMwrZu+xc0gJOw+e5Ydb3+YT967DOUWz7emwLMlbR1v51s93k0imDf3yIj/rls69cfxeYk5vq6WUSGkir3Dc/pohu1758oY81x4i0xJn9M87xdLF5dywro4b1tWxdNHE8uwGX25o6OhgZzbJd64otHsoGWckdcXD9CdHZv3blVLSHhticFzFmUe3U3UFwkHjWRwoyUlAb48O0hef+x6NmqJS6821kprCPbNOTI8aCbqnqUCcDlVRWFNQnWNgb207lvV4nRnuzSqaKwhuK104p+KpF4OiCD54+wpsGcHLkViSH259m3/64auc6xzAtKzMdXbylRt9zbIswpE4j//ybb78nZfo6k+vnaoqbFo9n+rSYN5wugzm2OOUJB7+WzTbDejOe+Z2aMh8WSzgnavAmmvSczZJzznXTpWYxIf+Apv7E6j6kisyvzx5rnYeuncl99+zAmDSUPPiQAmFdje9ifQF/+hgB4cG2thUumDO5qArKptLFvDdM28C6b5rb/W0sLZgHtoszkUpy2R/3/mcHmgbimpxvoviipOxMlhJod1NZzx9YT021MWxoS7KXf45PcfqikqDrwRNKNlE+9e6z/C5xZunFKQcRUpJdzwyrebVTCzyF7OuoJrm4T4k6b59b/W0cHPJfLa2HcsmyVe6A2woqkG7gqH69Y3zeGBTI0+9fAjDtBiJJfnZ9oNs33OSlQsruHnVfCqL/biddjRVQVHSHkPDlCSSKTr7whw41cGOt5vo7h/GMMccGcsXlPPoPWsuqn1LnonM/erJOHBxsf9ZD211YRmnUW3rgGtHi8iIb0e1rUCoxRe8oqA5bkcoFz5/bfHqm6cxTJMtGxuu9FTmnI7uIbbvOslDdyzHPQfVLXkuHk1TpzxRCSEocnhZW1jN823HgHR7j2+d3k1jsILQJIral4IqBJvK6nnq3MGs/MGz54/w4do1M+oRSSnpjA+zreNE1sOiKyr3VFz5myWnZuPuiiV8u2k3kM4P+/HZt9lYVHPROlXToQjBAl8RFa4ALSNpEcozw73s7z/PDUU1024rgTe6zzA0Lsx5sWiKyv1VjekmzZZBzEzxevcZVoYq2dndnH3fIn8pC/3FV+zGXAiB12XnY+9bS89AhFffbgLSyfED4Rjb95xm+57T2DSVgNeJw66jawqGKUmmDMKROCPxyXPBFs4r4vc+soni0Oz1s/JMzqzM6rT7L4G0BrDMPqQVzobjpJRIayT7/Ng2CaQ1nHUpSmkircFsaEpaMSyzD8saQMoEIJHSSG9jRTLjpd8PIK0IZuogqdgvkGYX0hpIv18aF8wnvd+xfQ4hZWzieNJAWoOZ5yMzK0ln59w/YZv0+sSxrH4sszc7HymTSKuXVPS/sYyz6ddkfNzc+lH1lQjlQk2RRGasPqQVy7pfpRXOrHV/Zt2SV0WYb/f+Zl7b03Slp/GO0NU7zE+3HmBkmpYfc81oYujV8NleC/h0B3eWL85JEn+rt4Wvn9hBb3zm3zZkyuVNA2OKSjkhBI2Bcm4srs0Gts5G+vnGydcZSSWmDZ3ETYP/PPlGTsuRm4rrWHKF8mjGowrBvVVLc0KGr3ef4bFTu9LaVbNcu4RpEE7GJ8gbjKfeV0RjsCy7fnEzxbdP76Y7NjzlfiwpaY708aOzb1/UcU3G8lBFNnfJkpLjQ1283HWK/kwTZJuicnv5QlxXKEw3nvIiH3/wiS3ctaFhUjmOpGHSPZCulGs630dLRz8dveFJjSZdU9mwrIY//dRdLKqZWPGY5+KZpcfJxIhvx4g/n73w272fQ9EakVYPifCXkNYwQi3EMs6B/SbM5D6S0f/G4ftLhFqAZZwkPvSXOENfAyTJ4X/GMrtAqKj6EmyuR7HMbhLhv0aoFRnDKILd81k0+42k4s+Tiv4Uy2xBWgMoWi029yeRZg+JyL/j8P9vhFqEEd9GKr4VV/CrSLOH2MBn0Rx3YBnHEUohNs9vghIiFXsGI/EKSAMhnNi8v42qTePalzFSsScwk3vShp6w4/D9edqLZA2QiHwdy2wGVFStHpvnM1hmB8mR/8ZM7ScZ+TeEEkR3P4pmW4e0+kkM/x1G4nWcga+g2dend2OFSY58FzOV1h0Rail2z+8glCKiA59HUatADiOtYVT7LdjcHwfyZfPXE7v2NROOxLn31qVXeirXBIoQ3F62kJ3dzTzRsg9IV239d9ObtET6ebRuLQt8xRQ7vKiZfCxJWqhxMBmjIzrE+eggxwa7uLO8geWhikn3E7Q5+bX6DRwZ6ORcdACJ5Mdn95G0TB6tW8t8b2FOeb9hmZwM9/B4816ebNmf9TaVO/386vwbCNicVzzlQAjB0kAZH5+/jq8c2U7MTJGyTL5x8nVaIn18oGYlDf4SgjYnSiZ8JaUkZZkMpWJ0xoZpjfSzt+8crSP9/Onyu6mbonGvU9V5tG4tb3Q3M5CMIoFXOk/x90e28RsLb6TOU5ijEh81kuzta+Vfj706rcL6bLErGo/UrOLgQDumtGiLDvJ06yGSZjpCUuz0clvpwqtCvU0IQUnIw5986k7WN9bwzKuHOX62i3hy9tEcXVOpqyhgy/oFfOiOlbgctiv+fbtemKXhpKLaVqHqjSBcJEe+gRF/DZunESP2HAgVR+D/Iq0BYoNfAEDR5oM0sMxWhBLCSOxIh6tEgFT0u4CKw/9/kNYwieG/xdSXIZRiLLMNu+ujaPYbSEYfJxV7Fs1+I7rz/QjhxYi/gMP/FyDcCFRMswemSTGUVi+KNg+b+2NIaSIUH5bRjJl4Bbv70wi1klT0e6RGvo/q+19MqQom7Gj2W9Ec6dyt+NBfYib3oTjvJpXYhmWex+77nyhKAVImQXhQtAYcvj9jJHUw/ZpWz6iTT1GLcPj/L7H+T43NVUqM5JuYxhEcvj9Jr3Xk30hFf4LN89tgjSD0IDb3F9Let+j3kM6HEercNladjjEvW2ZZRO7qy4w6rcg+HnvfaPXO+OcvfG10WynHPorx/x7bz+jGF6ecPNn8Gbf9ZPNDjG07Or8cgVE59fGNH//C45vs9ZRhcfBEOzZNxZISISdfn1yB07TxMNPaj38/k7x2LePUbPxWw000RXrY15duZGpKycudpzjY30att4Ayp5+g3YmuqMTMFEPJOP2JKJ2xMF2xMC7NxrrC6in3IYRgRaiC32q4mb85+DwxM0XMTPHjs2+zv/88y4Ll1HhCeHQHkVSC5uFeDg60c2a4N5vXoysKn1q4gTWF1VfNuuuKyvurV9A83MfjzXuRQMIyePr8Yd7qa2W+t5Bihwe/LS3zETWTDCZjDCVjdMWG6YgNETcNFvqKpzsVI4RgZaiKB6ob+c7pdK6YIS1+3nqIpnAPK0KVzPMEsSka/YkRTgx1c2Cgja5YmJDNxQJ/Mfv7zl+0DMR4VoUqqfGEaBrupSs2TH9iJPvZ3F7akKPtdKURQuBy2Lj/liWsXlTBwdMd7Dt+nv3Hz9PRGyZlmhPWWyiC0gIvi2pK2bh8Hsvqy6kqDaLlu/nOKbM0nAzM5H6MxCvpcJ3RjOa4GQDTOI6qr0ZRi5GKD0VL57kIJYiqL8dMvIGilmEm92H3/HZ6m+RbmKkjmKlDpEN0I0grjlBAqNWo+lKEEkTR6jCTGc8LCkKomSuNhhBTTV0y/tsk1OJMOCyQuaBIpNWNkdiJZball0AmULQ6LuwcnjtsFCO5EzPxFlJGsFLHkI5bMsezH9W2FkWtS1cY5cxGzWgKqRPmLMb9P42FZTShqPUItRIhNFTbRlKxp0AmQPGg2tagqIVIqwqkxTuVTzYVpmXx8q7TPPPSIeKJFMsXVTAYjuGwp5Nch4bjfOW/XuL2Gxs4eqqTA8fPoyoKH3t4PRtW1jAYjvLEc/s5cqqDSDSB22njA3ev5OZ182nrHOKfvrWd+nlF7Dt6jvdtXsq5jgGON3XxkQfWcNOaOto6B3ly6wFOtfSQSKQIBdw8+uBaljVUzNiaA+B4Uxc//eUBzncOkEqZVJeH+OiDa5hfXQRAZ2+Y//rxLs609lIYcrOgpjhj6Eh+/uIhXtvbxF9/8YGs+/x8xyD/8J/b+Mj9a9iwqpbOnjCPP7uXE2e6EcCKJZW8/64VFIU87NrXzBPP7eP2mxax7Y0TDEfi1FUX8sn330BZsY89h1p5cut+Dp1oR1UEuw+cRQCPvG8Vd29awtPbDvHmgRb++LfvxJvRNvqPH77OwFCU//nbdzESTfL/HnuJm9bWceZcH/uOnAMp+eiD67h57XxShslbB1t4dvthunuH8bjt3L9lGbesq89W8VzLVLmD/M2qB/jq0e280tWUrazrT0bp74sC59IVZGKcATkO1xQNdcejCIUHq5dhYfEfJ17nfHQQMxP2OTHUhSbU7M2EYZmMs+8pdHj49IKN/ErNmhkTot9t/DYnX1y6Ba9m5yet+7OaRp2xMJ2xdArGdGsHaeN9JmNQFYLfWHATg4kYz7cdTYuVIjk82MHRwU5UJV3jZ0mZNWh8uoPfbLiJOm8RfxJ+ikTi0s55Qggq3UE2ldTTPNxHwjJIZCKzXt3BPZVLrgpv04UIIagoDlBW5GfL2gUkUwYj8RQ9AxGGIjFSKRNNVfC47BSHPHjdDkv6owAAIABJREFUDnRNxa5rszon5rl4ZvXrlVY/yZHHsHs+i2q/keTIfyKttAqpEA6kHC1flekLPKQv+vb1JIe/jqo3IoQTRavO3GHb0Z2PoLs/kd2HEA4soxkhbCBGT+Kj0myMPb7wFytG32Nl50qOHIIKE4wsBVVfjN3/1wglmBlZhWkqKczUAVKxX+Dw/RmqVkds8I9y5o6MICY1vMS4FpozIQAbyO7s+6UcRiiezDEo6fXJcCUyYM609vHNx19ny8aFrGms5kRzF9t3nWTZwvLMfCV9AyM88dw+Nq2v5zMfvoloLElFSTqPy7QkIb+LD96zErfLzpv7z/Ktn+xiYW0xpmVxuqWHdcvnsWJxJd9+chcff2g9qqrwwmvHWbW0CsO0qCgNcMOqGnRV5Zc7jvHdn73Jn/7O3YT87hnnnzJMFs0v4a5bFmFakh8/+zY/3XqAz39yM6YleezHO+npi/DrH9qIZVn87JcHGBqOI4RgQW0RP3l+H02tvSypL0VKyZHTHQyGoyxZUEpkJMHXvrcDm67yqx+8gVTK5MmtB/jOk7v54qe3kDJMTpzpIuBz8fCdy5ESfvj0Hn783Nv83q/eSv28Ij7+8Hq+/ZNdFAY9PPK+VSCgIHNciYRBJJrI8YbF4ilGosmxtR8c4cnn97P5hgV8+lduJBpLUlUWRErJ0VMd/NcTO9mysYFF95TQ0tbPf/7oDVwOGxtX187xN+XdRwjBfF8Rf7n6fn7WcoBnzx/h+FBXTt6NhZz0h2NTVJYGymbVeNauanxw3irmeUJ8+/RudvWcJWokkaQVxS8c365obCyu5dG6tWwsqsV2lRlNo/htTj6/ZDMrC6p4vHkve/taGTHGcmamWjuXqrMoUMo9FUsomCEZXwhBsdPLHy67gwp3gCea99GTiGTHt8Z9VgqChf5iHq1bywfmraQ7Noxbs9GXuHS5BLuqcUtpPT8/dyhnnDUFVcxzX91q2ooQ2G0adpuG1+2gtCCf5H2luIhfsAVYmMl9mInXUPRF6QHsN5IY+RaqvjzjjToO3AuAqi0FoZOMPYlqWwHCBwh0530kIt9A1ZcglEIsqxtVn0U+h/BgWZ2YqaMoaglCLUEIL1LGMBO7sNRSjPgrkxhKOYOgaDUg3BjxX6LZb0Ja/QjhQrWtmmECEmSSVPxFLOM4aiYvSXNsITH8FRRtAYo2D2mFUfVlCMVN2tPkxkzuAVQUtTCzDgmkjCJlCmQEaUVAuNBsq0gMv4yReBkhfBix59DdHwauDo/Arn3NFBV4eP/dKykKeVjWUM5bB1py3iOlpLaqiIfuWI52QePXgoCbB+5YjmmaWJbE53Gw463TdPaECfhdBHxO1iyrJpk0eOtgC2uXz6OzJ8wPnt6DYZjMqyigojSAYVjZpsJf++6rDA7FZmU4LV1YRkNdCaZpYVmS9rXzeWX3SWLxFL39EY6d7uSzH9vETWvq0qGzlMnRU50A1FcXUVNZwPadJ1g8v4R4IsWeQ62sX16Dy2Fj39HznDrbzV/87vuoLgshkXT2hvnRM28TjaW9Hy6njXtvW8rqpVVIoPlcL7v3nwUg6Hdh01U8bjsBn5PaqoKLPpFLKakuD/HQncux6VrO89t3naSsyM/tNzbgctioqy7kpZ0nePPgWdYtr57wWV2rBHQnn5i/njvKF3E63MPr3Wc4MdRFe3Qo21TXqeoE7S6q3EEaA+U0Bsuo8RRQ7Jidar6mKNxQWEO9t4jjQ1281tXE233n6IyFiZspXJqNUqefVQWVbCyqZXGglEK7e8bPc0mglO9v/nUg7Z2ZSufp0ws28lB1ujWKrqg4JjHGyl1+/mbNg0Qzxk+RwzNj/0WHqnN72UJWhCo4M9zL7p6z7O8/z/noIOFkWoPKqdkosnuo9gRZGihjeaiCUqePEocvp4nxdBQ7vPzWwpvZXLKA17ub2NndzLmRAeKmgc/moM5bwC0l9Wwqqafc5UdXVEqcXr56wyPEMzlJl9oSZXWoihpPKGs42RWNDUU1BOxXVsU9z7XDrAwnoYSweT5DKv4cQilEd/5K1jhR7VvQzX5S0R+haPOxeT6HUNOVC0I40F0fwoi/jGa7JatjpNo3Y0clFd8KMoZqWw62lQjFg2pbCSIdhlCU4vTj9GCoeiO6835S0R+g6A3ozg8h1Ersnt8kFXsGIWzorg9gmZ2ZbeyothtA2C84njIcvj8jFXuCROTrKEoI3fXItGug6qvQHe8jOfIYir4Q3f1pFLUs/ZrtBuye3yUV/yXEt6LqK9P5YOmjwO77A1LRn2CmjmBzfwJF82HEnycV34ZQvCSjTyDi27B7v4iir8Du/SLJ2I9BJtBdj6DZ7wAEmm0NQinIHIMn/Vi8uxUgHT1D+L1O/N70Z2SzaRQXeNPx9nHUzytCuSCuLqXkfMcgT790iLauQQzDIhZPEo2nslojuq5lw2BOh45NV1HV9MnetCQnznTx3MtH6B0cwTBMwpE4hiln1TfMMEz2H2tj66tHiUQTmKZFd98wHpcdKSXD0QSRaIJ5FemcMSEEAb8r2ytN1zXuunkR335yN+3dQ1hmej5f/PQWVFWhq3eYgaEof/+NbTn5WQVBN/FE2nBy2HUqSwPZkK7TYSNpTF2JNBOTVSPNry5EU3ONIAm0tPXT1NLLn3z5qezzliVxO22YpnXdGE5CCDShUuUOUukKsLm0PtNSBBgXPBPpvxDjzImLMVRFRg37JrubG4vrxoWwZHb8bOhezK5ltFd3sLqgasb3VXtCVHumz210qDqLJukbNxNpiQcPhXY36wrnpVtfz7B2l+KpcWo6K0MVrAhV8NmGW3LXbnTsceumKSpLAmUXvZ8LMaSFOe53U+r0samkPt9mKc+smZ3hJHR0x93ojrsneVXF5v4wuD882Yboji3oji0XPK2gOTahOTZN2GQ0DwpAta1Ie6pGt1Pc2FwfBlfuvjT7RjT7xgljKWoQh+8PJpmWQGiV2L2/P8nxTI5Q3NjcHwX3RycZT5vyeIQQaLa1aLa1Oc/rzofRnQ9Pui/VtgLnuOMexe79fPbfilqW83gypJR0J3oJ2QLoytwI7bkcNvoHo6RSJjZdQ0pJNJ5Ev+Ciq6oTLxRSSn70i7dp7x7iVz9wA2XFfnr6h/mrf34u+x6R83fuCNFYkm8/uQuv28GnHtlAwO/ieFMX//GD12Y1967eYb75+Ousbazm4w+vx+2y8dLOk7y6+xSQrkLRNZVobCz0ZRgmqVTasBEinbNk/WQXx053Eo7EKS3yUVOR9gw5HRoet53/8Wu3ZQ1LSLvYAz5nZgwxMVFzljFXRc0kgFtjMhiRkcSEAS40WCG9km6XndWNVXzsoXU5n5fHZUfXLz58NJnRNtehjsvdR/rCO5qBP1ezmmwfTKxguMYZM1rEdbN2Ukr29rXSEunPPpdO6p9l75c8ecj3qruqiJlxhlMjgCRg86MKlXBqGEtaSCQB3Y+mqCTMJEOpYRShENB9aIpKxIhiSYuEmcCh2nFrLsKpCM93vsLmog0U2oO4VddlX9hWLq1k575mDhxvY0l9GR3dQ7S09VM/r2jGbaWEnv4IFSV+qsrSbvZDJ9qzhslMmKZF30CUVUuqKC70YRgm+46em/Xc44kU4UicxQtKKQi4icaT7D92PntRKC3yUVESYOurRykMurGkZO/hc8TiY+07XA4bG1fVsedQK+c6BtiyYWHWKFpSX0ZBwM2hE228b/NSNE0hmTIwTYmaNWamt5I0TcXjstPRE2ZoOJbOa7Br2G06pUV+BoaiNJ3rZX51Iec6BjhzrpeKktn1B9y0rp7Hn9nLSDRJbVVBWmMoYWDT1UtKIv3RT/fQ0ZnuKO9y2Xnw3pWUFs9t77VwOMbOt86QyHjsykoDrFtdc1XnouS5eomZKbZ3nGAwo92kZRr6qrMMMebJA3nD6apiW9drRI04NlXn5sJ16IrON858n0Z/A13xXtYEl7HEt5AXu14jYSVJWEkavHWsDjayo2c3g6kwXs1NtauCRb56miItnBxuxq95afDVschbf9lzXNtYzZrGar75+BsUF3hwOmyUFc+uPYOiCO66eRE/fGYv//DNbeiaSnGhB593drkFLqeNO25uYNvrJzh2uhMEFBd4cTlnp2NVUuhj0/p6vvvkm2wrOYElJYUBN8mMNkpRyMOH7l3Ft36ym1Nf/QV+rwNVVSgqGMt7URTBDStr+PI3XiAeN7hp7fzssZcV+/n1Rzby+LN72XuoFbtdJ5kyWL6ogk++/4bMCNOvk01X2bi6jsd+/AZf+retOOw699++jPXL57FiUQXzKkJ8/Xs7KAi60+tX4J2V0SOE4MbVdZzvHOQbj7+Ox2VjNCTy4fvWsGrpzOGhC3nltRMcOd4OQCjo5paNC+bccBqJJvnmd3bQ05vW8WlcXE7jkopZf+Z58owipeR0uIdXO5uyty/LQxWsCFVe0XmNR2YUwlOGSVHQMydVcVJKkikz28RYVRQ0Vb3eHKTvKnnD6SpCExopK8W6ghUEbX4iRhQQ3FFyC23RTl7p2UWZs4SOeDe/WvNBwqkIj597mtXBRgSCUkcxtxZtyI63MriEN/v3c3vJTXj12SW9zoTDrvMbH7mJcx0DJJIGRSEPqqJkc3g8bjuf/+RmCkMT9yeE4Oa186muCDE0HMNp16kqC3L7jYsoKfRi0zV+/9dvoyjkwbIkv/vJzYQCbtxOG5/92C0E/S4e2LKMFYsqGYkm8LjtVJQEaO8empXXxeO28+iDa7l57XwSSQO/10lxyEN3fwSvx4EQgg2raikv9tM/FMVh1ykt8tHdO5wTaqufV8Qf/eadSAklhbmVLetX1FBdHqIn0yPK6UiPIQQsa6jgD3/zDryeMUNx0/p6li4cy9sQQrB2WTUlhV4GhqIoQjCvMp3L4nbZ+P1PbaG9a5CUYaXXXlWIZUKLTofO73x8E0G/a9KTosdt56MPrGXT+vqsN8vvc1Je7J/45quEQMCVE1YMD8fp7glTUz25yGKePFORkhbfO7OH9tgQAA5F46Gq5Ti1K9sv8EKe3nGYl/ec5oal1dxz8xKqSgKX5RFLJA2+9NgL9AykqxdXLKzgY/euxZtvIXXJ5A2nq4jbim+kM97NLzq2c2vxBsqdpWPtVpDZfACRkTjIVawCv+7N9fxkXrSYOXF6tggh8HkcLF0weZKmrqksmj91KwmbTZsQ1vN6xvKBlowbd3F9ehy7Tct6pdLj5ya8Lqydfa8/n8dJ48JcD9d4j5eqKNRWFVI7zgFTEMit1nM6dBoz8gsXoiiC8hI/5SUTjZGg30XQn1uuXVrko7Qo10ujayp1VYVwgRNICEFBwD1hPqNomkpD3fTJwE6HPquw6tWC06Hjdo15lyIjCbp7hvOGU55ZY0lJbzzC42f38uz5w0Da73tDUS23lS1I61NdJRimxdadx2k618vx5i5eePMkf/6Zu1jVcOleMUVRcDttbN2ZFoZt7xli85r5LKopyYe8L5G84XQV8UbvXoaMMDbVhk2k74KSVooXul6lO9HHumDaE1XhKuXp9heJmwk2hKaWUBAICu0hnut4hZWBJTR46/I/lDzXFEII/OOMzUQixeBQ9ArOKM/VzGAyxlOtB/HpDuyqhmGZdMTCvNXbwp7e1qyml1d38Mn69RQ7vFfVObGzb5iuvnRY2pKSkM9FeeHleYR1TWHlwgqeeuUwpmnR1T9Mc1t/vm/dZZA3nK4iVgWXkrJS6aRvm4+IEcWve9lYsAYJBHUfqlC5rWgjYSOCgsCvp0NFtxStRxW5lW0Cwb1ltxE1Y7jUvEZJnmsTr2cspJBMmkQi8Ss4mzxXMwOJKP/vyEsIIVAQSCRJy8wRQXWqOp9btIkNRVdfkcHJlm4MY7SKV7Cguoii4OWlWQghKC/2UxT00NkbRko43NTBXRsXoalX1/FfK+QNJ6Az1kRH/BRljgWUOudf9PZSSvqT7bTHTlDubKDAPnmT0JkI2CYm1gohCNkCOT9wu2qj6IL+dG5tomKvEAK35pr0tSuBlJIzkb0MpXpY5LsRp+q76k5cea4+7PaxHBTDtEhcRKPTPO81JEnLyNFpGk+1O8gn5q/nQzWrchoyXy209wyNadqpCssXlM9JgnjI56I4YzgBnG3vn1TqI8/syBtOwOnIHnZ0f59NxR+/JMPJkgZHhl5hZ+8TrCt4kC0lvzYn83KpTu4r2zLzG68RJBZ7+p/hdGQPZc4FONW5rcDKc31immM5elJKrPwJP88UuDQbG4tqaR0ZYCAZI2UauHQb1e4gawuqubNiMYv9pVddr8BRegdHsDI6bYqqMK9sbhq4e1x2/ONySbv6h/OG02VwdX57rjEUoVLmXECtZxU17onClZeKrmjUeabu1p4nz/WOZUm6e4azjzVVySrL58lzIcUOL/+68cNY2aKatLamgoKuKKhCuaq93NFYMntjoAhB8WWG6Uax2zSc4zy3kZHcnpd5Lo78GWgOEEJhgXcdC7zrrvRU8uS5rmjvGMyKbALouprXcMozJUIIHOrVJS9wMYxvXSUEE7sMXCKqoowT4YVkKh/uvhzycqnjuHrvQ/LkeW8hpWQkmuCZ5w/QPzjWxd7lslNcdH2HeEeGY7Sc6CCR0ecaj5EyaT7WTmdrbz7Uch0yXrNMSkkklpiTcVOGSXJchwYlnxR+WeQ9ThmEEAihkDCjdMabGDEGUISKXy+hyF6NpuTe5UopiRj9nB05MH4UShx1FDvmTbuvpBWnJ95CONWLhYFD9VBoq8KnF2YbIefsC0nUGKI7fpaoGcaSJhe27gjayqhwNiCEgpQWPYlWuuPNNPg2ogiN/kQb/cl2DJnEpjgJ2coJ2spQxlXiGVaSoVQ3g8lO4lYUkNgVF369hEJ7Zc7cpJS0RA9hWimq3EtImnG6E2eJmcPowk7IXk6BrXJat/iIOUhPvIWoGUZBwasXUOKoRVfGYvG9iVY6Y00U2qspdtSiiAsbB6ePtSveTImjlmJHzbRrn2f2JFMGljn1xXl8rpGU6ffHx7WnuRQsyyIaS9LZHebF7Ud57oXDGMZYjlMo6KK6cm7yPq5Wmo+28w9f+C6f/9KHWXPr4pzXDMPkuf9+nd6OQf703z+Fpl99Cc55Lh2/x4GiCCxLYlqSjt4wFcWza6k0HdF4kuHomBHmdTnyyuGXQd5wyiBQiJnDvNT1LU5H3mTEGEJBwacX0Ri4lY2Fj6CK3OXqS7SxrfMx4lYEUxqA4NbiT0xpOEkpGUp1s6vvp5yJvM1wqg8LE4fipsBeyfqCB2nw3phjbEgp6Yqf4fXexzkfPU7cTO9LZkQtBQKn6md18B7KnQsRpA2tU8O7ebX7+xTaq+mKn2Fv/y/oS57HsNKG07LAFjYXfxy7mq64i5sjvNH7Y85GDjCY6iKRMZxsiouAXsza0P0sC9yeY7i82fszBlKdbCn5Nd7uf46O+GlixjC6YiNkq2Bj4QdZ5LtxgjGooDKQbOfV7u/RGT9NzBxGoODRQiz1b+KGgvfjUD0IIYgYAzzd/lUWetdzX/nv4VBzY/6GTLGz9yccHnqZR6r+LG84zRFSSn705B6OneyY8j3n2way/46MxHnsu6/hGZeAeimMGk7dPcN0dA7m5GEIAcuWVlJQMDd5H1crQ30R4tEk8xomiszaHTpV9cW8/eoxLMsC8obT9URpgQ9VUbAsE8O0ONLUwZrFVZeVlyWlpHdgJFtRl97P1aVfda2RN5wySCQHBl6gwF7JLUWP4tOL6Imf5e2B59nZ+xMcipvVoftyDIcq9xJ+q/7fMKXJW/1P80bvj6fdR8wc5rn2f+Fc7Bh17tXcWvwJ7KqL9tgpDg9u5/mOr2NJi0W+G7OeoIQVZVvXY7RFj3Nz8UdZ6t8EEg4ObuPNvqcI2sp4pPrPcKpexAWRV4nF2wPPcS56jGrXEtYW3I8lTTripym0V+V4dgQCU6ZwqG5u9H+IQnslpjRpGTnI4aGXea3ncYK2cqrdS3P2MZjs4ped/0G5YwF3lv4GdsVFy8hBDg2+xEtd/4VddVHrXjXhR/pS538RsJdxS9HH8OtFdMRPs3/gl7zZ9xRevZBVwXsQCCqci6hwNtAUeZv+RDtlzgU5Y0WMAU5H3qLIXk21K3dueS4dKeHo8XZe3316Vu9PpUz2H5p9w+VLoTDk4eH7Vl33DVlTiRROlx2Ha2IulxACt89JIpaaqV90nmuQhppidE0lZZiYpsXOQy2876YlFIe8M288BZaU7D/ZRlv3UPa5xbWlKHnD6ZLJG04ZpLRwqB7uKfssRfZ5CCGoda8gYCvlF+3/wqGhl6n3riNgS7cBEUKgouHUfFjSwqnOfBd8NLyD5pEDLPHfwj1lv4NDTbfOqHOvotLZwM/Of5m3+p6mzFlP0Ja+2xw2+mgZOUS1u5G1wfuwZYQsV4feR1vsBJ3x0wynevHpE1tQSCSnh/dwV9lvssB7Q1Ygc4W8M3sMo9gUJ5uKHkUVek5Ycr5nDaZMcXBwG13xpgmGkyEThPQy7iv/vezcaj2rcKpeXu7+LkeHdlDpXJx9DcDCxKn5ebDii9l5z/euwaMF+UX7P3N25ACN/luxqy40obPcv4W26HEOD22nzLkgZ/8nh3eRMEdYF3ogZx95Lh/1KsqDCPhd/PrHb6ayPHilp/KOY3fZSMSTRAajeC5o0WOZFoO9EWwOPZ+UeR2yoKqI4pCHs+39ABxv7mLrzuN85O7VOflPF8P5rkF+su0AppWOUth0lZUNFXOiD/Ve5fq+dbtIqlxLCehj/XuEUKhxr8BvK2Eo2UVfou2SxzalwYnwTuyqm0W+m7ArYydEIRSq3csocy6gK95Eb+JcNvEzbkaQSDxaKCfkZVOc2FUXljSJmZEp91vpWkS9Z12Oqng6nyv3RyOEwKa6UIRKykqQtGIkzCimTBKwlWJJk4QVnTQhdZHvphzvlSpUGgO3oQqdtujxTNgvl6X+zXi1gpzn0lIOgojRj8VoIqOg0rWEQns1p4bfImL0Z9+fsuKcCL+BRytgnnsZSj5sMWcIAZ/6xC187jO3sXH9fAIBFzab9q6fbFVVUFzk4/O/cRu3b16cUxl0vVJaXUCg0MtTj73CSDiGkTIxDZNU0qC9uYcdz+yjYVUNynXueXsvYrdp3LWhIWsTxxIpvveLPbyy9zQpw5x1QYCUEsuStHUP8s8/fJXWzrGw+sLqYuZXFuZDdZdB3uM0Dp9eiK7kdoy2KU4Cegnd8TOMmENTbDkzI8YgI8YAbtWHXy+a8KVVhUaJo46myF76Em3M96xFIPDrxbhUP52x0wwmuyi0pzu/9sRb6E+0YVdcWS/YRASljvloyszluZa06E+20RTZm8lz6iRujmBJk5QVx2L0Ryu58FY3NIlSukv14dVDDKa6MeTE6qAyx0Sh0f+fvfMOj+O87vU7ZXvDovdOgCBYwV4liipUs5pV3C3nynaK45p649hxYidxbhx3x7ZsOVIsF1kuqrREUiTFTrCCJED03vv2MjP3jwWXXKKToFi07/NQerC738w33+7MnDnld4ySZSxkGI5eIARBwGnIoMi2nKODr1Izup8VifchCAKt3jMMBjrJMZeTZiyKXwjmEEEQyM9NIj83iUceWI7HG+R0dQenz7Zzrq6Hrp4RuntGouKUggAWi+GKy6dFUUSnkzAZ9aSm2FhYlsnddywiJfndk5OROy+DOx9fy/PffJ3qo00sXF2MxWZksHeUwzvOYDTpuf+jG5HkuOF0M3LXujLeqqynrrUPgCGXj395+g1O1HZw+6oSinJSsJr0E54PmgZhRaF30MXxcx08/1olDR0D0feNepm71s0n4yavTL3axA2ni4h4ZcZ7YmRRj6qpY9Vsl4eihdA0FVGQEYWJl/280RbWApxPYDBLDpYn3sPB/hd5veu7pBuLAej01TIQaGd9ymMk6scnkTJ2JJdWA06Epmn0+pt5rfM79AVaKLAspdxxCxbZiU4w0OQ5QdXwzknHT3Y8sqBHvcgIupjZhNUkQWaedRWnhrbT5DnBAsdGjKKFFk8VQc1PgXVpNOwZZ+44f2GWJAG7zci6VUWsXVmI2x2gsbmPr397WzRB3Gox8pH3ryM768pCaZIoYjDIWMwG0lPtWCyGd43BdB5JFrnrfWvQGWR2/b6SN391EJ8ngM1pYdHqIu7+0HrmLb6yhOE41yeCIJCeaOOx25fy7V/uiVbC+QIhfrP9BHuONbCgIJ2c9ARy0pzYLUZMBpmwouINhOgbdNPUOUBz5yDnWnrHtSeqmJ/NnWvm3/R5glebuOF0ESE1gIaKQKyWhl9xIwkysnD5wmp60YQk6giqPkLqxE1KfeGIQrJRtHLegJMEmeWJ9zAc7KbRfYyA4kUUJJIM2axLfpQC65IYSYHxzOzieqD/N3T7G9iQ8jirkh5AJxoRkcYq2wYRpthOUPGMe01DI6B60YnGCSUWZpugkWUuJdNUQru3mh5/E059Bi2eKkySjVL72lltK87lIwgCNpuRxQuzyclKjBpOOp3EwrIsyiaoBIszewwmPXc9sZaN9y0jGAihqRqiJGI06zG9C43JdxOyLLF1fRn9I16ee/Uw3jGJD02DngEXPQMuRFFAL0uIoogoChGVdE0jFFYJhcc/4EuiQFlBOp/94GYSbPFc0CslbjhdxGCwi6Dqiyl59ygjjIR6MUt2rLrL148xS3YS9Zk0uI8yFOyKai6dJ6QG6PDXYhAtJBoyo4aKhkaj+xh1rsPcnfnnlNnXT2KIXBmd/lqMkoVCa0XM8StamMFgZ1T+YCK6/Y0UWiu42BgaDvXgCQ+TYshDJ1y50rMoSCx1bqXeXUmD+yi55nJ6/I1UOLdilhxXvP04s0MQBIoKUjh4pCHeuuEqIAgCkixgS7g+GnTHeWfR62Q+dO8KzEYdL7x5nPbe2DQRVdXwz7DZtU4WuW1VCR+9bxV71NCQAAAgAElEQVQ5aVeuCRUnnhweQ6u3im5/I4qmoGoqYTVIresgI8FeEg1Z0fyiibj43jFRaEoQRBYl3IaihTg5tB13eAj1ov1Uj+6l399KlqmEZENu9IlS1RS6fY34VQ8CAgHVR0gNRP8pk4TCZotBNBNSA2MCmyqapqFoYdo8Z2nxnEKbovb5zMgeXOGB6PEEVR/HBl9H1RRyLeUY5iiMlmUuieSBuY7Q4D6KiMh8+/o52Xac2VOYl0K8tOudZ6hvlO0vHEKZwLMQ5+ZBJ0s8fNtivvKn93DPhgVYTHqkGRZnCEJkfHFOMp/74GY+875bKchKinsq54i4x2kMWdRjlZN4tfPbFFtXYNel0B9o49zoAXSigVVJD2CRLljrYTVEl78ORQ0R1oL0+ZsBjb5AKw3uSmRBj040kGTIiebfFFiWsjrpIY4NvsbzLV+kxLYao2Shy9dAo/soNl0y61Iei6k2kwSJTPM8jMMWft/+HwiCOHarEjFIJrJNC1iZdD/Z5rJxAp2zYaHjVnb1Psf27p8w6OzEJFnp9TdT7z6CQ5fGcLBn4nUTIkmKv2z5MsW2FRhFK63eM7R4TpFpKmGxYwvyHHicAEySjXLHJnb1Pod3dD95lkUkTWHMxrm6FBelIooCyhTq4nHmnq6Wfl784U423V+BdJkl6nFuDPQ6mQWF6fx9XipPvmc1h6qaOVrdTv+wG68/SCCkjAmhCsiyiFGvw24xkJ+ZxPolBSwtycJo0CEIxI2mOSRuOI1hkRzckvoBBgIdnBrezlCwC0mQSTcWsdR5F0XW5TE/PJ8yyoutXyOgemOqxs6M7OLMyC4kQYdDl8I9mZ8iz7IIiBhna5IfxqFL4/TITioHXyGshbDKicyzrWap805yzQtj9jMQaKfOdRirLpFEfUY0jKZqCp7wMA3uSgaD7TyY/ddR/anLYXHC7fiUUWpG9/NW78+QkEky5LAy8X7yLUv4WdMXJh27IeUJWj1VVI/uwxXqxyBaKLIuZ03yw6QaC+bshBUFiVzLIhy6VEZCveRblmAaUxiP886TlGjBYTcxODQ+xy3O1SPoCxHyh+L6l+8SBEFAJ0vkpjvJTXfy8JYljLj9jLh8ePxBFEWNyMnoJKxmA0kOC0a9Lt5S5SoSN5yA5c57WOi4FaucSKG1gnLHJkJaEAEBvWjCJFnHJWCbZQcfLvj6lCEsURCxyrFVRibJxlLnHZTa1xBUfWiahiTqMIoW9KIpxggIKF7e7PkxI8E+7sz4OBmmkou0iiKhtH39v+LwwEt0eM+RYsglogEuUuG8h/n2DVjk6fN/BEHAJNnYkPI+lifeR1gNRk5WwYBJtiMi8idF38IoWrg0NKNoIWxyEpvTPsra5EcIqyFEQcIgWTCKlpjjERC5J/NTBFU/Dl3KuHnoRTOfKP4+kqCbtErOKJrRiyYcuhTyLdMlxse5msiyRFFBCi6XH50sxQ3Yy0RVVbb9fD9ed4Ct71/LQPcIh7efnvTzbQ29eFwTF5jEufmRRJFEu5lEezz/7VoRN5wAk2zDxAVJe5suaYpPR5AEmURD5mXtTxQkLHICFqZO1OsPtNHnbyXTVEKOeUGMyCREcqmS9bmANiZhEEEQhMgxyTOX6T9vKF2qY3Ue5ySSBxHDUUMvGtGLU/cpEwRhyrUVBXFCTajovjSVdl8NQ8EuSm1rSJmmmXKcq4tOlnjkPctZtjgXk1FHSvLN3UPuaqGpGjtePMLokIe1WxdRf7qN5/7zNRJTHRMKjvp9QQK+8dpoceLEeWeIG07XMaIgIggCfsWNT3EhCxcbNRp+1UOt6wCyoCdRn8nNmKh7IfFdw6uMUjW8E0ULssR5R9zbdI2RJJG1q4pYu2q8mGmcmSNKIp/6t8cJBcKkZDqpOdZMfmkGT/3jQxhM4/MDq4818+IPdlyDmcaJEwfihtN1TYohjxxzOTWj+3mp45uU2ddjlhwoWoi+QCv17iMMB7tYlHDbWPPbaz3juafb30C79yxhLUyt6yDdvnqWObeSaSq91lOLE2dOEASB/PkXvNeSJJFZkMK8JXkTNvr1+4IYJng9Tpw47wxxw+k6Rhb1bE79CBYpgWbPKXb0/JSwGkQUJMySgyRDFotSbmNhwq2YZ5DLdCPSH2hjT98vCKperLKT5Yn3sCrpwSuqIIwT53qmZEkuial2dPqJPapWh5nswtSb8kEpTpwbAUGbCxGgOFcNTdMIa0G84RGCqg8VFQEBWdChF82YZfs1CVlpmsZIqIeA6sWpz5w2v+ly8Sse3GMaUbKgxyonjqmRx+8acd6dhIJhRgbdJKU5rsl5oGgqwwEvGiAKAnadEVmMh83jvHuIG05x4sSJE2fGtHuG2PrG91A0lVSjjR+sex8LEiZrNB4nzs1HPN4RJ06cONcRFz/LnvcoaZoGWuT/wlil3bX0umpj9bRqXE0qzruQeMuVOHHixLmOGO538evvvUnT2U4gYiw1VXfy1U/8hI+u/TLf/btf09c5NCetluLEiTN74oZTnDhxLotQSOFQZSNDQ545v4lrmobfH2J42Bv953L53xXGQkdjL689t4/BvlEAgv4QP//P12g808HitfOofOssr/98P6p6869FnDjXI/FQXZw4cS6LxpY+vv7NbSQnWdm4roTNG0tJT4uINs5FGOnUmXZ+/D97ogaCxaznX774MHbb1SlEuF4YGXATDoYpWhARg22q7uRsZRMf+PzdbH5wBb/5wXYOv3ma9396K5IUf/aNE+edJn7WxYkT57J4e38dA0Nuauq6efrZPfzFXz3PmZrOOdt+otOC1xekvrGX+sZeqs52sP9Q/Zxt/3olFFIwWgzoDDKqorL9hUNkFqaw8rZyzDYj2UVpDA+43xXetzhxrkfihlOcOHFmTTiscLamg/P3bk0DZ4IZh900J94mQRBITbFRmHehp6GqahyqbLzpDQazxUAoGMYz6qOzuY+zRxpZuKqIlIxIi6ZwSLnp1yBOnOuZeKguTpw4s6and5T+AXfMa2UlGaSl2OdsHzarkYK8ZPYdqkdRVABa2wcZGHSTnDTzPow3Gjnz0knPTeJrn3wGTdPweQLc9cRaRElECSv0dw1jd1quKy0zTdNQNA1XyI8nHCSkKgiALIqYJD12vRF5rIXUTFE1DW84iDscIKiEUTQNSRAwSDJWnRGzpJvx9vxKiD6/m5CqkKA34dSbEQQBTdMIqgqjIR++cAhFUxEEAb0oYZb1WGTDlPMeCngZCnoByDYnoJfkmLmPhvwE1XCkmbsgYpBkLLIBs6xHnGbumqahahqecAD32JpGmsKLGCUdNp0BgyjPeA3coQD9fjcqGqlGGxZZH10DnxLCFfLjV8KomoooiBhEGZOsw6ozIAlxH8vFxA2nOHHizJqe3lE83guNZg0GmeKiNIxG3ZztQxAECvOTMRp1eDyRJtYul5/O7pGb2nBKz0nisT+/g23P70fT4LG/uIOM/GQA/N4gQ32jrLlzEaJ07Q0nAQFJEBgMeHm1/TR7exqoGelhMOAZE8c0kW9NZG1qAfdkLyTfmjijG/1w0Mue7nre7mmgeribHv8ofiWMWdKRYXawMCGTLZmlrE7JxyxP336meribv6n8Pa2eIT5SvJrPlW9BJ0rUj/byUlsVh/qaaXEP4gkHkAWJZKOVInsyt6aX8HhBBdIkfUB/0VTJt8/uQgBevO0pFiRkEFTC7Og6x86uWk4OttPjcxHWFCyygQyTnXJnJk8ULmexc/KG5gDdvlHe7Kyhsr+V6pEuBgNegqqCXWcky5xARVIOd2aVsTAhI2qwTcXbPQ38w7GX8ISDfG35e3gwdwmqplLZ38qrbac5MdhOu3eYgBLCIOpIN9sosqXwUN4SbsuIt7i6mLjhFCdOnFkzPOLFHwhF/zYZdeTnJM75ftJSHeh1Ep6xv32BEEPD3jnfz/WEIAosv7WMeYtzQQCbwxw1NgxmPY98YgsmqwHxOkgMFwWBgYCHH9fuY3tnDX4ljEDEoFI0lf6Am/6AmxOD7Rzsa+avFt7OImfmpMaTpmk0uwf4TvVu3u5pwBXyA0S3Oar6GRnxUzPSw66eOu7JKufjpetJMszcAzcS9BNQw1QOtPKtM29xeqgzRo9K0cJ0eIfp8A6TZLDwWP6yGfVP7/O78YWDPF13gF80HGEwGPs7HQ35GQ356fCOcHvmxIaIpkX0sY4NtPLd6j0cH2gjoIbH1kBAAAYCHgYCHqqGOtnRVcOj+RV8pHg1BmnmDy39fg9BNczr7Wf4Qc1eWj2DMe97lSCNrgEaXQNUJOXMeLvvFuKGU5w4cWbNyKiPQCAc/dtg0JGZ4Zzz/aSm2NDrL1ym/P4QIyM3t+EEEW+bI8k67nVZlqLep+sBXzjIj8/t41B/M3adkfKETIpsydj1RoaDPmqGe6h39eFXQhzpb+HrVW/y3bWPk6A3Tbi9Fs8Qnz38IudGetAAp95MkS2ZYnsKFtnAaMhH3Wgfja5++v1unms4TLt3iH+peA+JBvOM5jwc9HKsv41/OvEaPf5RsiwJpJvsOPQmJARGQj56/W76/C42pRXPKEylAS3uQaoGO/lp3X5EQaDUnkqKyYZVNhBUwgwEPfT6XBgkmeVJuZNu60BvI188/gqd3hEEIN1kp9iWQr4tCb0o0ed30+jqp360jzbPMN8+u4uRkJ8/m78Ri2yY0Rr0+EZ5re0M/3F6O55wgCJbMilGK3a9CVVTGQ746PGPMhz0sSlt3oy2+W4ibjjFiRNn1gSDYdSxvCMAWRZx2Ce+GV4JFrMhpuReUVQCwfAUI258+ruGqT/dPuVnRFFgxa1l19zrNBLyc7CviTSTnc+Xb2FDWhEJelM0d6bLN8rP6g/y66aj+JUwxwbaONrfypYJPC4jQR8/qNkTNZpyLU4+W34ba1MLceiM0W32Bzy83VPPN07vpD/gZnd3Pf/bcJhPlG7AMIOQVZNrgP88s4PRkI9H85fxYO4S5tlTsYyF/PxKmBb3APWufiqScmbsydrWcZZm9yApRitPla5nRVIuORYnsiihahqDAQ/1rj6GAz7suoklNfr8br559q2o0bQ8KZdPlG5gRXIeJjniUVI0lS7vKC+1neLH5/bhU0L8pukYxbZk7s9ZjCxO/5s4MdjOru5aBOCT8zeyJaOUPGsiBjGyfq5QgAZXH22eIbItCTM6/ncTccMpTpw4syYUVlAuEmAUBTHGMzRX6PRSTBKtqqqEQsqc7+d64tzxZn74pd/GvKahoSoqoUAYWSfhSLKxdEMJ+usgXGeVDfz1wju4K7ssxjsjCAIZZgd/Nn8TJwbaOTXUgYrGru7acYaTpmkc6G1id3cdGmCR9Xxxyd2sTyuK+f4FQSDFaOWBnMXoBIl/OP4yASXMS22nWJtawIqk3GkNnVbPEDpR4uOl63ly3hrMkj5mjEnWMT8hnVJH2qzW4cRgO9lmJ19dfj8VSTkxayEKAslGK8lG66QVkaqm8vvWk9QMdwMRT9M/V9w/Li9MEkSyLQk8WbyGoBLm6dr9jIT8PN9YyaqUfDJN0zd/rh7uJsFg4guLbue+7IXoRClmjF1vZFlSDksTs2e1Bu8W4oZTnDhxZo0oilEPAEQMGn8ghNk0faLubAiHVNSLbzRa9D83LYXl2Xzkb+6LeU1VNVzDXqqPNtLZ2McTn74LWSddoxnGsiGtiHVphYgTJAIJgENnZGNaEaeGOgCoG+2L9Ny76EbtDQfZ3V3HcNAHwF2ZZVQk5UxaeSaJIhvSitiQWsSOrnO0e4bZ1V3HYmfWtF4nDY35jlQ+Nm8tpikq82ZbtagTJJ4orKAiMWfK8N5k2+32udjdXU9Ii3hyP1C4krwpkumNko77cxaxq7uOmpEeTg91UtnfyntyFk07Vw2NzeklExpNM5nru5244RQnTpxZY9DLyJJIKBzx/iiKiscTmHPDyeMNxIQERUlElm/uy1ZGXjIZeePzmDRNY8sjK3nmX1/i9KEG1m1dfM2V+PSixKLEzGgobSIEQSDLfCHc41dCBFUlxsBxhwOcHu4CwCjJLEvKwTRNtZxdb2RZYja7u+sIayonBtrwK6EZhevuzCqb0mi6HJKMFlanFCDNIFQ2Ee2eITq8wwDYdUZWpuRNmZMuCAK51kRK7KnR8OaB3sYZGU6SIHJH1vwZVePFGc+19/PGiRPnhsNhN6E3XLjo+gIhWtsHpxhxeXT1jMTkNOn1MjbrzBJgbzYEQcCeaKF8ZSHHdlVHta2uJSZJT4E1eVoDxChfqPhSNY2weiHcqmka7lCAJlc/AA69iWxLwrQ6R5IgkmdNxKqL/B6qh3vwKaEpx5ynYork7MvFoTNRbEuZ/oMToGkaPb5R+vwuALLMCVGtqanQiRIljlTEMQ/X8YH2GfljZVFiSTwMd9nEDac4ceLMmqQkK6aLNJu83iB1DT1zrmhdW9+N13dBL8pk1JHotMzpPm4kNA383gAet/+6iFjKojhphdxsGA35CY+FqEySDtskydOXYtebognNXiWILzy94WQQZayyYc7DUBadfkberonQ0BgN+VHGzh+73jjjbaUYrVEj0xXyE1CmL54wSTrM0tx6h99NxP10ceLEmTVZGQnYbaaoengopHD0RAtbbikjOck6JzelkREvx0+2xsge2KxGMtNv7iqfgC+Ie8Q37nUlrNB4toNtvzhIdmEqgnjt809EQZiTcM/FBo8kiOjEmeVv6UUpJp/IHQ5MO0YWxWm9WZeDXrz8ddA08F1k8OhFKepFmg6jpIuG9FQ0vEowWoE3GXrp+siPu1GJG05x4sSZNSnJNooLU2ls7ou+dvxUK3sP1vPAPUu50vuSqmocPtZM5fHmmNdzshPJzLi5Dad9r53k/3362QnfEyWR7KI03vtntyPL18fNT5iJOuQ0XKz+rWgqIXVmlZMhVUHRLoQsLTNQEb9a5uaVbFcQBEwXCViGVAVVm1ko1q+Eo85HEQHzLIQw41we16Xh9PKvD3PmZCvL1xRz69ZF6K6T6pE47zyaphEKKtScbufkkUb6ekbRNLA5TGTnJbHpjoVYbTNz68eZOwRBYPPGUrbvOos6JksQCin84jeHKMhLZsnC7OjnZsP5UF9jcx/P/fJATFsXURTYsKY4RtfpZmTe4hw+/uVHxr0uCAJWh4n8+RnklmRcFx6nucKmM6ATREKail8Jz8hzBIz1gosYWUZRvmHDTwKRhHBJEFA0Lea4pmMg4ImeN2ZZPysF8TiXx3VpOJ051cZb26qwOcxsurMciBtO71aCgTA//e523nz5OMGggsEoIwoCiqKRmuGgYnVR3HC6RixdlMOiBVmcvEissad3lH/7r9f40BNr2bBmHnbb5NVWl6JpGh5vkGMnWnjm5/toaRuIeT83O4kNa25+FePs4jSyClMJBkKEAuFoGw4BxowlgYAviKybvIz8RkIQBKw6AwW2ZGpHexkJ+uj0joyTLLgUVdNo8wxHjaxie8pl5xhdawRBIN1kJ8Voo9s3Sqd3hOGgj2xzwpRroKgqdSO9Ua/bQmfmVfOoxbnAjfkru4HpbBtk786zbH2wArtjZi0C3s2cOdnKqy8eQRQE7n6ogvKleciyiNvlx2DQ4XBef2vY1tzHgd3nuPeRFVisN69RZzTqee8DK2hpG2D4opycru4RvvWD7RyqbGLdqiLKStLJzHBO6jlWFJWe3lFq67s5cKSRvQfrcbv9MZ8xm/Q89tAKLJYb06MwG4KBMCferuHE3lpGBtwoYWVcHrhOJ/PZb7wfWXdzXMJtOiOLE7OoHe3Fp4Q4PtDG1qwFUzbwHQ35OTHYFg3rLUnKnja353omx+ok15JIty/S6uRofyvlCRlTGkJt3iFqR3ujv481qQXvxFTf9dwcZ90NgqqqHD/cyDPf3c66W+fHDacZcPRgA+GQSsWaQt7/J7eQkHihmedcV3DNBYqiUrm/np99bwe33rXopjacRFFgRUU+d21ZyG9fPhaj6B0IhNm99xyVx5pIdFpITLSQlZGI02HCYolUNHm9QUZcPjo6hxgYdDM45GHU5Z9wP5vWl7Bh7TzEy9TIuZE4d7yZH375txhNevJKMzBMoI2luwoq7dcSk6RjY1oROzrPMRT0sr3zHA/nLWVpYvaEHhdV0zg50M7+nkYAkgwW1qcWRivsbkRSjFY2phdxfMwY/FXTUe7OXkCq0TbhGgSVMDs7a6l3RfIM86yJrErOe6en/a7kxv2V3YCEQwonK5uiOSFxpqevO+Kyzy1IwWyNLSG+HsMUwUCYqmPNqOq119h5JzAZdTz5gfWMunxs31U9rh2KxxvE4w3S1jHEyar2cUnj09m+oiiwblURn/jYLdjfJSHZ0UEPoUCY/3jx0zhT7JN+7mbKcRIEgfWpRWzJLOXF5uMMBb188djL/N8lW1nkzMIi66NK9aMhP8cH2vjKyddxhQOICGzJLGVVcv51eU2YKZIg8kjeUnZ2nuP4YDvN7gG+eOwV/qxsE2WO9GgY8nzfu+1d5/jBuT0ElDAmScej+RXThvbizA2XbTjN5Gl/qi9wqvETjbr087PZ9sWfnW7eE213Np6NS8dfPNbvD3H2VNuU251qrjOZ23Tjp1z3yzj2uTxJL92XqmoEx8QPJUlCYPz852rOc/Ud+7wBak53TLndq7HOszkf5+pcOv+30ajj4x+9BYvZwGtvVMXoLo3f3rTTjKLXS9yyvpSPfWgDTsf0YoA3C8WLc1i4uogdLx5hxeYF2J0WxEuNJEHAmWK7NhO8Slh1Bj5euoHakR5ODXVS7+rn746+xNLEbErsqZhlPe6Qn3OjvRwfaKc/EJHCKHdm8FTJ+qgQ5o2MU2/m0+Wb+cdjr9DqGWJvTwNtniGWJeWQZ01EL8oMBNzUjvRydKAVTziIANyWUcpDeUviSuDvEJe1yqqiMtDv5uypVk4cbqS+pgvXiA9ZJ5GRncjSlQVs2LKA1PSJmw1qmkZ7ywC7/ljF0YP1jA77SEqxsXHLAjbeXj5hmW3VsRa+8U+/x2I38sWvP05axsSWdSgY5ouf/jntLQO8//9s4u6Hlse8HwyGqTvbye43T1NT1YHb5cPuMFOxpoiNt5eTW5CMJIkx266uauff/v43bLqjnMef3EhddSdvvX6KupougoEQKWkO1t4yn/Wby0hOs8eMbWvuZ9cfq6iv6aKlsY/+nhEAvvDUM8hybNjh3veu5IknN0bH93aN8O//8CKuUR9/+ld3U7G6aNzx9vWM8KXP/gKfN8A//PvjFM/PiFnnZ//7Lba/coK//ep7KSnPorG2mzdeOk7NmQ4CviBJKXYWLMnhsY+sx2yJfaLXNI3hQQ9HDzawd8cZOloH0TSN7Lwk1t46n9UbSnA4LXN2Q1NVjYN7zrH7jdP09Yww1O9moD+ipPvqi0fY9ceqqMdCp5f54MdvZcs9S2Lm63H5aW7o5eCec9RVd45V4WkkJFooX5rLhtsWUFyagSTHfsenjjbzH1/6HXfcu4RHPrSOmqoOdr5+kobabkJBhbSMyHe8bnMZSSmxrvOWhl52vXGahrHveKAvMudPf+RH4yrAHnr/Wh754LqY14LBMJ1tg1Qda+bYoQY62wbx+0JYrEZy8pPYeHs5y1YVYraMF+3TNI1wSKGlsY89289w+ngLQ2PaSg6nhfyiVJavLWbJinxs9kjXekVReeHZfbz6YiXlS3L5q688NOE5p2katWc7+c8v/w5BEPibrz5C4bz0cZ8TBAFngpmnPrqJiiV5PPuL/bR2DOL1Tm5ATYXBIJOe6uCJR1Zyy/pSzGb9u8ZoArA5zGQVpvLC97bz0jN7Irlhlxy/3iDznW1/jd5w4+b0TESOOYGvLX8P3zz7Fvt7m+j2jbKt4yzbO2sQBSGiOj6WCG2W9KxOzefz5VvINt8cEhWCILAyKY9/qbif/zyzg+rhbprcAzS5ByI95YjINUSFMnVG7swq43PlW3Aa4qkf7xSXZTgFAmG++6+vcPDtc4iigDPZitVqIhgMcfRAPYf31rJ351k+8w/vIa8wddz4mtMdfOurL9FU14PRpCMlzUF/zyhPf/tNjh5smFADpqg0HUEUqa/u4mRlE3fev2zCudWc7qDmdDtGo47i+Zkx77ldfl75zRF+9bO38XuDJKfaMZn1dHcO8fzTu9n52kk+8me3sXnr4phxoWCYvp4Ras928LtfHOQPvzgIAiQm2VAVjapjLZysbOLg2+f4q396mKSLngQ7WgeoPtVOOKzgTLTQ3TEEQGq6A4Mx9qJnd8Qq8CqKymC/i5FhL8HAxGqwSlhjoM+F1+0nPEHXePeoj76eUTrbBmlp7OV/f7Qb16gPm91EKBimo3WQgX4XDz6xBvMlgswtDX386L+2caKyCZ1OJjk1clzHDjVyYM851t0yn4996g5y8sf31bosNBge9DA04EaWJVLSHXg9AYKBMFabkfRMZzQ8odNJWC4x9BRF5Y2XT/Cz7+8gGAhhsRlxJloBgaa6Hs6ebGP7Kyf55Be2cssdC2PGhgJh+rpHqDnTwW+e289LvzqEKIk4E60oYYUTR5o4friRI/vr+PyXHiIh8cJitTX3U1PVjqKoJCRZ6OmK9JtKy0gYl4tic4xXWe5uH+L//sVz9PeOojfIJCbbMBh1DPa7aKztZv9bNWx9aDkf/uRmbPbY8Zqm8da2Kv7nBzsZ6BslIdGCzW5GVVXamvqoPtXGrj9W8bkvPcjGLQsAkCSR+Quz+f0vDnKyson66i7mLxrffkHT4PDeWloa+1i4LJfcgsnbSQiCgNGgY93qIhYuyOJwZSNHjjdT19BDV/cIPv/Uis46WSI11UZxQSrLluSxfnURKckT53bc7Jw+1MDLP9vD6jsXUliWhd44vqeaKIlIN6GIoSAIFNtT+VrFA2zrOMtbXedocPXT7/cQVMMYJR3JRguFtmQ2Z5RwZ2YZjjlQLr+ekESRVXZNhe4AACAASURBVCn5fHv1Y/y25QSV/S3Uj/YxEvIRVlWsspFUk5X5jnS2ZpWxLrVw2r5+ceaWyzKcjEYdJeWZmG0GVq0vITMnEaNRRyiscKqyiRee3ce50x1sf+UkH/7k5pibx0Cfi1/8ZDfN9b0Uz8/g/f/nFrJyElFUjbqzHbzw7D4G+93j92nSs37zfF54dh+7/niaO+5bOu5ioqoah94+RyAQomJ1EWmZF7xS4bDCrj9W8cL/7MVg1PG+j21i6coC9AYdPk+AbX84xpsvn+Bn399Jdl4y88oyx22/9mwnjXU9rFg3j60PVOBMsqAoKiePNPHsD9/i5JEmdrx2kkc/vD46dunKAopKM0DTGBxw89knn0ZVNf7kL+8gI8sZs33zFfTgmi4CcmB3DY21PSxZmc/t9yzB5jATDit0tg6iqiqmS6qV3C4fP/nOmxw71EjZ4mze97FNpKQ5AGht7uPXP9vL4b21WO0mnvrMnVFvxpUgSgK33FnOynXF0de+9bWXqdxfz8r1Jbz3Q+suVGYJAjZ7rOEkSSLZeUksX1NExZoiCorTsIzlxfT3jPKz722n/lw3v3pmL6vWlUy43tVVbdTXdLFm03zufM8yEhLNhEMqRw/U8/xPdnP0QAO73qjigcdXR493+dpiShdmgQY93SN84amfIgCf+NzWGCMamDBZ3OE0s6gij8RkG8vXFOFItKCTJdxuPztePckf/3CMN18+zrpbSlm6qjC2q7wnwPNP72agz8UjH1zHxtvLMZr0aKqGx+OnqbaH9taByIPH2DhBECgoTqNkQRbHDtZzZH8d8xZkjvOOhUJh9u44C8DmrYtnpJ8kCAIOu4k7bitn3epi+gZcDI9EEsB7+10Mj3gJBEJoKugNEjarkeQkGzlZTpwJFlKSbbOSMLgZEUQBW4KFD33hXlIznSBcX/l8yUYrP17/ATRNQy/J5Fqc045ZlZzHT9Z/ENCwyAaM02gN2fVG3pu/jC0ZJfT63XjCAcKqik6UsOoMJButJM6gl9t5iuwp/OvyB/ArISRRJNPsmNG46bg/ZxFLnNmARoJ+bj0+aSYbT5Ws4+G8JfT63fjCQdSxNbfrjKQabdh0M28dszI5l++teRxFUzFIMrp3QaHF1eKyDCdBFHjiY5vQNC16MT2fP5NflMrQgIcX/3c/9TVdjAx7SU6NJDhqmsaJw42cOtpMUoqNP/nLO1i2qjC63YLiVPQGHd/791fH7VMUBdZsKuWNl0/QUNNFfU0XJQuyYj7T3TFE1fEW9HqZijVFUQ+Opmn09Yzwu+cP4PMG+dinbufuh5YjCEJ03ulZTlwjPvbvruGVF47w539z7ziPkM8bZPnaYv7y7++LCZtk5SXR3TXMH355iENv1/LgE2uiDVBNZgMmc+QGLUrimMtdIynFRuocKiBPd+oc2V/PYx9ez2Mf3YBh7AlW0zQWLMpBI1YvRVU1dr52ipOVTRSWpPGXf3cf+cVp0c/kF6eSnGLji5/+OXveOM2tdy6kYs34MOKsj0EQsNpMWG0XniANY6EIs8VASroD/RTVRIIgsGLdPCpWFyFKIsJFN5z8olREUeBrf/cCfT0jNNX3UL50fKNPnyfI0lsL+Yu/vReT+UJCalZuIt2dQ7z226Mc3lvHPQ+viM7FbDFgtkS+47CiRr+LpFQ7qenTX6DtCWa+8E8PIQgCoijE5CIVlaRTfaqdxrpuTp9oZcnKwhiPbH/PKP29EU/TvY+sJCPbGTN+weJcNFVDlGJ/IQ6nmXWb53OysonKA/VsuWcJmTmJMZ85WdlMZ/sgmTmJVKwuZLZYLAYsFgOaprF4YXYkX0q7kOd0/jgi5+H1ZRxcSwoXZLFoTTHPfv0VKjbNx55oGVdNKEoiS9bNi1xT3mGMko51qbP7PSQbrSQbrbMaIwoCSUYrSbMcNxF2nZHlyXPf2DfH4iRnEsNR0zSGg16qRzsQBZGVSYUx7WFmgixKpJnspJkmLxKYKclGK06DmXbvIH3+UYaCXpIMU6+tpml0+oZp8fTFvC6LEsXWNBKnGa9qKs2efrp9wzGvGyU982xp2HQ3prfwsjPJJnr6FAQBWZYoLElHr5ejYZbzhIJhaqs78XmDlC7MpnxJ7rgqqSUr8klOs+O+pCxZEASycpMoWZDJ8cONHD3QQPH8zGjSpKZpNNV109bUhzPJxpIVBTHbrq/uor1lIJJLdXt5zIVIEAQSEi0sWJzD4b21NNX30NszQk7e+BDUXQ8sG+c1MBh0FJWkI8sSXk8A16hvnKfhWmNzmLj3vSsxXlTaLAhC5Gn2ErPL4/Zz6lgzoWCYxcvzySlIGfc9lS7MJi3TSWNtNycqm1i2uuiK22zMBaIoIE7Q50oQBFLSHaSmJ9DdNYRrdHwvsMjnYOsDFVFD6PxYo0lPwbx0JFnE4/bjdvlJTLryC/r57U+UYyQIAgajjpIFmTTWdTM86IGoFGIEm8OM3qDDNeLl7R1nuf/RldG5nzdImKD6ShAEVm8o4Zc/fZum2m4aznXFGF2KonJwdw3hkMLSVYU4ryBsJghjv7Dr4QdyA9B4toNT++sY7B1l32sngfFGpcGo49kjX0F/k6uo3+icHmnnM0efxSDK7Njyf695SM0V8vHNmtc5PNDAB/PX86cld0w7Zkf3ab51blvMazbZxJcWP8zmtAVTjg2pCr9sOcCLrYdjXs82J/LPix9lsXPujdl3giuqqtM0jYA/TDAQIhxW0VQNVdMI+IMgRHSLLq7KCQYVOloHQIC8wpRxHh0AZ5INZ5KV5vrece85nBaWrizgZGUTp441c8f9S6PerGAwTOWBejzuAOs2l5F1ydPz+Wq2tIwE3KM+fBMkrkqyiKyTGB324hr2wiWSGLIsUVKWNW6cIAjoDTpknYSqqONKst8JpgvV5RWmzPhGPzLooat9CFmWSHBao8nOMfvTtKj4ZHtL/5gb4fq4MWqaRjAQJhAIEQ4pqGrktzoy5IlMUYsYBhMh6yTmlWWOe/28ESPLke94onyyK52zoqj4fSFCoTCqokbmrWpoY99uWBm/T4fTzD2PLOelXx3m+ad3cWB3NZvuWMi6W+aTkGiJehcnwplkZeOWBbzw7D7e2lbFmltK0Y0JKra3DFBzuh2r3UTF6kKME5yrca4OC1cX8c8//9MpPyMIwmVrOQ0GPPT4h8m3pFzzG/mNhjvkp9U7QLbJiX2OQ3PvBGFVZSDgJqQq0arE6bg9fSGZ5gSGg17qRrv5Y9epGe9PJ0o8nruGFYkFDAbcVA238VZP9eVO/7rhsg2n3q4Rjuyr5WxVOy0NvQwPevB5g4SCYUIhZcLyaFVR8bj8CECC0zJ+o0Q8BpcmwF783uqNJfz+Fwepq+6kub43WuHkGvZx6O1aREnk9nuXjHNhn7/5nz3VxpMPfnvKYzOZ9dEy+IsxWw3RENylxNybroEw43QmiyPBPGO7xh8I4XH7CQbDPPO97Tzzve1Tft7jCkxruL1TuF1+qo5GqtOa6nvo6xmNHEsg8rtUFTXGm3QpFqtx0nDg+eWb669XCavUVndw8kgTZ0620t05jGvEh98XJBRSpjTSJEnkfR/bREamkx2vnaK2uoPqU+386pm3Wb2xhPWbF7B0VUE05Hkpt929mG2/Pxat5ssrTEVVNWqq2uhoGaCwJJ1FFTe2Ps6NhtlqxHyVhFM1TeP37Uf4bdsR/l/FB5hvH/+QEGdiNE3j8EADXz39e760+BE2pc6/1lOaNQ69mSeLbqFqqI37sicusLoYQRDIMCWQYYqklZwd6eDgQD0jwYk99uPGI1BoTaXQGikSSzclcLC//vIP4Dph1oaTpmk0N/Ty9Dff4NSxZiRRZP6ibBYszsGeYMZkNtDa2MvObVNbpVPde6a6SGfmJFFSnsW+ndWcPNrE0lUFyLJE1bFmBvpdFBSnUVSSMen45FQ7hSVpU+7DZjdNqOotieJ1F23Q0FDC04stzkpxeezLkSSRotJ0nNN4qgqK0675umiahtvl5/mnd7Pj1ZN4PQGy85NZvDyfpBQbJrMBnyfA9ldP4HFP3kBUksR31HGmaRp7d57lZ9/fQW/XMAmJVkoXZpGe5cRmM6E3yOx7q5ozJ1onHC8IAharkbsfXs6y1UWcPdXKgV3nqNxfxxsvHefIvnq2PljBwx9Yi/WSpGtBEEjNcLB0VQH7dlaz+43TfOgTmwn4g5w40kQgEGL52uKI0R3npsCrBKlzdROeYQPZOBdQNJUGdw+u8Hh1+xsFnSixOW3BtCG2i7mSh6ab9YFr1oaTxx3gxef2c/RQA/MXZvPJz2+loDjtgvaRAHvePM2eN8+MGytKIla7CQ0YHpjYTaiqGu5J8k8gcmO78z3LOLCrhrffPMNjH96AyaJnx+unEAWBTbeXj6sQA6I5R/nFqfzd1x4dp6EUgyBM/f47iUA0qfZSzoekfL7AnP5ADUYdFqsRnc7NPQ+vYMs9i6f8vHBRQvO15ODuGv7wy0OYzHq+8E8PsWpDCTqdFJ1fe3M/h/bWTmk4vdN0tg3y0+9up697hDvvX8pH/nwLFosRURpbUw1aGvsmNZzOI4oiGdlO0rOcbLp9IZ3tA7zywhF2vHaK3zy3j+RUG3c/uBzhkiRxi9XIulvLOHawgSP76rnrgQrCIYUj++swWwzcds/i6+K7jXPlaJpGl2+IJnffdeMhvpHwKkGOD7Vcl62e4ryzzNpwGhny0FjXjSyJ3HJHOaXlWeMurAN97gnzMfR6iazcRNgLrU19+H3BmGTl89sfGvBMOYfSBVlk5yfT3txPzZl2UtIctDb2kZRiY+GyvAkT1xcsyeG3Pz9Ac0MvoWAYs2XiUOHV5OJ1Cs/AS6TTS4iiQCikREq4J+gW3ljbjRJWJ22gejkkJFrIyE6ksbab1qY+BFGc0+1fLU4caUJRVMoW57Dx9vJxvwO/P8TosPeqzuFihWclPP1TfUQ81ktKmp2tDy4n4RJBUVXV6O0anmILFzifDK43yOQXpfHUZ+7C4/Kzc1sVZ060cfu9SzFcsiaCILBwWR7Zecl0tA1w7kxHJMdvxMeG2xaQPEXLj3cDASXErt5q2j0DfLhwI83uPg721yOJIquTiim0puJVAuztraXV00+K0c5t6eXYx6qFXCE/O7pP0+EbosKZz5rk4kkN0V7/KK93nsAXDnJ7xkKKrLGecU3TGA55OTXUQpt3EHfYDwjYdSayTE7m2dLJMCWMG9MbGKXB1Uunb2hs7AACAr9qOUiSPtabXO7I4ta0BRMLFxOpEqsabqPJ3YtfCWGRDRRZ01jszMUsTS5UWjvaxZtdVSxLzGd1cjGqplHr6qJqqI3RkA+DJJNuTKA8IZssU6RIIaQqvN1bw9mRDnItydyXtQxxku2Phnxs7z5Nt2+YisR8VidNvs6zYSTkpXa0m07fEI3uXs4Ot6Oh8WrHcU4NxT7MpBhtPJq7GnGKyrnhoJcTQ800ufsIqGHsOiPzbOksSsjFIMoTzrnbN8wrHcfJMjm5NX0BelGmzTPA8aFm+gNuREEg1WCjzJFNviUZ+ZLimG7fML9tO4J6kcEnCALLE/NZkzzvClfonSGsKpwd6aDW1cVg0INIJIS41JlPpmnyNjPDQQ9vdFUR1lTuzVyKXWeixz/CiaEWOn1DKJqKU29hvj2TYlv6tDIZ57msHCdN5YK2yEU5wZqm0dU+xNEDdYSC428aOr3M/IXZWKxGWhv7OH64kdUbS6IHraoaxw420Nsz9Y3CajOyZmMpLzT3s39nNcVlGYwMe1m6smAsbDR+EUsXZFFUmk5zfS8v/eow7/3wOoymCye6pmmRFh+BMKIoTJi4fqUYjDIGY0Q3qq2pj7zClClPbofTgsVmItw6yNlTbazeVILRqI/O1+P2s+33x+Z8nharkZXrijl6oJ6De86xemMJC5flxVR+aZoWzb8xGHUz0vi52pzvASiKApqqwdh0z3vmDuyuYbDfNc5Yn0sMBh16g45gIERrcz/pWc4pv2NN1dC0MTmPi18f+z2eOdFKfU3XpOODgRCKoqE3yOOkDCRZxDYWZhMlYdIQZHKqnZXr51H3ky6qT7ZRf64LvV5mw5ayG8JgvpqEVIVdPdXs6amm1J7J0w1vUe/qQdFUXrYc45+XPMq2zlP8vr0Sd8iPTpQ4OdTK35bfj0HSYZBk6lzdvNB6iLrkbkrs6SQZxlfcaprGwf46flK/iySjlY2ppTHvK5pK5UAj36/dTrt3gIAaiqpHC0TKux06E58qvYvb0stjxv6u7QivdpzApwTxhgME1Ej+5h87T477bb4nq4Jb0srGVdoqmsrhgQZ+XL+TFnc/fiUUkTFBwCTrKbVn8IWye8mzpExo3DS6e/lp424eDnkpsqXxy+YDvNldxVDQMxY2FDBJOj5cuJGPFG5CQkASBAaDbp5v3keWOZGFCdnRXJlL167B1cPT9W/hDQcotU+eqjFb9vfV8qO6nbjDAXxKEJ8SKSra01s9zkAqsWXw3tzVE25HJ8rUurr4cf1bVI90xHx/NtnIupR5fLbsHhy68WHxvsAoP2/exwJHFouduezpreHXrQfp97sJqWFUNAyizJ0Zi/nM/K3YxNgc4cGghxdbDxPWFBRNI6CMidFq2nVvOJ03/H9c/xZ7e8/hCftRxpTjdaJEusnJ+/LWcnfmEgwTGD0jIR9/aD+KNxygwpnPqeFWvlv7Bj2+EQJqGEWLaIMtdebx9+UPkGVOHLeNiZi14WR3mMktSqGpvoed206Rmu4gPduJqmj0dA3z2ouVdLQNIk0Q6hIEgSUrC1i2qoB9b1Xz0+9sZ2TIQ05+CqqqUl/TzWu/rYxW9kw6aZ3E0lWF7HjtJCcqm+jvdaEqKqvWz8NqH59UKQgCSal2HvvoBn70jT/ywnP7aGvpZ82mUhwJZjQiQoLdHUPUVLWzbHUh9z+6arZLMy06ncziijwOvV3L8z/ZA0RCiKqqEfCHSM9ykpmTGL2Y6XQSG24ro+5sJ9t+dzTSNmRJLpIsMtjn4q1tVbQ09mKxGiZVFr8cRFHgljsXcvp4K9tfPcHX//F33PfICgrmpaE36AiHFdyjPuqru+juHOJPPn0n2blJc7b/y2Xhsjx2/bGKqmMtvPHyCeaVZSDLIsNDXir31bH9tVNY7aY5r4i7GINRx8KluRw92MDPf7SLUCBMYooVVdHw+0Nk5SSSkX3h5CwoScNmN9HTNczrv6uMJK9bDfh9QWrPdPDKbyqx2o2TyifsfuM0+3efY9GyPLJyE7HaTYiigM8TpLa6k13bqjCZ9SxZUTCpESSKArffu4Q//OoQh/bW0t87SlFpOiXlWddLoeQ1J6CGeaZhN7nmJNYmz2Nb50nqXN38+9lX8IQD3J+1DE84yPbu0+zrO8eJocWsTi5GJ0jclbmY1ztPcmKomdrRbtYkW8cZLO6wn0P9DXiVILcm5FJoS4sxgutc3fxH9Su0ewdZ5syn3JFNot5CQA3T4R2k2dNPf8A1oWFxS2oZRdY0AOpc3fxv0170oo4nizaRaYrVIMoyJ44zmlRNZW/vOb5S9Vt8SpDFCbksceZi05no9Y9yZKCBIwON/MPJF/jHRQ9TYkuf9GGh0zvEf9dtZ09vDWX2LG5JLUMSRPoDLjq8Q5Q5shDH9i8gsDKpiEJrKo3uXg701ZFnSR6nhaRoKkcGGunxj1Bqz2DVHHmbABY6svnzkjvR0BgN+fjWuW14w0Hel7+esksS6206U3Tul6JqGv925mU8YT+3ppWRZ0khrCmcHGrl6GATr3WexKm38qclt6MXJ77/DQY8/KrlAC91HKfYmsbKxELMsoHhoJd27wDFtjTM8vjCl2JrGj9Z+3FcQR/d/hGeadxN3Wj3lS/OVSYSWh7mX8++xKH+enLMiWxKLSXHnIRfCVHj6uRgfz3/fvYlQprCIzmrJvVIepUgr3ed4M2u0yQZrNyatgCn3oIr7KPTO0yOOYkUw8y967M2nCw2I1sfqKCmqp3aMx1886svk5hkQVE1hvrdZOUm8YnPbeU7//rKhOOdiVY+8NStdHcOU1/Txfe//hoJSdZobtOG2xaQmGzj1/+zd9I5CIJAcWk6OQXJnD7WymC/G4vNyKoNJZOeMJIksnbTfFRF45nvbY/ccHbVjFVYafh9IQL+EAaDPCdijhOh08vc/+gqWhp6aarr5r/++Q/YHGa0McPp8Sc38ND718Yc55Z7llB1tIWjB+t57odv4UyyIssSrhEvOr3M409uZN/Oas6dbp/TuRpNej78yc1IssiuP1bx7H+/hcmsR2+QCYcVfN4gSlilYF7adXNvXbVhHivWFlN5sJ4ffmMbKWl2ZJ3EyJAXRVH44FObOXOyhcN7667aHIwmHfc9upLW5n5qz3ZEvmO7CUXVCPpDfOgTt3LfRUZ5dl4y9z6ygud+tIs3Xz7BycpmzBY9fl+I4SEPazfNZ8mKfL7xlT9MuD9FiajlH9hVg8VmwGo1Iogifl+A0WEfkizy4BNrWLVh3pQFAilpDpavKWL3G6cRRJEFS3JJTZ95p/XzeR+aptHX76KzewSX24/XG4x4/+YIp9PCmpWzF+O8UjQ0DJLM58vuxSobscgGvnPuDc4Mt/Px4s18oGADPiVIt3+YyoFGmj39rB4Ly5XZMylzZHKwv57dvdWsTCpEFmK9t92+YU4MtWAQZdYlz8MkxXpFG109tLj7yTYn8uXFj5BquNATU9FU+vyj9PpHybHEPsAIgkCZI4syR0RGxSob+WXzAQySzOrk4mmr6jRNo8M7xP8278UdDnBv1lI+XnwbacZIH1JFUzk32sm/nP4Dda5uXmo/yl+U3DmpzMHpkXYsHgOfKrmLTallOMdK+sOa8v/be+/wOK773vtzpm7DoneQBHvvRaREUVQvlmRJlh3bsi0ndpzY6eUmb+69cWInTnLz5vXjOIkTpzm24+suS7as3iiqk5TYewcIgujYvtPO+8csQSyxAEESLLLm8zx+LC525pw5e3bmt7/y/XEyO0i1ecaoFELQHK5kefU09iVO8kbPQe5sWkylURzOznsOL57yc2qvr51DmT5xFYmTojVMivp6fl25BF/b/ywCWFI55byq6jJunrST4w/mvo9ra2cOff59Vpqv7nuKJ05sZUvfETqzA0yOlm5hdTzTQ0e2n4enXc+dTUuoD5UX+vd5nMolMBStpMCmoWq0RmshCpOsND89sYVLdwecOCSSx0+8w1s9B2kMVfBnCz/A3PJm9EIoctDK8O+HXuJ7x17ju0dfY2XVNFpjpdtCDVgZHm3bwi0NC/j41LW0RKrQFBVPSvqtNHnXPq8GyedtOCmKYPHyVv7yqx/jqce2cGDPSfI5m8qqGLe/fxm33LWIeHmEN17ei+N46MbIX7lTZ9bzhS9/lI0v7OLtNw+THDzT5Pea62dxaP8p3n7zELV18VFv3PGKCDfcuoBMKo/reixdNZ3qurEtRjOkc8NtC5i/eDKbXjvA1k1H6OlKID1JZXWMqTPrWbZ6OrPmFd9MwhGT6bMbiZWFUEsIFQLEysJMm1VPdW18zF/2y1ZP5wtfeYjnHt/K/t0d5LIW0ViI+uYK5iycNOKY6toy/vCL9/PWK/t5c+M+eruSmCGddbfMZ/3tC2horiQxkMG2Hczw2a5KQW19OdNnN1B/ASrlNfVxPvs/7uSO9y/jlRd2c3h/J6lkDsPUqWuIM3/pFJatmjahCuhn09BcyYw5jdTUjS3AKISgpi7OH3zhfl55fhdvbjzA4ECaaNRkxZoZrL9jIa3T6zBCGv29aaJntVuJxExmzGmkvKJEJ/oCZeVhps1qoLG5sqRgJfhJ2tesnU1DcyXPFlTuczm/b15Dc6XvxRmGqirc/9HVTJ/TwMvP7uL4kR4URTB1RgNrb57HkpVTGehLs2Tl1IIKefHc1t+xkFg8xI63j3HiWA+JRM5XOp9UxdSZ9axZP4eZc5pKfg+L5qEprLt1ARuf3000anLtjXPGHabzPEln1yCvvXmIF1/ew7H2voKum8cE2kwALJjXfEUMJwXB/IpJxHW/tdC0WB3lehhd0VhSNQVdUdFEiKZwJY70GLQyQ6EsTag8OHkVm3sP8+zJHXxy2joawme+MxJ4o+cgp3IDTIrWsPasMN1wLM8hZeeoMctQC3tBFQoN4Yqic04UEni77yg7+ttoCJfzsalrh4ym02PPjTdzT/NSvrz3CV44tYuHWq8jpJbWD0s5OT429TruaV6GOsyQ14XG5OhIr7WmqNzTvIzH2jazpe8wB5OnWFld/Plv6z/GoVQXUc3kjqaxC1muFAqCu5uXsbZudpFxU2VEubF+Hhu79tGdT9CdS45qOOVcm1sb5/DRwvoOnVsoQ3IBv0gk7RyPtG3CkR4fm7qWhRWTivZUXA9zd/MS3ug5QHumj43d+5gSrSm57xzpMj3WzKdmrKcxdOYHoSLEOdXTS3FBOU6KqjCptYZf/Z3bR33PH/zZ/aP+TQhBTX2c+z+yhvs/smbE3xcsmcw//vevjTkHIQR3PbCCux5YMf6J4z+o6psquPvBldz94MpxHTNrXtM557Pi2hmsGNZjbazxW6fX8enfuW1cYwshqKiMcts9S0dtbPzJz93MJz9384jXFUXwS798Pb/0y9ePa6xSY5umzpyFLSWbwF4OPvN7o++xszm9Vnc/uIq7Hywdar3j/cu44/3LRrw+b/Fk/uk7vz7m+dfcMIc1N5z7V6aqKUyb2cCv/f4d45q3YeqsWDOTFWtK5xtEoib/518+WfJvoZDO2pvmsfam8ZcXl0JKSW+3/yNiyvR6Zs8f3+ftuh5vbzvOf3x7I3v2jZ6LNVFcCXFZKCjPm2eMd1PRMRSNkKpTWUiwFkIQUnU//086Q/mfQggWVkxmTryJ3YkTPHNyO5+Ytm7o3Lbn8vTJHUh8scGoao4Ye2ZZI9PK6jmcPMUX2xv1UQAAIABJREFUdjzCbY0LWVMzkyklkoEnEttz2DnYhi1dWiJVtJZ4MAkhmBNvQkGhK5egK58Y9UGuCYVbGxYWGU3nYmqsllXV03n+1C4eP/F2keHkSo+nTm7HlR6rq2dQF5qYHnQTjSoUrq2dOcIjJISgyohhKBp518HyRk+5EAhurp+POUoo7xeNPYkOBu0MUc1kSdWUEX8XQlBjllEfKudwqotj6W4sz8Us4TkSwPKqqUWe2ovhvfEJBAQEjEk+5/D8z7cjpeTm9y0alxyHlJK3tx3jK//8HO0n+i/5HBVFoF9BmZDh4SchAOFruw1/kJ3ODzq7Yr1Cj3BD/Vz2JjrY2L2P9zUvHUoS3zXYzpF0FzEtxPq6uSXHbo3V8vtz7uSr+55if+IkB5OneKRtE7PjTdzZtJiVVdMwVX3UHI8LxZHeUJ+xPYMdfOqNfyv5vqxr4UrfqO0bQ5E6poWoNM6vollB8L7mpbzSvY83ew/Snu1jUsT3Th1P97BroB1T0bmudtaIEOfVghBiRD7ZaZRCSyKJxBtDKCKs6hfkHXm3cjLb73cicR3+bPuPMJWRyd+u9GjL9AKQtvNYnl3ScNKE6ntpz7NX4GgEhlNAwHucXM7myZ9s5sCeDmbMaWLVdaPnCg5nYDDD17+x4ZIaTaoqaKivoKmhnNYpNaxZcWnyD8+FwPeWjHxdjEimLoUqFK6rncXPT7zDweQptvQd4daGhbjS4+mO7eRdh2vrZ9ESqSqZkK8rKquqp/P1VZ/m+VM72XBqL3sTHTzfuZMXOneysGIyH5t6HdfXzjkvb865kFKSK1RhWZ5DZ270iufaUHzoWkdDV9QLEsudV97M0qpWNvce5qmObfzK9PUI4K2eQ5zMDjA1VsviqilXXIh3NARctFGnCgVFKO8ZXTW/gtFvONWTT466r0KqTkjViemhUc1ORQg0RZ2wtQsMp4CA9xie57F3RztHD3UBgsP7T7Lx+d2EIwZ3PbB8qAfhWEgpeXPzEQ4d7h7xt5CpM3tmPTOn11MeD6NpKp1dgzz2860AhEM61187i8b6ciSSfN4hkcjS1tHPgUNd5PP20Lk0VeWD71/OLevnEYuZ79qHxum8qEUVk/nZiXd4o+cQa2tn05NPsmuwDUPRWF41lTI9NKohJoQgpod4f8sKbq5fwJ5EB1v7j/LzE1t5p/8o7ZleYotDrKieuBwwRYihSq3lVa08NHXtOY85XcE3UQghqDJjrK6ewTt9R9nUe5h7mpcTVnW29B/F9hwWlLfQEh5ZERjw7iWm+d+FKiPKb82+nZrQSBmP4VQZUSKXyeMYGE4BAe8xPE+yddMRfvitV3FdvxF3JGrywENruOnORaMmvg/HcTye37CnSFRPUQRzZjXwuU/dyJTJNZimhlrQltq1t4OfP70dx/EwTI2bb5jL8qV+3oL0JK7nN8fu6U3x6M+3svG1/fT1p8lbDj96bDOtk2tYtKAFVX33Phh1RePeluU8c3IHr3Tt5RNT17JrsJ2j6R6awhWsqp4+pnjicGJ6iBVVU1lSOYVbGxby5zt+zI6BNh5p28TyqqljG5jDdPfOhaaoTC+r45XufWRdmyWVU0Ytl7+UqEJhXd0cHmnbxL5EB7sH22kKV7Kl9zCmqnNb46JLmut1muESEQGXlhll9WiKQtLJ0RqrYW58pNj2lSIwnAIC3mMoisLilVNxXY9czqYsHmbOghYWLZsyojn2aJw42U9HZ3HYZsG8Zv7Hb9/BpBKin5qmoGsqjuPhOr6xpp9loIVDEC8L87ufvZnVK6bxtX9/kbYTfbR3DPDVrz/HH/7W7cyb03TV3DwvhPkVLSysnMSm3sO83LWXI+luXxupcjKtsdLVVFL64Yqz85eEEOhCpSlSyfKqqewYaBszvwhAUxR0oeJ4LoP2uVX0daGytLKVx/QtHCloKZ1dGTY0TwpirlyaHmWTYzWsqZ3J94+9wZs9B6kLlTNgZ1hQ3sKiypEVyRONghjKZ+vJJy/5eO91psfqmR6rZ+dgO4+1b2H6nPqSIpeSMy3JLte9ITCcAgLeYyiKYP7iycxfPPmCz9F5KkE6fabnXyRscNetC2lpKq39pChKwZNl4zguzhjtaBRFYfXKaVi2w9//83P09ac5crSHb3znVf7if91H+BIqv19qNKHyvqalvNN3lBdO7SZhZ1CFwm2Ni0b1NjnS42ftW7Cly3U1s6gNxYs8H3sTJ3m1ez8CmBUfXXwSoFyPUG3GOJru4fnOXcwsaxzSPZJSogqlyHMjhGBRxRTW1s3mqY5t/MP+Zxiw06yvm0+okITrSI+OTD+v9xyg0oxye+MiDDHxjxaB4J7mZTzatpm3+48O5Qzd1rgIVVx6b5OuqrREqunMDfJs5w6uqZlBXSGvy1f/54p448bitNEtC5aFK72hwgUPieO5Z3SzCoHOs1v2yNNHS4ZUu0HiSW/oeMGZwojRjpdSDjveP5freX7l6enxhx1rKBoPTV3LX+18lCdObMNQNO5vWUlTpLKQTO+3VNk1eIKdA218bOp1JVX5LwVX16ccEBDwrqC3L0U2dyYXqbIywppV00cV2VQVgab7f7Md75y9GoWA666ZwcFDXXz3x2/iOB5bth7j+Q17uPuOxRN3IZcZASytmsLc8mZ2DbYhpWROeROLKkY3YiWSPYkOHm3fzN+Lp6g149SEylDwW5KczA7gSo/55S18pPW6McefEq1hff08vn3kFR5t28xr3ftpDFfiSJdBK8MtjQv5jVm3Fh0T10P89uw7yDoWr/cc4Es7H+PL6pNUGtEhRe2sY+Eheaj1OmTDRKzUaPOvZW3dbF7s3A1Ac7jS7/936YYcIqaFeF/zEg4kO9nce5hffv1faIlUI/B75bVEqvjKik9chpmMn558kte7D9BtJck4eXrzKQ4mT+Ehea17PxnHIqb7gq5VRpS7mpYUibP6hQyHSdg50m6O9kwfffkUtufy47ZNvNN/jJgWIqIaTC+r49qaWUXjb+0/xq7BdtJOnqST43DyFBk3j+W5fPvIK7REqoYEZRdWTGJRZfH34Ia6OQzOuo1vHdnI946+zo+Ov0WVEcVUdTKOxaCdwZUeTeFKPjxlpLTRpSIwnAICAs6bTNYqal1TVxunPB4e9f2+lIB/Q3Zdj7zllGxafRohBLqucuO62Tzx7HZ6+9J4nuTFjXu56Ya5RN6lXichBPWhClZWT2fP4AkcJDfXLyhZQn0aVSisr59HxsmzL3GS7nySk4XqtqhmMrOsgWtqZnBH42IazqFjZKo6H55yLbqi8kLnbtozfXTljxNWdepD5dSHRooI+1pDUf5k/vt5vnMnr/bsZ89gB525AaSUlOlhZsUbWVQ5mRvr56FNYFXf2YRUnfX183i9+wAZ12JpVSv14fLLEqJRhcJN9fORUvLYibc5nOxi52A7pqJRZUT9isirjKPpbr524Fm6S4QW9yc72Z8803qlyohyS8OCIo/jm70H+cd9z2DLkR7iN3sO8mbPwaF/X187Z4Th9NTJbfzo+FsjjrVw2dC1Z+jfAsFDrdcWGU5CCExV5/5JK5gcrebZkzvYPtDGyWw/+XwCQ9FpDlcyrWCwlRuj338mGiGvwiy35zp/xuu9G1hdfQM31t2JdpW5P69GPOnyTOdPeavvFdbW3MyNdXde8M3EcvO81P0UexI7uKfpQ0yLzTr3QQHvKb7zgzf4t2++POT2v3n9XD7/R/eM+v6jx3v4X1/8Ce0dvnTBb/3azTxwz9Ix28CAb2T9/v/8Plt3tAHQ1FDBn//JvcyeeQndGsPwpEdfPk3GzVNtxohqflgr59r05pMoQlBrxoceNv1WmqSdJa6HKdcjJb+DUkq+f+x1vrrvaarNMr60+EMjVJFLzSPjWmQcC8tz8AohD1UohFSdMi1cKPU/93feF+h0GbSy5D0bT3ooQsFQNMq00KjtUsAPr6ScHBnHwvFcJL5Mg6lqRLUQpqKVnEPayQ+VlDeGKy5YT+d0M+TPb/8Rlufyx/Pu4c6mxZc17831PAbtTEG7yl87TShENZMy/czD+7SUQ1c+gUDQEqkqqbOVd22680kkkhqjbMT6512brlwCgLpQvGSez2jkXIuefKooRDYaqlBoClcWzTFhZxmw0mOoS50hrBpFIrHga3olndy45hrXw6NqfEkpybo2aSdHvrD/FSEwFI2wahDVzJKhbttz6cknsT2XSiM6Ye14rkqLJOUk6cqfJOUkh2KzAWMjgZSToDvfScq5uMTFhDPIzsF3OJY5zN7kzktuOLnS4WS2HU3o1Ife3cm/71XOJbyoqQoh88wNv7cvhetKzuWcUFWFObMahgynZCrHiZMDl81wUoRSKIMuzp0IqXrJTuqVRvScAo8pJ8e2geNYnsOiislMi9Wdc88rQiGmhYhpF3/jF0JgCI3ac5R3l0IVCuV6hHL93JIVw4lqJtESDWjPF1d6fhK8lWZWWSOraqZf9vuFqihUjUOIUghBWDOYopVO+j+NqepjeqtMVR/Rg3C8hFTjojxhcT1MXL9wT06VGRvXWp0LIQQRzSAyhlFfCl1RL0k7misnwxtw1RJRozSHJ1OpV9EavfSCg2knzVOdj7K5/7XAUH6XYBga6rAKvGRq7F+Vuq4RiZy56XV2DfqJoeOgsuKMIZLP2yQS2fOc7dWDlJK2TB87B9oJqQara2ZMiEHxXiHjWrxUCPGsqZ1JtfHeUdIOuHq4Kj1OAVeWsBrhgZaP40kXXbm0uSRSSpL2IAeTe6nUL+xXVcDlJxoxhuQFAHp6UziON2qrllBIp6L8jJfi4KEubNst8kKNhmmeuU3Zjkc2Z13k7K8cSSfHj4+/RUe2n/nlLdxYPy/wsI6TnGvz0/Yt7E90UmOW8UDLimDtAq4IgeEUMAJfH0YHxh9Lvxjas0dJu4EuyruJyooooZA+VFmXTObo7knS2FA6OTkc1qmuPuMdOHFygJOdg5TNOHfoabDIwyRH9IG7msm7Npt6D9Nn+ZVIOwfaePLkNqKqycPT1gXepjE4HZY7mvLV6Q+mTvHkia0YisoHJ19D/SUIwQQEjIcrYjj5yYkWB1N72dL3Gt35TgwlxLz4IpZVrkGMkTi4ue81Xul5nnU1t7C4chUnMsfZ3P8q7ZmjuNKl0qhhccUKllSuGtZwU+JIm67cSfYkd3AktZ9BewCBoNKoYnpsDssq1xDTziS2SSl57tTjHM8c5p6mD7E3sYOtA29RY9Zzc/37qDJqeKv3Fbb0v05Ei7C+7k6mRWcNJahJKbG8HCeybewcfIcT2WOknCS60Kk0alhQvpT55UswldCE/2oSQjBg97F9YAu7ElvJOCmiWoy58UUsrlhJhV41YsyUk+SRtm/TkWsbek0XBrc03M3iipVjjudKl67cSbYNbOJI+gApJ4EiVCr1aloirSwoX0pjqKVozAPJ3exObOdkto327FEANvW/yoHU7qJzz48v4a6mB4t0Wnw9EIeObBvvDLzFsfQhLJmnSq9hQfky5sYXFX2Wwznf/dNv9fJ4xw/pyXdxV+MDzCqbP+K8Uko6cyf4Ufu38KTHx6b8GtVm7dgf0rucxvpyohGT/gFfRDGTszhyrHtUw0nXVFoaKzB0Fct2cV2PZ1/cxfRptWP2VvM8j/0HTw39W1WVIg/U1U7OtXn8xDu81rMfT3rYnkdcD/GR1mu5rnbmlZ7eVY0rPV7r3s/3jr3uPzM8F0PVuLt5KQ9MWlmyd2BAwOXgityBHOnw1Mmf8FL300gpqTZryXsWz556nK0Dm6kyRg/ZpJ0kJzLH6Mi14fZ7/Ljt2yD88JLl5TmWOYypmCypXFV03N7EDv7r6D/heDbleiURLYorHfYkT/DOwFu8M/AmH578KRpCzUPHDNr9HEju4dWeF9g+sBkPyaHUPlJOkqnRmWzofhpTCXE4vY+efBefaP0cTWFfwdaTLhu6n+HJk48AgnK9kpAaIutmOJ49wjsDb7CscjX3NT9EXB+7hPh8Sdj9/NeRf6Qj20alUY0QgiPpA+xObOPt/jd4uPVzVJt1RceoQqXarMOSFlk3Q0f2OJaXJ+2MrUQspWTbwCZ+2PZNcm6GCr0aUw1heRb7c7vYOvAWWwfe4vdmfR5dnAn7HU7v51j6EAAKvlGkC52IGmV4l1NTCY3QaLGlzQunfs6LXU9iezZVRg2aonEovY+tA5uYEZvNg5MeHvoshnO++yeuV1CmxdnS/zrbBjYxNTYTQ4z0EuxL7mJ/chdzyhZSOcb+/UWhob6c6qrYUJVcOp1nx+4TrFo+rWS4TgjBjOn1lJWF6O1LA/DChr1cs2IayxZPLlldJ6Vk194Odu/tGHrNNHXiZZev7PhiMVWddXVziOshLM+lxixjbd1sFpZPQhEiCDWNgSoUlla2DlXxxfUwy6paua52FpqYuIatAQHny2U3nKSU7Els4+Xu59CEzm2N9zK7bD6qUOnOd/FS11PsTmwb8xweHrsHt7F9YAurqtcyJ76QiBrF8vL05LtoCDWPaPbYEG5hWeVqJkem0RhqGTKcTmbbeebUYxxNH+Tt/je5rf7eIvmDjJtif3I3H5nyq6hC4b+P/SsHkrtpzx7l/paHqDHq+VnH9zmY2sPJbPuQZ0URKpMj07imeh3TY3OoMeoIqSHynsXxzCEe7/ghWwc2sbB8OUsqVk3oTWDHwDuU65U8OOkTNIenIITgVO4EPz3xA46kD/BG38vc1fCBojHDaoQ7Gx/AkTb9Vh8/bv8Wh1J7zzlWwhngha4ncDyHm+rfx8LyZZhKCFc6DNoDnMgeI65XoonisN/1NbdwTdU6JPDcqZ/ycvezzI0v4s7GB4o+O0MxEMNqGKSUvNP/Bs+depywGuGuxgeZGp2JpmgM2v280buB7QNbeLzjB3xw0idLetfOZ/+oQmVhxXJe732JQ6l99OV7RlT+eXhsHXgTgOVVa94TjUZDIZ2F85rZvqsNKf3+dwcOnWJgME11Vazkfp4xrY6a6rIhw6m3P8XXv7GBz3xyHcuXtBZ1tpcSjrX18s3/+1pRqK4sFqKp8eoN0UgpkV43+fR/IJQKzOhnuKt5CXc1L7nSU5tQpJQ4+Y3Y+WcxQneiGmsm3JBRhcKa2pms+QXwzEnp4eQ3YGUfQdXnYkY/Gxh+72Iuu+GU97K83vsStpfnxvq7WFd7K7owEELQGJpETCvjm0e/RtYdvY+SlJKTuRPc3nAfN9Xfia4YQw+rGbG5I94vhKDGqOWDkz6JJrQiaffm8BSyboafnPgO7Zkj5LwsMeVMma5EMju+gBmxOQgE8+KLebn7GWaG57G4fAWaorO4YiX7kjvpyZ/Cw0PF/zU0s2we02Oz0YRe9CWZFGmlI9vGqz0vcCR9gMUVKxBMXMsAieT+lo8yq2z+UOiwMdRM0k7ySPu32TO4jdvq31/IYzqDIhQMYRLVoiMMndFI2AOk7CQVRiVLK1YNGWoAzVIyJ76w5HERLUYE/7M0Fd+DYCohyvXKMRud9lrdvNrzAgLB7Q33saZmPQpKYf+00ByeQsIeZE9iB9sHNnN97S0j1vZ898/U6AymRKazN7mDg6m91IcaGe4Va8scpS1zlDqzkemxOeNat18E1q6Zyfd/sgm7IIS5a28Hh450U11VutIpGjG4Zf1c9h/sRErfONp/8BR/9lePsXTRZBbMa6G6Kko2Z3PwcBevvH6A/oFMUUPVlqYKpk4Zu7z7SuNYm8mnvo4QMfTQXajalCs9pZJI6eG5JxDCRFHrzn1A0cFJrMx3sXNPgJchrC8CEVS4jYXrHMLOPor0+jGjn73S07loLmr/vMu57EHi7vwpuvOniGplzIzNxVDMM71yhGBKZBo1xrk/hFqznkUVy/zjhz3EFKGUfPAKoWAoBopQiowYRSg0hJpRUMi5WdwSCqn1ZtPQGFWGf9NuDk9GKeTdlGl+qC3nZWFYOb0qVP+hfNYvCwWFxkIYKe2kJrwAvy7UwMyyeUXroAiVulADES1Kzs2RddMTMla5XklUi9Fv9fJm30Z68qeGJAWEEKhCRZ1At3pH9jinch1UGjXMjS8qOrcQgrheztKKVbjSYXdiO3kvX/I857N/BAqra24AYHP/qzjD9ogfqnwLx3OYXbaAcr10r7ZfRFqn1BTpKWUyFpvfOYrnld7RQghuWjeHKZOKDZ90xuKVNw7yL//5El/6u5/z5X98hp8+sZW+/nSR0aSqCnfdtuiqVw1XlGqEUomitSDE5emddSFIr4fs4B+TT3/j/A8WBoraiBBRFK0FxNX9mQRMPBe1f97lXHaPU9JOkHUyhNVIyVwQTdGpNms5MHZqDVVGzZDBci5O33xzXpb2zFEOpfbRa3WTdlJYXp6Uk8CRTqHL8sibfkQ7U0Z9OknZz8U5/Zr/oHXPeqBKJFk3w8HUHo5njtBv9ZJx0jjSos/qKbxvfFo250NTeBJKCZvYN2I0JLKkgXghlGlx1tfezg/bv8VrPS+wP7GLWfH5LK9cQ1N4ErrQx0z2Px+klAzYfWTdDM3hKVQapYXdWiKtgB+etD2bcAln3vnsH4Cp0Zk0hSfRljlCe+YoU2N++GDA7uNwaj9hNczMsrlFeVy/6JiGym03zefAwVNEowa33jif22+ej6KMbjhWVkT58AdW8rV/f5FEcnyKwuAbXddfO5PVK6ZNxNQvGUKAaiwmVv3fIEIIpfJKT2lUXOcArnMEVTt/gVshTMzYr6OH70NRWxDvoX0f4HMx++fdzmU3nGxp40gbVcQwldKluGH13Kq0umKMO5wEfvLu4x0/oD17jLheQblWjqmG0IR+Tq0itajT95ncl7NfG44nXTb1vcqzp35Gn9VDpVFFTItjKv6Y2iW80Qw36i41Qigsr7qWGrOeV3te4FBqHy93PcvGrmeZFV/A6uobmB9fXORZvFAkHnk3h0QSUkNDHr+ziahRBJB1M0hKG6bns3+EEJRp5SyuWMnTnY/xZt9GJkenoaBwNH2QztwJ6kNNzIjNfc94m8Bfl2uWT0X99ZtZsayVupo4QjDmGiiK4KYb5pJK5/nW914fl5ilpiqsXTOTzzy8rkhE8+pEIEQIVZ9/pScyJlK6uPZupNt1gWcQKGrdey5EE+Bz8fvn3c1lN5wU/FCIRA71Wzqb0V4fwTifUX1WDz858R06s+2sqLqWa6rXUWXUElYj6IrBweRu/u3wV8Z5BePjWOYwj3V8j5yb4Zb6e5gbX0SlUUVIjaAJjVe6n+eRE/89oWOeRlzmCKwiFKbGZtIcmcyJzHEOpPawY3ALexLbOJY+xE11d3Jbw/snYCSBpvjGji1HbxLrSAcATWiMuUnOw8bRFI2Zsbm8oW/gSHo/PflTVBo1HEztJetmmF22gJh+9YZlLgVCCBrqy7n7jsXndYxpaLz/riXEYiY/enQLh492jxreq6mOceetC7n3zsXU1Y5sQHs2p73LnnsU19qE6xxGegmE0BFqM5qxGlWfCxT3VHOdo+TT/4GmL0EP3410u7DzL+E6RwAbRWlCD61H0WYDI6vh7NxG7NzjDA/VI8KE459HlDDwXfsAVvaH6KZ/TivzfaTXhxZah2ZcD+SwMj/GdQ6gatMwwg8ilAinN61/nTlcayeOvRXptiOljVDiKNp0dPN6hFJfNE8pPVxnN569F9fej51/CbCw868gB/6oaH6K2ooZ+7WiuUsvQT7zfTznQNF7NfN6jPDofQqH5iszOPbbuPm38OQAQoRR9QVo5nUIMbKIw7E2Y2V+gB5+P5pxDZ5zADu/Ac/tAASqNgPdXI9QW/zlnoAfLRe6f4Yf6zp7cHIv4nmdCBFFNZajG6tH3Jel9LBzj+PkX0HVF2FEHhq1t6Frb8HK/ACh1BIq+z3EsB/zfkHCKX9t7INIsihKLZqxBtVYBhSnSnhuF/nMfyMIYUYfRmJh557Dcw4gZQah1KAbq1CN1Qzf6xezf05/v4Qox4w+jKIWy7WcTp63c0+ianMxop8smrOVfQIn/xpG9MOo2nyk142TfwnX3ofEQVHq0IyVqMZixFlVz+e7PuPhshtOES2KqYSwvDxJJ0EtxT2npJQM2v0TOube5Ha6c51MiU7n9ob7qDUbihYq5+ZggjON3u5/nZSTYGnFNdxUf1eRF81vWDh68vu7FUMxaY3OYHJ0GtfWrOf1ng083fkTNvY8x6KKFTSGW85xhrE/A4EgrlVgKiHSTpKMmyKqjTRWuvInkUiqzNqC8TQxTIlOZ3JkGrsT2ziY2su8+GJ2D27FUAxWVF37nqimmyh0XeW2G+dzzfJp7Nxzgs1vH+XEyQFyOZto1KSmOsbSRZOZP6eJmpoYujbO4gmZJpf6GlbmB0iZLjysFMBDYiFEDCP8IUJlvwNi2HfS68HK/BBpnAAEueRXkF4/CAUpLZA2+cy3CMU+ixH5MFDs+fLckzj5V5HYIHNIrw9EGeH4n5acpud1YmV+hPQySPkjnPyLSC+JlX2USPlf4dhb/L9LP2fBc44Tiv/xUEjMc4+RGfgdPPsQErdQAKEgsQBJXm0mXP5FNGPNMOPHIp/6F1xrG1LmkHKwcK7j2Lnie66qL8bkM8VLK21cexeu9RZSOkg5ADKLEDEY03CSeM4Rsokv4FqbkUgEWuEzcVG1qYTjf4pqrCoy1FznCFbmuwgRxrX3YKX+DSmzhTNagEde/Qbh+J+imevHGP88uMD949+78liZ75FL/QvS7QVh+AZO5rvY+kpUY+lZgwlAx8r8CEXdiB6+ByFKpQ9I8ulvYmcfxYh8ovgv0sLOPU8u+Td4bldhHwgkNkJ8Az18D6HYb4Jyph+i9JLY2ScBULRJWKlv4DoHCnvdAWlhKd/AiHyEUOxzIE7/YLnw/XP6+6UoDRjh+0E9W+dO4tq7sDLfRTNvwYh+suivrr0VK/NtNGMZ0kuSS3wRzzleyKd1QLro4TsIa3+BUM8YThc6byBaAAAUa0lEQVSyPuPhshtO1UYt5XoV7dkjtGWO0BqdUZSMO2D30ZU/OaFjppwUHh5lWjkRrbhU2vFsDqX3TVjOz2kSjt/NutqsHZH3YkuLA6k9Ezre1YIQAhWVmBZnWeVqdiXeoSPbRp/VM6rhdFr+IeeNnfMihKAx3EK1WcuA1ceR9EHmx5cUfZ62Z7Nj4G0ApsfmYIwSDr4QdMVgVdX1bB/cwr7ETnSh02N1sbB82VDRQMD4EEKgqoKqyijrrp3FumsnKE9ChPxQmTYVVV+Eos1EqDXgpbGtDdiZR8mn/xXVWIYRvn3E4Y69Fcd+G1WbhR79JIo6CSkHsHPPYueeIpf8CpqxHEUrbpViRB5AD92ClClcawuZgd8ex2Qd7NyT6KGbCZd/ETv3NHb2SbKJv0SoDYTK/gDp9ZNP/yt2fgOG8wFUfR4AilKJwEQzV6Pqi1G0qSBCeM4x7OwjuPZOcskvE6n4Cqo2uTCeTij2O0iZBpknn/537NzT6KFbMaO/WryMIjrCU6YoVUTK/xopk0hvgFzyb7FzT5/zKj2nnczgH+Nam9GMlejh96EoTXgygZN7ETv/PJmBPyRS8WU0YxWM8OY9h5RJNOMaNPMmFLUGzz2FlfkRrr2FbOJLxGqWIMQE5JNd4P6REpz8y+SS/x/Sy2JEPohmrgZ0XHsvdvZRHGd78VBCoOrzUPW5uM4BnPzLJT130juJk38DRAw9dCsUqoSldLFzz5Ed/DxgYYQfQDNXIQjhukewMj/ASn8TpE24/C84uxOE57aTHfyiL5tR9llUdRpS5nGsV7Gyj2Glv4WqzUEP31vIU724/XPxeDjWJhxrM4pSiRn7DEKpBzK49gFUfQFCOWN4Xuz6jMVlN5ziegWzyuZxNH2QN3pfZnpsjq+bIwSWl+eN3g305rsndMwKvbKgE9XJgNVHWI0gAEe67BjYzI7BLRPeXLa68CA9lj5M3suhiDASsLw8r/W8SFvmyISOd7EMr17y/9tfkdMh1eHelOEPjI5sGwl7kNbo9CLZBSk9uvMn6cv3oAl91ERuYKiK8lBqHwl7gDI9DoihUNxpuQGAOrORBfGlvND1BC91PUWt2UC1UYsQAsezebv/DfYmt1Nt1LIgvmRCPU4AM8rmUGc2cDR9CMvLowqVRRUrzsqDC7hSCKFhRB7CCD+AUOsRw/LYNPNapNePk3sOO/d0ScNJet2o2jzCFX+Lok4eKmzQzOtwnUN4zn7s/CuY2rwR4wq1Cqj0vU3jnrCOEX4Q1ViJotTh5F/Hc48Rij6EEfkQYGPnX8BzDuG5nUOGE6KMcMX/i1DKEKJiaJ5SuqjaDDIDv4dn78dzDg0ZTkKoqPrMwnX6IRmgELYYh86UEAgRRhAGtWZcie9S2uSzP8a13kY1lhEu/0vfGBH+91sP3YRIlGNlvkc+/U0UbQaKWlw05LnH0UN3ES7/C4RSO3Ssqs0g3f+beM4xXOttlNDN41z0sS7xQvePRz71n0hvAD38IOH4nyAU31MjQ7eiGQtI942UIFDUejRjBa69Cyf3MnrotqJQk5QSJ/cKUg6i6gtRtOnD7rGD5NP/jvS6CZX9IWb0VxCKn9+qSQ9Vm0lm4Pewsz/DCN+PZl5TPLhMgYgRKf8CqrF6aA/pofV4Xi9O7hmc/Eb08B1A6OL3zwRgZR9FN28mHP9/EGoTQiiF51UepFscWr7Y9RmDy5/jJBTW193OodQ+DqX28k8H/4ZZZfMwFJOO7HHSTpo58YVsG9g8YWPOjS+mKTSJo5lDfOPIPzC/fAma0GnPHKU9e5RFFSvZ1PfKhI0HsKLqOjb3vcbB1B6+fujvmB6bgyc9DqX2MmD3s6pqLa/2vDChY14oUkqOZQ4xYPWR9bIkrH6686fwpMvexA5c6RBWI4SUEM2RVir16qEvb0f2OD9u/zaqUGkKTabCqESg0G/1cji9DwmsrbmZhtDoYbrpsdlMjkylLXOUv9//l0yNzUQVKhknzcyyuayrvW3IcNMUjVsa7qE7f4pdia38/f4vMiM2l5AaojPXQVvmCDGtjDsa72dabPaEJ2ubSojV1Tfw0xPfI+kM0BSeRGt0RhCmu4o4+8F7GqFUo5vX4+Sex3PbfDfBiP0hMGOfQlGnFO0dodShmeuwnP249q4JnGsLQm30fyBorX7YS3ELeTQqQqgoSgOu3DkUtgO/KKOUPpQQKpq5BkWt85N3vYFRrvPy4LkncXLPAwpG5JeGjCZ/rgIhKjBjn8bOPennrDj7EMrZYpo6ZuxzhbyYM8cq2kxUYxFO7kVcZx86F284wYXtH8/Zj2vvQIgyzOjHYJgMhRA6mnkDqrEE13rrrLOaaOYNWNlHceytvqGrDzPKZQo7vwGkjW6sQVGbhv7kWttwrc0ItRkz+vEho8AfU6Aay9CMNdi5p7ByTxRCocX7wAjfi2osK6p8Fko5eug2nNwzuM5+kDaIc/eUvBwIoRGO/xGK1szwvQChETmrE7E+o3FFfiZH1BgfmvxJNnY/x+7BrWwf2IyuGEyNzuKOhvvRhM72gS0TNl6ZFueBSR/nxa4nOJTcy4aupzEUk8ZwC3c2foAlFatoyxyesPEAGkLNPDjpYV7reYEjqQMcyxwmrISZEp3BjXV3MCkylZ2D70zomBfDo+3/l0PpfSNeP90y5TQfnPQw19fcOvTv5vAUFles5HBqH0czB8kncyD8yrbW6EwWlC9lVdX1oxoWQggqjWrua/4oG7qf4VBqH1v6X0dDpUwvLykoGVLCfGDSJ5jcO43tg5vZndiGI23KtHIWla9gedUaFpQvG1NI80IR+MKmlUYNfVY3rZEZQx6vgKsbIRQQUUAF6RRyg7Sz3hNH0eaWsDMESsHDIr1zaKWc15yiiNMPJWGCUBDEEGJYSoEwQbpQKHo49zmNQv6NROIgOa86iAlFev14zmGEMNH0pSW+JwJFnYKiNuLa2/HsfVBISh56h1KDqk3n7KsQQsfXyZJI79LnjI61f1znABILRZ2OUKpLXKeKqi8cYTgJIdCMZShqM659ANfejaLNGTJkXOcorr0LoZQXkujPeFQcaxMg0fSFIM5uQyQQIoJQGwEPzzkG5IHhBlAIRZ89IpkaQCh+hEDKDBOd/3sxqPpChFLNeHb0xa/P6FwRw0kIQb3ZxL1NH+aW+rtxPBshFMJqhLAawZUu/3ve3xJRoyNCLSur1jIvvhhDNTGV8V2kEILWyHQ+MvnTZJw0rnR9lWzFJKrFUFD41Wm/j0QS089U7tzecB/ram+lXD/jkl5VtZZ58UXEtPiQMTCrbB5/Ou/vCKvRob5rqlBZWL6MGbHZZN0snvRQhUKocI0Sye/O+lM0RS+puXS+KCjc3nA/62pvI6KVVvBtjc7gd2d93k+y1ovbVjw89TewPeuc48S04sqmhlAz9zU/RM7N4EhnqCJSFSqmGiKsRs6Sbigxd6EyIzZnSMXdla5/QxFaIax69g1TUK5XsL7uDlZVX4/l5XzXvaINecZG0466kP1TPDiYiumPo4aZX770nHIWAZcXKfN4zgkc6zVceyee2470kiBzeF4PMLoBIpSKgiFT6sZ8ek9N4INEaP7//H8U/l+j6NY8SqWVlIN49v7Cde5Der1ImS5c/7GJm+MF4lfSpZAygVCqUNT6Ud4pUNQm33DyTnD2+ipqHZS8hwjOfCYTp4d3IfvH83pAeihD+2fkXBWldB6k7+G5BdfegZ17AT30PhDhQsn/Njz3GKq+tFABNmxM12/Ibuc3kuy6hZF7VvoFDuAXLMhs0dyEEkYR5SWOg0uy1ycAoYy2F0ZyseszFlcsMUMIgamamOpIa1cRCnWhxpLHRbQoEe38dYqEEEOGWSkqzsrBEUJQpscL+TZjj2+qIerUkfNVhEJUKytZ+QVQZZ5dWXDhjDbf4RiKSY05UnfltNfnQscNqSFC6sW5coVQzvuz1RSNuFIOjF/I8kL3zxDSz+vqzJ2gMdzCzLKRLVoCrhye14eV/jb51H8gZQZFm4SiNhbCPCa4IVxvrBxKjcvbUEFwIf4gz9lNNvE3OPlX8dW7pyKUChSlCoSO9LqR5yi2uBzIIS+ZYMzHzelcImkz8mF9+X6YXPD+kQ4gC0bwKPtnVO0+gR66m1zqX3HyL+N53ajKZMDCzj0JuBiR+xghMir9rghChBBKjFL7SBTahylaa4l5qcOM9quB8Ri/5zHfi16fCZlFQECAIx029b2CI21WVK55TymFX+1I6WJnnyCX+mcEOuH4/0Qzr/Fd+yKEQMfKPkJ2cOuVnupF4bk95JJfxslvQDOuwYz9Ooo2DSHKCmEXjVTvB3HPJ0n9EiAAISKADtJDyiSC0j9cpeeXtvtVUVcmsHgx+8e/TuHLJYwWUpWji70qahOasQIn/zJOfiOq9hCe24ljbUGICjRzHSNClYXkc81YQ6jstxnrcS5E2M+fu2qRfrXeBHIp1ycwnAICxsCVLik7gYeH5eV5p/8tdie2MykylWWVa6709AKKsLCzPweZxoh+GiP68FlVNm4hZ2Pi2xxdTlx7J461FaE0YMZ+E81cV5RT42tDnY+36RKFY4TwvWDqZDyvE9feWzpcJ1N4zhFALQiMXvYWqgUufP8o6hQQGtLtQMpkiYR8r3CNoyDC6KE7cfKvYWcfx4h8EDv3LMgMWvg+FGVkpEDVFwHfx/M6/QpQ5dwdNy4N49k/Or7hZ1P6+ydxnYMTOqtLuT6B4RQQMAYpO8ETJx+hK99B2knRne8kpsW5tf5e4np5kBR+NSG9IVE+v1LtrFwImcLJv3YFJjax+CKQtp9ArpytuC1x7C1Ir3fskwi1UCkl8bw+kB5cgmIKv9x+KVb2Uezcc76OTlGirvTlFrw+FG0aqjbjyn2nLmL/qPo8hCj3qwitrSjarCL/kPQShWTl0vil/otQtCl47hFcawdO/mUQYTTz+hLJzaAZqxFKVUE9/m10c+15X/IFc577R1FqEKh4Xg+e14Miiz9n6Z7Etd6e0CleyvW5UqZ9QMC7Av/LLemzerC8PHPji/lE62dZUL501F55AVcIoRZyFcDJbcBze5BeFull/PBW6ms41ptMdCjIT9R2C2raNjCsyELmkdIq/M0r0ku7UBS1FiHK8LwuXPttpJdEyizSS+FYW8kn/wHpJc5xFr2g76Tj2jtwrE1IL4X00v75vOKwiX+NXuE67YKaui8aLHGRMl943S2+TlGGHvkAQq3Dzv0UK/1dPLevME4CO7eRXOprIF2M8L1Dn98V4SL2j1CqMCL3ApJ86h/PfC5eCs89SS71Vbxz9HVT9Rmo+gI8bwAr+wiecxRVbUXTF5csdlG0yQUVe5fs4J9jZX9emHMC6Q3iub041jZyqa/huZ0Xvz5FnN/+EWo9ijYTZIZ86utIr7Pw/iSuc5Bs4q/9BPwJ5FKuT+BxCggYgzKtnA9P/tSI1wNP09WIgRF+ENfajGO9Qrr3wyj6PJA2rr3Df0fkQ9jZpyZ0VM89hJN/Den1I2XmTEWbzJFN/A1CifmyA0oleuhWxEU2xlX1BeihW8inv0k28SXs3LMIpRbp9eBaW1GNFejhO7CzPx31HEIINHMdmrEcx3qDdP9nULW5IEJImUTVphOp+NuiY5z8837vNpnyjTT7ncLrb5BN/J+CByyCoraih24/M45xHeGyPyCb+DuyiT8nn/kOitqC9BK4zg58jacHMaK/zOVMBB/Jxe0fM/oruPZ+nPxGUr0fR9XnIkQYzzkIqBjRj/pK1aMSQg/d5ivI5x5HyhxG+HoUbdoo7zcxo59GyhxW5vtk+j+HUBoKjZcdPPeU73kUUfTQXRezMCM4//2jEir7DTIDf4yTf4Fkz32o2iyQFq6zt6B/9XHy6f+cwFleuvUJDKeAgDEIDKR3D0IoaOYawvEvks982xfAc44ilCo0YxlG5CMo2mRc652SJf6gjB2uEqcr4M5uRruFbOKvoSi5VQAOVuabww6vQNVnF27chfFGOP0VEGcrLxWPKUQIM/YbCBHDyj2NY72JQEWoLZjRh9EjH8S1d2JnHx/9WhCo6jRC8f9NPv0fOPk3caxNCGH46tzG2SrKknz6v3DyG0ecx3P2YDlnWkipxsohw8mfr0AP349Q6rByP8PJbcRxXkUoETRjNXrojkIblrOrYwvXPWYI8bQkwcV/Ty9m/wghQGkgXP7nWOnvYeeewrW3I0QZmnENRuRDCCWGnf3ZqHP1jZHrUEQVntcBIoQeugUxSuWbEAKh1hIq+300fSF27mkcaxuuvQeEQFHq0ULL0czri3OkxHjXbay/n9/+8a9tLZHyL5HP/ADX3oKTfx2hVKKZN2BEHkQQwso+MsqY5/85X/D6jOfcciJ8xwEBAQFXCVJ6ILNI8oUkXRWBUcgTkX7yLiBEfMgwltL2QwVCKVSnqWedUxa0XjIIoYMoG3ZsriDAeK5bqSi0SNEL4bsUAh1EFL91hIeUicLcYkMPTOmlkDJf8FyZZ+ZzuqFwoYpLCM2v/hKGf34vWVBLNkf9AeCfJ4eU+ULoTfjrJcwiTRv/+pOFUOS5LlMrWtsz5/AAy09cl66/1hiFOY98KEqZ98VGxzqfzPhrI8ITlvx7Iftn2NGFkGW2cI0CgVnIBzpdWagW7Z/isWWhebKfQC2U8lENp+IxC/sTq/hzRAdhwrC2VX44NQl4hX020st3ev/4eyE+qi7eePfPyLW1CnlRamFPm4Bb+E6MXB/ppZEy579XRM/zB+35rc94CAyngICAgICAgIBxEiSHBwQEBAQEBASMk8BwCggICAgICAgYJ4HhFBAQEBAQEBAwTgLDKSAgICAgICBgnASGU0BAQEBAQEDAOAkMp4CAgICAgICAcRIYTgEBAQEBAQEB4yQwnAICAgICAgICxklgOAUEBAQEBAQEjJPAcAoICAgICAgIGCeB4RQQEBAQEBAQME4CwykgICAgICAgYJwEhlNAQEBAQEBAwDj5/wHNI9v4jBAKxAAAAABJRU5ErkJgg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41908932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381000" y="990600"/>
            <a:ext cx="8382000" cy="5562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3"/>
          <p:cNvSpPr>
            <a:spLocks noGrp="1"/>
          </p:cNvSpPr>
          <p:nvPr>
            <p:ph type="title"/>
          </p:nvPr>
        </p:nvSpPr>
        <p:spPr>
          <a:xfrm>
            <a:off x="457200" y="76200"/>
            <a:ext cx="8229600" cy="762000"/>
          </a:xfrm>
        </p:spPr>
        <p:txBody>
          <a:bodyPr>
            <a:normAutofit fontScale="90000"/>
          </a:bodyPr>
          <a:lstStyle/>
          <a:p>
            <a:r>
              <a:rPr lang="en-IN" b="1" dirty="0" smtClean="0"/>
              <a:t/>
            </a:r>
            <a:br>
              <a:rPr lang="en-IN" b="1" dirty="0" smtClean="0"/>
            </a:br>
            <a:r>
              <a:rPr lang="en-IN" sz="2000" b="1" dirty="0" smtClean="0">
                <a:latin typeface="Times New Roman" pitchFamily="18" charset="0"/>
                <a:cs typeface="Times New Roman" pitchFamily="18" charset="0"/>
              </a:rPr>
              <a:t>1000 </a:t>
            </a:r>
            <a:r>
              <a:rPr lang="en-IN" sz="2000" b="1" dirty="0">
                <a:latin typeface="Times New Roman" pitchFamily="18" charset="0"/>
                <a:cs typeface="Times New Roman" pitchFamily="18" charset="0"/>
              </a:rPr>
              <a:t>Movies </a:t>
            </a:r>
            <a:r>
              <a:rPr lang="en-IN" sz="2000" b="1">
                <a:latin typeface="Times New Roman" pitchFamily="18" charset="0"/>
                <a:cs typeface="Times New Roman" pitchFamily="18" charset="0"/>
              </a:rPr>
              <a:t>Histogram </a:t>
            </a:r>
            <a:r>
              <a:rPr lang="en-IN" sz="2000" b="1" smtClean="0">
                <a:latin typeface="Times New Roman" pitchFamily="18" charset="0"/>
                <a:cs typeface="Times New Roman" pitchFamily="18" charset="0"/>
              </a:rPr>
              <a:t>Map </a:t>
            </a:r>
            <a:r>
              <a:rPr lang="en-IN" b="1" dirty="0"/>
              <a:t/>
            </a:r>
            <a:br>
              <a:rPr lang="en-IN" b="1" dirty="0"/>
            </a:br>
            <a:endParaRPr lang="en-IN" dirty="0"/>
          </a:p>
        </p:txBody>
      </p:sp>
    </p:spTree>
    <p:extLst>
      <p:ext uri="{BB962C8B-B14F-4D97-AF65-F5344CB8AC3E}">
        <p14:creationId xmlns:p14="http://schemas.microsoft.com/office/powerpoint/2010/main" val="70445914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685800"/>
          </a:xfrm>
        </p:spPr>
        <p:txBody>
          <a:bodyPr>
            <a:normAutofit fontScale="90000"/>
          </a:bodyPr>
          <a:lstStyle/>
          <a:p>
            <a:r>
              <a:rPr lang="en-IN" b="1" dirty="0" smtClean="0"/>
              <a:t/>
            </a:r>
            <a:br>
              <a:rPr lang="en-IN" b="1" dirty="0" smtClean="0"/>
            </a:br>
            <a:r>
              <a:rPr lang="en-IN" sz="2000" b="1" dirty="0" smtClean="0">
                <a:latin typeface="Times New Roman" pitchFamily="18" charset="0"/>
                <a:cs typeface="Times New Roman" pitchFamily="18" charset="0"/>
              </a:rPr>
              <a:t>1000 </a:t>
            </a:r>
            <a:r>
              <a:rPr lang="en-IN" sz="2000" b="1" dirty="0">
                <a:latin typeface="Times New Roman" pitchFamily="18" charset="0"/>
                <a:cs typeface="Times New Roman" pitchFamily="18" charset="0"/>
              </a:rPr>
              <a:t>Movies Correlation </a:t>
            </a:r>
            <a:r>
              <a:rPr lang="en-IN" sz="2000" b="1" dirty="0" smtClean="0">
                <a:latin typeface="Times New Roman" pitchFamily="18" charset="0"/>
                <a:cs typeface="Times New Roman" pitchFamily="18" charset="0"/>
              </a:rPr>
              <a:t>Map</a:t>
            </a:r>
            <a:br>
              <a:rPr lang="en-IN" sz="2000" b="1" dirty="0" smtClean="0">
                <a:latin typeface="Times New Roman" pitchFamily="18" charset="0"/>
                <a:cs typeface="Times New Roman" pitchFamily="18" charset="0"/>
              </a:rPr>
            </a:br>
            <a:r>
              <a:rPr lang="en-US" sz="1300" dirty="0" smtClean="0">
                <a:latin typeface="+mn-lt"/>
                <a:cs typeface="Times New Roman" pitchFamily="18" charset="0"/>
              </a:rPr>
              <a:t>we </a:t>
            </a:r>
            <a:r>
              <a:rPr lang="en-US" sz="1300" dirty="0">
                <a:latin typeface="+mn-lt"/>
                <a:cs typeface="Times New Roman" pitchFamily="18" charset="0"/>
              </a:rPr>
              <a:t>see strong correlation is between Rating and Metascore (0.47), Votes and Rating (0.51) and top in order is between Revenue (Millions) and Votes (0.61).</a:t>
            </a:r>
            <a:r>
              <a:rPr lang="en-IN" b="1" dirty="0"/>
              <a:t/>
            </a:r>
            <a:br>
              <a:rPr lang="en-IN" b="1" dirty="0"/>
            </a:br>
            <a:endParaRPr lang="en-IN"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838200"/>
            <a:ext cx="88392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69716917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152400"/>
            <a:ext cx="8229600" cy="685800"/>
          </a:xfrm>
        </p:spPr>
        <p:txBody>
          <a:bodyPr>
            <a:normAutofit/>
          </a:bodyPr>
          <a:lstStyle/>
          <a:p>
            <a:r>
              <a:rPr lang="en-US" sz="1800" b="1" dirty="0">
                <a:latin typeface="Times New Roman" pitchFamily="18" charset="0"/>
                <a:cs typeface="Times New Roman" pitchFamily="18" charset="0"/>
              </a:rPr>
              <a:t>Which genres are the most common (number of movies made in % )?</a:t>
            </a:r>
            <a:endParaRPr lang="en-IN" sz="1800" b="1" dirty="0">
              <a:latin typeface="Times New Roman" pitchFamily="18" charset="0"/>
              <a:cs typeface="Times New Roman" pitchFamily="18" charset="0"/>
            </a:endParaRPr>
          </a:p>
        </p:txBody>
      </p:sp>
      <p:pic>
        <p:nvPicPr>
          <p:cNvPr id="3074" name="Picture 2"/>
          <p:cNvPicPr>
            <a:picLocks noGrp="1" noChangeAspect="1" noChangeArrowheads="1"/>
          </p:cNvPicPr>
          <p:nvPr>
            <p:ph sz="half" idx="1"/>
          </p:nvPr>
        </p:nvPicPr>
        <p:blipFill>
          <a:blip r:embed="rId2">
            <a:extLst>
              <a:ext uri="{28A0092B-C50C-407E-A947-70E740481C1C}">
                <a14:useLocalDpi xmlns:a14="http://schemas.microsoft.com/office/drawing/2010/main" val="0"/>
              </a:ext>
            </a:extLst>
          </a:blip>
          <a:srcRect/>
          <a:stretch>
            <a:fillRect/>
          </a:stretch>
        </p:blipFill>
        <p:spPr bwMode="auto">
          <a:xfrm>
            <a:off x="76200" y="1143000"/>
            <a:ext cx="4572000" cy="4724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4648200" y="1066801"/>
            <a:ext cx="44196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5856742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914400"/>
          </a:xfrm>
        </p:spPr>
        <p:txBody>
          <a:bodyPr>
            <a:normAutofit fontScale="90000"/>
          </a:bodyPr>
          <a:lstStyle/>
          <a:p>
            <a:r>
              <a:rPr lang="en-US" b="1" dirty="0" smtClean="0"/>
              <a:t/>
            </a:r>
            <a:br>
              <a:rPr lang="en-US" b="1" dirty="0" smtClean="0"/>
            </a:br>
            <a:r>
              <a:rPr lang="en-US" sz="2000" b="1" dirty="0" smtClean="0">
                <a:latin typeface="Times New Roman" pitchFamily="18" charset="0"/>
                <a:cs typeface="Times New Roman" pitchFamily="18" charset="0"/>
              </a:rPr>
              <a:t>What </a:t>
            </a:r>
            <a:r>
              <a:rPr lang="en-US" sz="2000" b="1" dirty="0">
                <a:latin typeface="Times New Roman" pitchFamily="18" charset="0"/>
                <a:cs typeface="Times New Roman" pitchFamily="18" charset="0"/>
              </a:rPr>
              <a:t>is the Avg. Revenue (Millions) per Genre per Year</a:t>
            </a:r>
            <a:r>
              <a:rPr lang="en-US" sz="2000" b="1" dirty="0" smtClean="0">
                <a:latin typeface="Times New Roman" pitchFamily="18" charset="0"/>
                <a:cs typeface="Times New Roman" pitchFamily="18" charset="0"/>
              </a:rPr>
              <a:t>?</a:t>
            </a:r>
            <a:r>
              <a:rPr lang="en-US" b="1" dirty="0"/>
              <a:t> </a:t>
            </a:r>
            <a:r>
              <a:rPr lang="en-US" b="1" dirty="0" smtClean="0"/>
              <a:t/>
            </a:r>
            <a:br>
              <a:rPr lang="en-US" b="1" dirty="0" smtClean="0"/>
            </a:br>
            <a:r>
              <a:rPr lang="en-US" sz="1300" b="1" dirty="0" smtClean="0"/>
              <a:t>Below plot shows </a:t>
            </a:r>
            <a:r>
              <a:rPr lang="en-US" sz="1300" b="1" dirty="0"/>
              <a:t>a strong increase </a:t>
            </a:r>
            <a:r>
              <a:rPr lang="en-US" sz="1300" b="1" dirty="0" smtClean="0"/>
              <a:t>in revenue for </a:t>
            </a:r>
            <a:r>
              <a:rPr lang="en-US" sz="1300" b="1" dirty="0"/>
              <a:t>Adventure, Animation, </a:t>
            </a:r>
            <a:r>
              <a:rPr lang="en-US" sz="1300" b="1" dirty="0" smtClean="0"/>
              <a:t>Action, Family</a:t>
            </a:r>
            <a:r>
              <a:rPr lang="en-US" sz="1300" b="1" dirty="0"/>
              <a:t>, and Science Fiction over the years. We can also observe in the year 2013, Animated movies are highly Revenue (Millions) generated movies.</a:t>
            </a:r>
            <a:br>
              <a:rPr lang="en-US" sz="1300" b="1" dirty="0"/>
            </a:br>
            <a:r>
              <a:rPr lang="en-US" b="1" dirty="0"/>
              <a:t/>
            </a:r>
            <a:br>
              <a:rPr lang="en-US" b="1" dirty="0"/>
            </a:br>
            <a:endParaRPr lang="en-IN" dirty="0"/>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914400"/>
            <a:ext cx="88392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93498656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9144000" cy="1295400"/>
          </a:xfrm>
        </p:spPr>
        <p:txBody>
          <a:bodyPr>
            <a:normAutofit fontScale="90000"/>
          </a:bodyPr>
          <a:lstStyle/>
          <a:p>
            <a:r>
              <a:rPr lang="en-US" sz="1800" b="1" dirty="0" smtClean="0">
                <a:latin typeface="Times New Roman" pitchFamily="18" charset="0"/>
                <a:cs typeface="Times New Roman" pitchFamily="18" charset="0"/>
              </a:rPr>
              <a:t>What is the Avg. Votes per Genre per Year of 1000 Movies dataset?</a:t>
            </a:r>
            <a:r>
              <a:rPr lang="en-US" sz="1800" b="1" dirty="0"/>
              <a:t> </a:t>
            </a:r>
            <a:r>
              <a:rPr lang="en-US" sz="1800" b="1" dirty="0" smtClean="0"/>
              <a:t/>
            </a:r>
            <a:br>
              <a:rPr lang="en-US" sz="1800" b="1" dirty="0" smtClean="0"/>
            </a:br>
            <a:r>
              <a:rPr lang="en-US" sz="1300" b="1" dirty="0" smtClean="0"/>
              <a:t>We </a:t>
            </a:r>
            <a:r>
              <a:rPr lang="en-US" sz="1300" b="1" dirty="0"/>
              <a:t>can see in 2012 people casted the maximum votes on Genre of fiction called Western and also showed there interest towards Sci-Fi Genre movies.</a:t>
            </a:r>
            <a:br>
              <a:rPr lang="en-US" sz="1300" b="1" dirty="0"/>
            </a:br>
            <a:r>
              <a:rPr lang="en-US" sz="1300" dirty="0"/>
              <a:t>We can say that as the number of movies has increased of variegated Genre, user's votes are also diversified, which will cause a drop in average revenue per year.</a:t>
            </a:r>
            <a:r>
              <a:rPr lang="en-US" sz="1800" dirty="0"/>
              <a:t/>
            </a:r>
            <a:br>
              <a:rPr lang="en-US" sz="1800" dirty="0"/>
            </a:br>
            <a:endParaRPr lang="en-IN" sz="1800" b="1" dirty="0">
              <a:latin typeface="Times New Roman" pitchFamily="18" charset="0"/>
              <a:cs typeface="Times New Roman" pitchFamily="18" charset="0"/>
            </a:endParaRPr>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1143000"/>
            <a:ext cx="8839200" cy="5638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084342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304800"/>
            <a:ext cx="9144000" cy="609600"/>
          </a:xfrm>
        </p:spPr>
        <p:txBody>
          <a:bodyPr>
            <a:normAutofit fontScale="90000"/>
          </a:bodyPr>
          <a:lstStyle/>
          <a:p>
            <a:r>
              <a:rPr lang="en-US" sz="2000" b="1" dirty="0" smtClean="0">
                <a:latin typeface="Times New Roman" pitchFamily="18" charset="0"/>
                <a:cs typeface="Times New Roman" pitchFamily="18" charset="0"/>
              </a:rPr>
              <a:t/>
            </a:r>
            <a:br>
              <a:rPr lang="en-US" sz="2000" b="1" dirty="0" smtClean="0">
                <a:latin typeface="Times New Roman" pitchFamily="18" charset="0"/>
                <a:cs typeface="Times New Roman" pitchFamily="18" charset="0"/>
              </a:rPr>
            </a:br>
            <a:r>
              <a:rPr lang="en-US" sz="2000" b="1" dirty="0" smtClean="0">
                <a:latin typeface="Times New Roman" pitchFamily="18" charset="0"/>
                <a:cs typeface="Times New Roman" pitchFamily="18" charset="0"/>
              </a:rPr>
              <a:t>How </a:t>
            </a:r>
            <a:r>
              <a:rPr lang="en-US" sz="2000" b="1" dirty="0">
                <a:latin typeface="Times New Roman" pitchFamily="18" charset="0"/>
                <a:cs typeface="Times New Roman" pitchFamily="18" charset="0"/>
              </a:rPr>
              <a:t>many Movies made per Year per Genre</a:t>
            </a:r>
            <a:r>
              <a:rPr lang="en-US" sz="2000" b="1" dirty="0" smtClean="0">
                <a:latin typeface="Times New Roman" pitchFamily="18" charset="0"/>
                <a:cs typeface="Times New Roman" pitchFamily="18" charset="0"/>
              </a:rPr>
              <a:t>?</a:t>
            </a:r>
            <a:r>
              <a:rPr lang="en-IN" sz="2000" b="1" dirty="0">
                <a:latin typeface="Times New Roman" pitchFamily="18" charset="0"/>
                <a:cs typeface="Times New Roman" pitchFamily="18" charset="0"/>
              </a:rPr>
              <a:t/>
            </a:r>
            <a:br>
              <a:rPr lang="en-IN" sz="2000" b="1" dirty="0">
                <a:latin typeface="Times New Roman" pitchFamily="18" charset="0"/>
                <a:cs typeface="Times New Roman" pitchFamily="18" charset="0"/>
              </a:rPr>
            </a:br>
            <a:r>
              <a:rPr lang="en-US" sz="1300" b="1" dirty="0">
                <a:latin typeface="+mn-lt"/>
              </a:rPr>
              <a:t>We can see that over time more and more movies were made per year. Starting at just 44 movies in 2006  </a:t>
            </a:r>
            <a:r>
              <a:rPr lang="en-US" sz="1300" b="1" dirty="0" smtClean="0">
                <a:latin typeface="+mn-lt"/>
              </a:rPr>
              <a:t>to </a:t>
            </a:r>
            <a:r>
              <a:rPr lang="en-US" sz="1300" b="1" dirty="0">
                <a:latin typeface="+mn-lt"/>
              </a:rPr>
              <a:t>127  m</a:t>
            </a:r>
            <a:r>
              <a:rPr lang="en-US" sz="1300" b="1" dirty="0" smtClean="0">
                <a:latin typeface="+mn-lt"/>
              </a:rPr>
              <a:t>ovies in </a:t>
            </a:r>
            <a:r>
              <a:rPr lang="en-US" sz="1300" b="1" dirty="0">
                <a:latin typeface="+mn-lt"/>
              </a:rPr>
              <a:t>2015 with a max of 297 movies in 2016.</a:t>
            </a:r>
            <a:br>
              <a:rPr lang="en-US" sz="1300" b="1" dirty="0">
                <a:latin typeface="+mn-lt"/>
              </a:rPr>
            </a:br>
            <a:r>
              <a:rPr lang="en-US" sz="1300" dirty="0">
                <a:latin typeface="+mn-lt"/>
              </a:rPr>
              <a:t>We can say as </a:t>
            </a:r>
            <a:r>
              <a:rPr lang="en-US" sz="1300" dirty="0" smtClean="0">
                <a:latin typeface="+mn-lt"/>
              </a:rPr>
              <a:t> various </a:t>
            </a:r>
            <a:r>
              <a:rPr lang="en-US" sz="1300" dirty="0">
                <a:latin typeface="+mn-lt"/>
              </a:rPr>
              <a:t>types of Genre are introduced and </a:t>
            </a:r>
            <a:r>
              <a:rPr lang="en-US" sz="1300" dirty="0" smtClean="0">
                <a:latin typeface="+mn-lt"/>
              </a:rPr>
              <a:t>clubbed </a:t>
            </a:r>
            <a:r>
              <a:rPr lang="en-US" sz="1300" dirty="0">
                <a:latin typeface="+mn-lt"/>
              </a:rPr>
              <a:t>together, the movies made per year is increasing.</a:t>
            </a:r>
            <a:r>
              <a:rPr lang="en-US" sz="1300" dirty="0"/>
              <a:t/>
            </a:r>
            <a:br>
              <a:rPr lang="en-US" sz="1300" dirty="0"/>
            </a:br>
            <a:r>
              <a:rPr lang="en-IN" sz="2000" dirty="0"/>
              <a:t/>
            </a:r>
            <a:br>
              <a:rPr lang="en-IN" sz="2000" dirty="0"/>
            </a:br>
            <a:endParaRPr lang="en-IN" sz="2000" b="1" dirty="0">
              <a:latin typeface="Times New Roman" pitchFamily="18" charset="0"/>
              <a:cs typeface="Times New Roman" pitchFamily="18" charset="0"/>
            </a:endParaRPr>
          </a:p>
        </p:txBody>
      </p:sp>
      <p:pic>
        <p:nvPicPr>
          <p:cNvPr id="102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195782" y="990600"/>
            <a:ext cx="6752436" cy="5715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29332300"/>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b="1" dirty="0">
                <a:latin typeface="Times New Roman" pitchFamily="18" charset="0"/>
                <a:cs typeface="Times New Roman" pitchFamily="18" charset="0"/>
              </a:rPr>
              <a:t>How many movies released every year and rated above 7.5 with relation with Runtime Levels?</a:t>
            </a:r>
            <a:endParaRPr lang="en-IN" sz="1800" b="1" dirty="0">
              <a:latin typeface="Times New Roman" pitchFamily="18" charset="0"/>
              <a:cs typeface="Times New Roman" pitchFamily="18" charset="0"/>
            </a:endParaRPr>
          </a:p>
        </p:txBody>
      </p:sp>
      <p:pic>
        <p:nvPicPr>
          <p:cNvPr id="6146" name="Picture 2"/>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152401" y="1371600"/>
            <a:ext cx="8839200" cy="5257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63144457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6200"/>
            <a:ext cx="8229600" cy="914400"/>
          </a:xfrm>
        </p:spPr>
        <p:txBody>
          <a:bodyPr>
            <a:normAutofit/>
          </a:bodyPr>
          <a:lstStyle/>
          <a:p>
            <a:r>
              <a:rPr lang="en-US" sz="1800" b="1" dirty="0">
                <a:latin typeface="Times New Roman" pitchFamily="18" charset="0"/>
                <a:cs typeface="Times New Roman" pitchFamily="18" charset="0"/>
              </a:rPr>
              <a:t>What is the range of Revenue (Millions) of Movies generated per Year</a:t>
            </a:r>
            <a:r>
              <a:rPr lang="en-US" sz="1800" b="1" dirty="0" smtClean="0">
                <a:latin typeface="Times New Roman" pitchFamily="18" charset="0"/>
                <a:cs typeface="Times New Roman" pitchFamily="18" charset="0"/>
              </a:rPr>
              <a:t>?</a:t>
            </a:r>
            <a:br>
              <a:rPr lang="en-US" sz="1800" b="1" dirty="0" smtClean="0">
                <a:latin typeface="Times New Roman" pitchFamily="18" charset="0"/>
                <a:cs typeface="Times New Roman" pitchFamily="18" charset="0"/>
              </a:rPr>
            </a:br>
            <a:r>
              <a:rPr lang="en-US" sz="1300" b="1" dirty="0" smtClean="0">
                <a:latin typeface="+mn-lt"/>
                <a:cs typeface="Times New Roman" pitchFamily="18" charset="0"/>
              </a:rPr>
              <a:t>From 2006-2016 most movies have the revenue in between 0-300 millions approx. with outliers every year. Where in 2016  there are many outliers as compared with other years.</a:t>
            </a:r>
            <a:endParaRPr lang="en-IN" sz="1300" b="1" dirty="0">
              <a:latin typeface="+mn-lt"/>
              <a:cs typeface="Times New Roman" pitchFamily="18" charset="0"/>
            </a:endParaRPr>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914400"/>
            <a:ext cx="8839200" cy="5943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3160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52400"/>
            <a:ext cx="8229600" cy="762000"/>
          </a:xfrm>
        </p:spPr>
        <p:txBody>
          <a:bodyPr>
            <a:normAutofit fontScale="90000"/>
          </a:bodyPr>
          <a:lstStyle/>
          <a:p>
            <a:r>
              <a:rPr lang="en-US" sz="1800" b="1" dirty="0">
                <a:latin typeface="Times New Roman" pitchFamily="18" charset="0"/>
                <a:cs typeface="Times New Roman" pitchFamily="18" charset="0"/>
              </a:rPr>
              <a:t>How Revenue is related with Rating of a movie? </a:t>
            </a:r>
            <a:br>
              <a:rPr lang="en-US" sz="1800" b="1" dirty="0">
                <a:latin typeface="Times New Roman" pitchFamily="18" charset="0"/>
                <a:cs typeface="Times New Roman" pitchFamily="18" charset="0"/>
              </a:rPr>
            </a:br>
            <a:r>
              <a:rPr lang="en-US" sz="1200" b="1" dirty="0">
                <a:latin typeface="+mn-lt"/>
                <a:cs typeface="Times New Roman" pitchFamily="18" charset="0"/>
              </a:rPr>
              <a:t>In terms of </a:t>
            </a:r>
            <a:r>
              <a:rPr lang="en-US" sz="1200" b="1" dirty="0" smtClean="0">
                <a:latin typeface="+mn-lt"/>
                <a:cs typeface="Times New Roman" pitchFamily="18" charset="0"/>
              </a:rPr>
              <a:t>business, revenue </a:t>
            </a:r>
            <a:r>
              <a:rPr lang="en-US" sz="1200" b="1" dirty="0">
                <a:latin typeface="+mn-lt"/>
                <a:cs typeface="Times New Roman" pitchFamily="18" charset="0"/>
              </a:rPr>
              <a:t>of movie, it strongly depends and related to rating, where user </a:t>
            </a:r>
            <a:r>
              <a:rPr lang="en-US" sz="1200" b="1" dirty="0" smtClean="0">
                <a:latin typeface="+mn-lt"/>
                <a:cs typeface="Times New Roman" pitchFamily="18" charset="0"/>
              </a:rPr>
              <a:t>quite </a:t>
            </a:r>
            <a:r>
              <a:rPr lang="en-US" sz="1200" b="1" dirty="0" err="1" smtClean="0">
                <a:latin typeface="+mn-lt"/>
                <a:cs typeface="Times New Roman" pitchFamily="18" charset="0"/>
              </a:rPr>
              <a:t>offen</a:t>
            </a:r>
            <a:r>
              <a:rPr lang="en-US" sz="1200" b="1" dirty="0" smtClean="0">
                <a:latin typeface="+mn-lt"/>
                <a:cs typeface="Times New Roman" pitchFamily="18" charset="0"/>
              </a:rPr>
              <a:t> predict</a:t>
            </a:r>
            <a:r>
              <a:rPr lang="en-US" sz="1200" b="1" dirty="0">
                <a:latin typeface="+mn-lt"/>
                <a:cs typeface="Times New Roman" pitchFamily="18" charset="0"/>
              </a:rPr>
              <a:t>, if the movie is highly rating it is worth watching it. Which in </a:t>
            </a:r>
            <a:r>
              <a:rPr lang="en-US" sz="1200" b="1" dirty="0" smtClean="0">
                <a:latin typeface="+mn-lt"/>
                <a:cs typeface="Times New Roman" pitchFamily="18" charset="0"/>
              </a:rPr>
              <a:t>return, </a:t>
            </a:r>
            <a:r>
              <a:rPr lang="en-US" sz="1200" b="1" dirty="0">
                <a:latin typeface="+mn-lt"/>
                <a:cs typeface="Times New Roman" pitchFamily="18" charset="0"/>
              </a:rPr>
              <a:t>increases the revenue.</a:t>
            </a:r>
            <a:r>
              <a:rPr lang="en-US" sz="1800" b="1" dirty="0"/>
              <a:t/>
            </a:r>
            <a:br>
              <a:rPr lang="en-US" sz="1800" b="1" dirty="0"/>
            </a:br>
            <a:endParaRPr lang="en-IN" sz="1800" dirty="0"/>
          </a:p>
        </p:txBody>
      </p:sp>
      <p:pic>
        <p:nvPicPr>
          <p:cNvPr id="205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914400"/>
            <a:ext cx="8839200" cy="49334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659948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b="1" dirty="0">
                <a:latin typeface="Times New Roman" pitchFamily="18" charset="0"/>
                <a:cs typeface="Times New Roman" pitchFamily="18" charset="0"/>
              </a:rPr>
              <a:t>How Rating drives the Revenue </a:t>
            </a:r>
            <a:r>
              <a:rPr lang="en-US" sz="1800" b="1" dirty="0" smtClean="0">
                <a:latin typeface="Times New Roman" pitchFamily="18" charset="0"/>
                <a:cs typeface="Times New Roman" pitchFamily="18" charset="0"/>
              </a:rPr>
              <a:t>generated </a:t>
            </a:r>
            <a:r>
              <a:rPr lang="en-US" sz="1800" b="1" dirty="0">
                <a:latin typeface="Times New Roman" pitchFamily="18" charset="0"/>
                <a:cs typeface="Times New Roman" pitchFamily="18" charset="0"/>
              </a:rPr>
              <a:t>of a Movie?</a:t>
            </a:r>
            <a:r>
              <a:rPr lang="en-US" b="1" dirty="0"/>
              <a:t/>
            </a:r>
            <a:br>
              <a:rPr lang="en-US" b="1" dirty="0"/>
            </a:br>
            <a:r>
              <a:rPr lang="en-US" sz="1300" dirty="0">
                <a:latin typeface="+mn-lt"/>
              </a:rPr>
              <a:t>we can observe how the rating drives the revenue, as the movies rated in between 6 to 8, the revenue generated is in between 0-150M </a:t>
            </a:r>
            <a:r>
              <a:rPr lang="en-US" sz="1300" dirty="0" err="1" smtClean="0">
                <a:latin typeface="+mn-lt"/>
              </a:rPr>
              <a:t>approx</a:t>
            </a:r>
            <a:r>
              <a:rPr lang="en-US" sz="1300" dirty="0" smtClean="0">
                <a:latin typeface="+mn-lt"/>
              </a:rPr>
              <a:t>, but if the rating goes higher it gives a impact on revenue.</a:t>
            </a:r>
            <a:endParaRPr lang="en-IN" sz="1300" dirty="0">
              <a:latin typeface="+mn-lt"/>
            </a:endParaRPr>
          </a:p>
        </p:txBody>
      </p:sp>
      <p:pic>
        <p:nvPicPr>
          <p:cNvPr id="3074"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88282" y="1600200"/>
            <a:ext cx="4367435"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99435968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2000" b="1" dirty="0">
                <a:latin typeface="Times New Roman" pitchFamily="18" charset="0"/>
                <a:cs typeface="Times New Roman" pitchFamily="18" charset="0"/>
              </a:rPr>
              <a:t>How Revenue (Million) is spread over the year</a:t>
            </a:r>
            <a:r>
              <a:rPr lang="en-US" sz="2000" b="1" dirty="0" smtClean="0">
                <a:latin typeface="Times New Roman" pitchFamily="18" charset="0"/>
                <a:cs typeface="Times New Roman" pitchFamily="18" charset="0"/>
              </a:rPr>
              <a:t>?</a:t>
            </a:r>
            <a:r>
              <a:rPr lang="en-US" dirty="0"/>
              <a:t> </a:t>
            </a:r>
            <a:r>
              <a:rPr lang="en-US" dirty="0" smtClean="0"/>
              <a:t/>
            </a:r>
            <a:br>
              <a:rPr lang="en-US" dirty="0" smtClean="0"/>
            </a:br>
            <a:r>
              <a:rPr lang="en-US" sz="1300" dirty="0" smtClean="0">
                <a:latin typeface="+mn-lt"/>
              </a:rPr>
              <a:t>we </a:t>
            </a:r>
            <a:r>
              <a:rPr lang="en-US" sz="1300" dirty="0">
                <a:latin typeface="+mn-lt"/>
              </a:rPr>
              <a:t>can see the spread of Revenue data over the year. we can figure out 2016 is the highest in revenue, as in the </a:t>
            </a:r>
            <a:r>
              <a:rPr lang="en-US" sz="1300" dirty="0" smtClean="0">
                <a:latin typeface="+mn-lt"/>
              </a:rPr>
              <a:t> previous analysis 2016 was high </a:t>
            </a:r>
            <a:r>
              <a:rPr lang="en-US" sz="1300" dirty="0">
                <a:latin typeface="+mn-lt"/>
              </a:rPr>
              <a:t>in movie production.</a:t>
            </a:r>
            <a:r>
              <a:rPr lang="en-US" sz="1300" b="1" dirty="0">
                <a:latin typeface="+mn-lt"/>
              </a:rPr>
              <a:t/>
            </a:r>
            <a:br>
              <a:rPr lang="en-US" sz="1300" b="1" dirty="0">
                <a:latin typeface="+mn-lt"/>
              </a:rPr>
            </a:br>
            <a:endParaRPr lang="en-IN" sz="1300" dirty="0">
              <a:latin typeface="+mn-lt"/>
            </a:endParaRPr>
          </a:p>
        </p:txBody>
      </p:sp>
      <p:pic>
        <p:nvPicPr>
          <p:cNvPr id="4098"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52400" y="1295400"/>
            <a:ext cx="8763000" cy="5181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71586873"/>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b="1" dirty="0">
                <a:latin typeface="Times New Roman" pitchFamily="18" charset="0"/>
                <a:cs typeface="Times New Roman" pitchFamily="18" charset="0"/>
              </a:rPr>
              <a:t>How Rating and Metascore are inter-related</a:t>
            </a:r>
            <a:r>
              <a:rPr lang="en-US" sz="1800" b="1" dirty="0" smtClean="0">
                <a:latin typeface="Times New Roman" pitchFamily="18" charset="0"/>
                <a:cs typeface="Times New Roman" pitchFamily="18" charset="0"/>
              </a:rPr>
              <a:t>?</a:t>
            </a:r>
            <a:r>
              <a:rPr lang="en-US" sz="1800" dirty="0"/>
              <a:t>  </a:t>
            </a:r>
            <a:r>
              <a:rPr lang="en-US" sz="1800" dirty="0" smtClean="0"/>
              <a:t/>
            </a:r>
            <a:br>
              <a:rPr lang="en-US" sz="1800" dirty="0" smtClean="0"/>
            </a:br>
            <a:r>
              <a:rPr lang="en-US" sz="1300" dirty="0">
                <a:latin typeface="+mn-lt"/>
              </a:rPr>
              <a:t>W</a:t>
            </a:r>
            <a:r>
              <a:rPr lang="en-US" sz="1300" dirty="0" smtClean="0">
                <a:latin typeface="+mn-lt"/>
              </a:rPr>
              <a:t>e </a:t>
            </a:r>
            <a:r>
              <a:rPr lang="en-US" sz="1300" dirty="0">
                <a:latin typeface="+mn-lt"/>
              </a:rPr>
              <a:t>can see all movies rated in between 6 to 8 have more </a:t>
            </a:r>
            <a:r>
              <a:rPr lang="en-US" sz="1300" dirty="0" smtClean="0">
                <a:latin typeface="+mn-lt"/>
              </a:rPr>
              <a:t>critics </a:t>
            </a:r>
            <a:r>
              <a:rPr lang="en-US" sz="1300" dirty="0">
                <a:latin typeface="+mn-lt"/>
              </a:rPr>
              <a:t>reviews.</a:t>
            </a:r>
            <a:br>
              <a:rPr lang="en-US" sz="1300" dirty="0">
                <a:latin typeface="+mn-lt"/>
              </a:rPr>
            </a:br>
            <a:r>
              <a:rPr lang="en-US" sz="1300" dirty="0">
                <a:latin typeface="+mn-lt"/>
              </a:rPr>
              <a:t>Higher the Rating, higher is </a:t>
            </a:r>
            <a:r>
              <a:rPr lang="en-US" sz="1300" dirty="0" smtClean="0">
                <a:latin typeface="+mn-lt"/>
              </a:rPr>
              <a:t>critic's </a:t>
            </a:r>
            <a:r>
              <a:rPr lang="en-US" sz="1300" dirty="0">
                <a:latin typeface="+mn-lt"/>
              </a:rPr>
              <a:t>reviews (Metascore), higher is the revenue.</a:t>
            </a:r>
            <a:r>
              <a:rPr lang="en-US" sz="1800" dirty="0"/>
              <a:t/>
            </a:r>
            <a:br>
              <a:rPr lang="en-US" sz="1800" dirty="0"/>
            </a:br>
            <a:endParaRPr lang="en-US" sz="1800" b="1" dirty="0">
              <a:latin typeface="Times New Roman" pitchFamily="18" charset="0"/>
              <a:cs typeface="Times New Roman" pitchFamily="18" charset="0"/>
            </a:endParaRPr>
          </a:p>
        </p:txBody>
      </p:sp>
      <p:pic>
        <p:nvPicPr>
          <p:cNvPr id="5122"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64796" y="1600200"/>
            <a:ext cx="5614407"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9934935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1800" b="1" dirty="0">
                <a:latin typeface="Times New Roman" pitchFamily="18" charset="0"/>
                <a:cs typeface="Times New Roman" pitchFamily="18" charset="0"/>
              </a:rPr>
              <a:t>How Revenue is affected by Vote Count</a:t>
            </a:r>
            <a:r>
              <a:rPr lang="en-US" sz="1800" b="1" dirty="0" smtClean="0">
                <a:latin typeface="Times New Roman" pitchFamily="18" charset="0"/>
                <a:cs typeface="Times New Roman" pitchFamily="18" charset="0"/>
              </a:rPr>
              <a:t>?</a:t>
            </a:r>
            <a:r>
              <a:rPr lang="en-US" dirty="0"/>
              <a:t> </a:t>
            </a:r>
            <a:r>
              <a:rPr lang="en-US" dirty="0" smtClean="0"/>
              <a:t/>
            </a:r>
            <a:br>
              <a:rPr lang="en-US" dirty="0" smtClean="0"/>
            </a:br>
            <a:r>
              <a:rPr lang="en-US" sz="1300" dirty="0" smtClean="0">
                <a:latin typeface="+mn-lt"/>
              </a:rPr>
              <a:t>Most </a:t>
            </a:r>
            <a:r>
              <a:rPr lang="en-US" sz="1300" dirty="0">
                <a:latin typeface="+mn-lt"/>
              </a:rPr>
              <a:t>of the movies around 100-150 million have </a:t>
            </a:r>
            <a:r>
              <a:rPr lang="en-US" sz="1300" dirty="0" smtClean="0">
                <a:latin typeface="+mn-lt"/>
              </a:rPr>
              <a:t>votes count </a:t>
            </a:r>
            <a:r>
              <a:rPr lang="en-US" sz="1300" dirty="0">
                <a:latin typeface="+mn-lt"/>
              </a:rPr>
              <a:t>under </a:t>
            </a:r>
            <a:r>
              <a:rPr lang="en-US" sz="1300" dirty="0" smtClean="0">
                <a:latin typeface="+mn-lt"/>
              </a:rPr>
              <a:t>0.25M, </a:t>
            </a:r>
            <a:r>
              <a:rPr lang="en-US" sz="1300" dirty="0">
                <a:latin typeface="+mn-lt"/>
              </a:rPr>
              <a:t>as the Vote count goes </a:t>
            </a:r>
            <a:r>
              <a:rPr lang="en-US" sz="1300" dirty="0" smtClean="0">
                <a:latin typeface="+mn-lt"/>
              </a:rPr>
              <a:t>high, so </a:t>
            </a:r>
            <a:r>
              <a:rPr lang="en-US" sz="1300" dirty="0">
                <a:latin typeface="+mn-lt"/>
              </a:rPr>
              <a:t>is the revenue but it is not often.</a:t>
            </a:r>
            <a:br>
              <a:rPr lang="en-US" sz="1300" dirty="0">
                <a:latin typeface="+mn-lt"/>
              </a:rPr>
            </a:br>
            <a:r>
              <a:rPr lang="en-US" sz="1300" dirty="0">
                <a:latin typeface="+mn-lt"/>
              </a:rPr>
              <a:t>There are </a:t>
            </a:r>
            <a:r>
              <a:rPr lang="en-US" sz="1300" dirty="0" smtClean="0">
                <a:latin typeface="+mn-lt"/>
              </a:rPr>
              <a:t>movie </a:t>
            </a:r>
            <a:r>
              <a:rPr lang="en-US" sz="1300" dirty="0">
                <a:latin typeface="+mn-lt"/>
              </a:rPr>
              <a:t>with revenue more the </a:t>
            </a:r>
            <a:r>
              <a:rPr lang="en-US" sz="1300" dirty="0" smtClean="0">
                <a:latin typeface="+mn-lt"/>
              </a:rPr>
              <a:t>600-800M+ </a:t>
            </a:r>
            <a:r>
              <a:rPr lang="en-US" sz="1300" dirty="0">
                <a:latin typeface="+mn-lt"/>
              </a:rPr>
              <a:t>with votes </a:t>
            </a:r>
            <a:r>
              <a:rPr lang="en-US" sz="1300" dirty="0" smtClean="0">
                <a:latin typeface="+mn-lt"/>
              </a:rPr>
              <a:t>0.68 -1.00M </a:t>
            </a:r>
            <a:r>
              <a:rPr lang="en-US" sz="1300" dirty="0">
                <a:latin typeface="+mn-lt"/>
              </a:rPr>
              <a:t>approx., and movies with </a:t>
            </a:r>
            <a:r>
              <a:rPr lang="en-US" sz="1300" dirty="0" smtClean="0">
                <a:latin typeface="+mn-lt"/>
              </a:rPr>
              <a:t>400-600M </a:t>
            </a:r>
            <a:r>
              <a:rPr lang="en-US" sz="1300" dirty="0">
                <a:latin typeface="+mn-lt"/>
              </a:rPr>
              <a:t>with votes 1.75M</a:t>
            </a:r>
            <a:r>
              <a:rPr lang="en-US" sz="1300" dirty="0" smtClean="0">
                <a:latin typeface="+mn-lt"/>
              </a:rPr>
              <a:t>+. There might be a exceptional  case.</a:t>
            </a:r>
            <a:r>
              <a:rPr lang="en-US" sz="1300" dirty="0">
                <a:latin typeface="+mn-lt"/>
              </a:rPr>
              <a:t/>
            </a:r>
            <a:br>
              <a:rPr lang="en-US" sz="1300" dirty="0">
                <a:latin typeface="+mn-lt"/>
              </a:rPr>
            </a:br>
            <a:endParaRPr lang="en-IN" sz="1300" dirty="0">
              <a:latin typeface="+mn-lt"/>
            </a:endParaRPr>
          </a:p>
        </p:txBody>
      </p:sp>
      <p:pic>
        <p:nvPicPr>
          <p:cNvPr id="614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749423" y="1600200"/>
            <a:ext cx="5645154"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9383695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sz="1800" b="1" dirty="0">
                <a:latin typeface="Times New Roman" pitchFamily="18" charset="0"/>
                <a:cs typeface="Times New Roman" pitchFamily="18" charset="0"/>
              </a:rPr>
              <a:t>How Metascore and Rating is correlated with the Votes count? </a:t>
            </a:r>
            <a:r>
              <a:rPr lang="en-US" sz="1800" b="1" dirty="0" smtClean="0">
                <a:latin typeface="Times New Roman" pitchFamily="18" charset="0"/>
                <a:cs typeface="Times New Roman" pitchFamily="18" charset="0"/>
              </a:rPr>
              <a:t/>
            </a:r>
            <a:br>
              <a:rPr lang="en-US" sz="1800" b="1" dirty="0" smtClean="0">
                <a:latin typeface="Times New Roman" pitchFamily="18" charset="0"/>
                <a:cs typeface="Times New Roman" pitchFamily="18" charset="0"/>
              </a:rPr>
            </a:br>
            <a:r>
              <a:rPr lang="en-US" sz="1300" dirty="0" smtClean="0">
                <a:latin typeface="Times New Roman" pitchFamily="18" charset="0"/>
                <a:cs typeface="Times New Roman" pitchFamily="18" charset="0"/>
              </a:rPr>
              <a:t>As </a:t>
            </a:r>
            <a:r>
              <a:rPr lang="en-US" sz="1300" dirty="0">
                <a:latin typeface="Times New Roman" pitchFamily="18" charset="0"/>
                <a:cs typeface="Times New Roman" pitchFamily="18" charset="0"/>
              </a:rPr>
              <a:t>per the </a:t>
            </a:r>
            <a:r>
              <a:rPr lang="en-US" sz="1300" dirty="0" smtClean="0">
                <a:latin typeface="Times New Roman" pitchFamily="18" charset="0"/>
                <a:cs typeface="Times New Roman" pitchFamily="18" charset="0"/>
              </a:rPr>
              <a:t>below </a:t>
            </a:r>
            <a:r>
              <a:rPr lang="en-US" sz="1300" dirty="0">
                <a:latin typeface="Times New Roman" pitchFamily="18" charset="0"/>
                <a:cs typeface="Times New Roman" pitchFamily="18" charset="0"/>
              </a:rPr>
              <a:t>analysis Metascore, Rating and Votes count go somewhat hand-in-hand. The dark spots shows high vote count for Metascore </a:t>
            </a:r>
            <a:r>
              <a:rPr lang="en-US" sz="1300" dirty="0" smtClean="0">
                <a:latin typeface="Times New Roman" pitchFamily="18" charset="0"/>
                <a:cs typeface="Times New Roman" pitchFamily="18" charset="0"/>
              </a:rPr>
              <a:t>(70-80</a:t>
            </a:r>
            <a:r>
              <a:rPr lang="en-US" sz="1300" dirty="0">
                <a:latin typeface="Times New Roman" pitchFamily="18" charset="0"/>
                <a:cs typeface="Times New Roman" pitchFamily="18" charset="0"/>
              </a:rPr>
              <a:t>+) and Rating (</a:t>
            </a:r>
            <a:r>
              <a:rPr lang="en-US" sz="1300" dirty="0" smtClean="0">
                <a:latin typeface="Times New Roman" pitchFamily="18" charset="0"/>
                <a:cs typeface="Times New Roman" pitchFamily="18" charset="0"/>
              </a:rPr>
              <a:t>8.2 </a:t>
            </a:r>
            <a:r>
              <a:rPr lang="en-US" sz="1300" dirty="0">
                <a:latin typeface="Times New Roman" pitchFamily="18" charset="0"/>
                <a:cs typeface="Times New Roman" pitchFamily="18" charset="0"/>
              </a:rPr>
              <a:t>- 9).</a:t>
            </a:r>
            <a:r>
              <a:rPr lang="en-US" b="1" dirty="0"/>
              <a:t/>
            </a:r>
            <a:br>
              <a:rPr lang="en-US" b="1" dirty="0"/>
            </a:br>
            <a:endParaRPr lang="en-IN" dirty="0"/>
          </a:p>
        </p:txBody>
      </p:sp>
      <p:pic>
        <p:nvPicPr>
          <p:cNvPr id="7170"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240802" y="1600200"/>
            <a:ext cx="6662396"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2228859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 y="228600"/>
            <a:ext cx="8714508" cy="3048000"/>
          </a:xfrm>
        </p:spPr>
        <p:txBody>
          <a:bodyPr>
            <a:noAutofit/>
          </a:bodyPr>
          <a:lstStyle/>
          <a:p>
            <a:pPr algn="l"/>
            <a:r>
              <a:rPr lang="en-US" sz="1200" b="1" dirty="0" smtClean="0"/>
              <a:t/>
            </a:r>
            <a:br>
              <a:rPr lang="en-US" sz="1200" b="1" dirty="0" smtClean="0"/>
            </a:br>
            <a:r>
              <a:rPr lang="en-US" sz="1200" b="1" dirty="0" smtClean="0"/>
              <a:t/>
            </a:r>
            <a:br>
              <a:rPr lang="en-US" sz="1200" b="1" dirty="0" smtClean="0"/>
            </a:br>
            <a:r>
              <a:rPr lang="en-US" sz="1800" b="1" dirty="0" smtClean="0"/>
              <a:t>Conclusion: </a:t>
            </a:r>
            <a:r>
              <a:rPr lang="en-US" sz="1200" dirty="0" smtClean="0"/>
              <a:t>After </a:t>
            </a:r>
            <a:r>
              <a:rPr lang="en-US" sz="1200" dirty="0"/>
              <a:t>analyzing the 1000 movies data, following is the conclusion of the </a:t>
            </a:r>
            <a:r>
              <a:rPr lang="en-US" sz="1200" dirty="0" smtClean="0"/>
              <a:t>observation-</a:t>
            </a:r>
            <a:br>
              <a:rPr lang="en-US" sz="1200" dirty="0" smtClean="0"/>
            </a:br>
            <a:r>
              <a:rPr lang="en-US" sz="1200" dirty="0" smtClean="0"/>
              <a:t>As </a:t>
            </a:r>
            <a:r>
              <a:rPr lang="en-US" sz="1200" dirty="0"/>
              <a:t>the </a:t>
            </a:r>
            <a:r>
              <a:rPr lang="en-US" sz="1200" u="sng" dirty="0"/>
              <a:t>Genre count increases in a movie, its Revenue, Rating and Metascore are on the rise. </a:t>
            </a:r>
            <a:r>
              <a:rPr lang="en-US" sz="1200" dirty="0"/>
              <a:t>However, revenue is significantly high for movies with Genre count of </a:t>
            </a:r>
            <a:r>
              <a:rPr lang="en-US" sz="1200" dirty="0" smtClean="0"/>
              <a:t>3.</a:t>
            </a:r>
            <a:br>
              <a:rPr lang="en-US" sz="1200" dirty="0" smtClean="0"/>
            </a:br>
            <a:r>
              <a:rPr lang="en-US" sz="1200" dirty="0" smtClean="0"/>
              <a:t/>
            </a:r>
            <a:br>
              <a:rPr lang="en-US" sz="1200" dirty="0" smtClean="0"/>
            </a:br>
            <a:r>
              <a:rPr lang="en-US" sz="1200" dirty="0" smtClean="0"/>
              <a:t>The </a:t>
            </a:r>
            <a:r>
              <a:rPr lang="en-US" sz="1200" u="sng" dirty="0"/>
              <a:t>most popular Genre is Drama</a:t>
            </a:r>
            <a:r>
              <a:rPr lang="en-US" sz="1200" dirty="0"/>
              <a:t> and the </a:t>
            </a:r>
            <a:r>
              <a:rPr lang="en-US" sz="1200" u="sng" dirty="0"/>
              <a:t>Genre combination of "Animation, Drama, Fantasy" earns the highest Rating. </a:t>
            </a:r>
            <a:r>
              <a:rPr lang="en-US" sz="1200" dirty="0"/>
              <a:t>Also Drama is popular among Critics as well, with the Genre combination of "Drama, Fantasy, War" earning the highest Metascore. Where War</a:t>
            </a:r>
            <a:r>
              <a:rPr lang="en-US" sz="1200" dirty="0" smtClean="0"/>
              <a:t>, Musical </a:t>
            </a:r>
            <a:r>
              <a:rPr lang="en-US" sz="1200" dirty="0"/>
              <a:t>and Western genre are lowest earners.</a:t>
            </a:r>
            <a:br>
              <a:rPr lang="en-US" sz="1200" dirty="0"/>
            </a:br>
            <a:r>
              <a:rPr lang="en-US" sz="1200" dirty="0" smtClean="0"/>
              <a:t/>
            </a:r>
            <a:br>
              <a:rPr lang="en-US" sz="1200" dirty="0" smtClean="0"/>
            </a:br>
            <a:r>
              <a:rPr lang="en-US" sz="1200" dirty="0" smtClean="0"/>
              <a:t>Average </a:t>
            </a:r>
            <a:r>
              <a:rPr lang="en-US" sz="1200" dirty="0"/>
              <a:t>revenue per genre in past few year is been segregated the total revenue and Votes too, as the number of movies releasing has been increased over the years</a:t>
            </a:r>
            <a:r>
              <a:rPr lang="en-US" sz="1200" dirty="0" smtClean="0"/>
              <a:t>.</a:t>
            </a:r>
            <a:r>
              <a:rPr lang="en-US" sz="1200" dirty="0"/>
              <a:t/>
            </a:r>
            <a:br>
              <a:rPr lang="en-US" sz="1200" dirty="0"/>
            </a:br>
            <a:r>
              <a:rPr lang="en-US" sz="1200" dirty="0" smtClean="0"/>
              <a:t/>
            </a:r>
            <a:br>
              <a:rPr lang="en-US" sz="1200" dirty="0" smtClean="0"/>
            </a:br>
            <a:r>
              <a:rPr lang="en-US" sz="1200" dirty="0" smtClean="0"/>
              <a:t>Number </a:t>
            </a:r>
            <a:r>
              <a:rPr lang="en-US" sz="1200" dirty="0"/>
              <a:t>or the </a:t>
            </a:r>
            <a:r>
              <a:rPr lang="en-US" sz="1200" dirty="0" err="1"/>
              <a:t>total_no</a:t>
            </a:r>
            <a:r>
              <a:rPr lang="en-US" sz="1200" dirty="0"/>
              <a:t> of movies increased over the years, which could be the reason in decreased average revenue.</a:t>
            </a:r>
            <a:br>
              <a:rPr lang="en-US" sz="1200" dirty="0"/>
            </a:br>
            <a:r>
              <a:rPr lang="en-US" sz="1200" dirty="0"/>
              <a:t>Short </a:t>
            </a:r>
            <a:r>
              <a:rPr lang="en-US" sz="1200" dirty="0" smtClean="0"/>
              <a:t>length </a:t>
            </a:r>
            <a:r>
              <a:rPr lang="en-US" sz="1200" dirty="0"/>
              <a:t>movies or medium length are highly </a:t>
            </a:r>
            <a:r>
              <a:rPr lang="en-US" sz="1200" dirty="0" smtClean="0"/>
              <a:t>proposed/preferred </a:t>
            </a:r>
            <a:r>
              <a:rPr lang="en-US" sz="1200" dirty="0"/>
              <a:t>by the users.</a:t>
            </a:r>
            <a:br>
              <a:rPr lang="en-US" sz="1200" dirty="0"/>
            </a:br>
            <a:r>
              <a:rPr lang="en-US" sz="1200" dirty="0"/>
              <a:t/>
            </a:r>
            <a:br>
              <a:rPr lang="en-US" sz="1200" dirty="0"/>
            </a:br>
            <a:r>
              <a:rPr lang="en-US" sz="1200" dirty="0"/>
              <a:t/>
            </a:r>
            <a:br>
              <a:rPr lang="en-US" sz="1200" dirty="0"/>
            </a:br>
            <a:endParaRPr lang="en-IN" sz="1200" dirty="0"/>
          </a:p>
        </p:txBody>
      </p:sp>
      <p:sp>
        <p:nvSpPr>
          <p:cNvPr id="4" name="Title 1"/>
          <p:cNvSpPr txBox="1">
            <a:spLocks/>
          </p:cNvSpPr>
          <p:nvPr/>
        </p:nvSpPr>
        <p:spPr>
          <a:xfrm>
            <a:off x="152399" y="3276600"/>
            <a:ext cx="8714509" cy="3567547"/>
          </a:xfrm>
          <a:prstGeom prst="rect">
            <a:avLst/>
          </a:prstGeom>
        </p:spPr>
        <p:txBody>
          <a:bodyPr vert="horz" lIns="91440" tIns="45720" rIns="91440" bIns="45720"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pPr algn="l"/>
            <a:r>
              <a:rPr lang="en-US" sz="1800" b="1" dirty="0"/>
              <a:t>Actionable </a:t>
            </a:r>
            <a:r>
              <a:rPr lang="en-US" sz="1800" b="1" dirty="0" smtClean="0"/>
              <a:t>Insights: </a:t>
            </a:r>
            <a:r>
              <a:rPr lang="en-US" sz="1200" dirty="0" smtClean="0"/>
              <a:t>If </a:t>
            </a:r>
            <a:r>
              <a:rPr lang="en-US" sz="1200" dirty="0"/>
              <a:t>you’re looking to dive into the ultimate film Genre, Director/Actors, Runtime, below are the insight to be kept in mind:</a:t>
            </a:r>
          </a:p>
          <a:p>
            <a:pPr algn="l"/>
            <a:endParaRPr lang="en-US" sz="1200" dirty="0"/>
          </a:p>
          <a:p>
            <a:pPr algn="l"/>
            <a:r>
              <a:rPr lang="en-US" sz="1200" dirty="0"/>
              <a:t>There should be </a:t>
            </a:r>
            <a:r>
              <a:rPr lang="en-US" sz="1200" u="sng" dirty="0"/>
              <a:t>mixed bags of Adventure, Drama, Animation, Sci-fi /Thriller and lot Action</a:t>
            </a:r>
            <a:r>
              <a:rPr lang="en-US" sz="1200" dirty="0"/>
              <a:t>, which drive the </a:t>
            </a:r>
            <a:r>
              <a:rPr lang="en-US" sz="1200" dirty="0" smtClean="0"/>
              <a:t>User </a:t>
            </a:r>
            <a:r>
              <a:rPr lang="en-US" sz="1200" dirty="0"/>
              <a:t>Crazy...</a:t>
            </a:r>
          </a:p>
          <a:p>
            <a:pPr algn="l"/>
            <a:endParaRPr lang="en-US" sz="1200" dirty="0"/>
          </a:p>
          <a:p>
            <a:pPr algn="l"/>
            <a:r>
              <a:rPr lang="en-US" sz="1200" dirty="0"/>
              <a:t>Produce movies with active directors &amp; famous most liked Actors/Actress, as it is changing trend in nature. We can say that a particular Director is going to perform business drive in a liner fashion similar with cast of the movie. </a:t>
            </a:r>
            <a:r>
              <a:rPr lang="en-US" sz="1200" dirty="0" err="1"/>
              <a:t>Becoz</a:t>
            </a:r>
            <a:r>
              <a:rPr lang="en-US" sz="1200" dirty="0"/>
              <a:t>, direction depends on different parameters like story, budget, crew, technology and many more. Similar with Cast as they fluctuate in a timely &amp; Trendy fashion.</a:t>
            </a:r>
          </a:p>
          <a:p>
            <a:pPr algn="l"/>
            <a:endParaRPr lang="en-US" sz="1200" dirty="0"/>
          </a:p>
          <a:p>
            <a:pPr algn="l"/>
            <a:r>
              <a:rPr lang="en-US" sz="1200" u="sng" dirty="0"/>
              <a:t>Produce movies that have runtime not more than 2-2nhalf hours</a:t>
            </a:r>
            <a:r>
              <a:rPr lang="en-US" sz="1200" dirty="0"/>
              <a:t>, lengthy the movie, user get exhausted. if you have noticed, </a:t>
            </a:r>
            <a:r>
              <a:rPr lang="en-US" sz="1200" u="sng" dirty="0" err="1"/>
              <a:t>NetFlix</a:t>
            </a:r>
            <a:r>
              <a:rPr lang="en-US" sz="1200" u="sng" dirty="0"/>
              <a:t> and other entertainment groups have introduced series with multiple episodes of 40-45 </a:t>
            </a:r>
            <a:r>
              <a:rPr lang="en-US" sz="1200" u="sng" dirty="0" err="1"/>
              <a:t>mins</a:t>
            </a:r>
            <a:r>
              <a:rPr lang="en-US" sz="1200" u="sng" dirty="0"/>
              <a:t> runtime.</a:t>
            </a:r>
          </a:p>
          <a:p>
            <a:pPr algn="l"/>
            <a:endParaRPr lang="en-US" sz="1200" dirty="0"/>
          </a:p>
          <a:p>
            <a:pPr algn="l"/>
            <a:r>
              <a:rPr lang="en-US" sz="1200" u="sng" dirty="0"/>
              <a:t>Produce movies that will satisfy both People and Critics, </a:t>
            </a:r>
            <a:r>
              <a:rPr lang="en-US" sz="1200" dirty="0"/>
              <a:t>for a business prospective &amp; growth. As to shorten the research factor </a:t>
            </a:r>
            <a:r>
              <a:rPr lang="en-US" sz="1200" u="sng" dirty="0" smtClean="0"/>
              <a:t>User </a:t>
            </a:r>
            <a:r>
              <a:rPr lang="en-US" sz="1200" u="sng" dirty="0"/>
              <a:t>usually visit critics reviews/rating section from various online channels to conclude to watch movie.</a:t>
            </a:r>
            <a:r>
              <a:rPr lang="en-US" sz="1200" dirty="0" smtClean="0"/>
              <a:t/>
            </a:r>
            <a:br>
              <a:rPr lang="en-US" sz="1200" dirty="0" smtClean="0"/>
            </a:br>
            <a:r>
              <a:rPr lang="en-US" sz="1200" dirty="0" smtClean="0"/>
              <a:t/>
            </a:r>
            <a:br>
              <a:rPr lang="en-US" sz="1200" dirty="0" smtClean="0"/>
            </a:br>
            <a:r>
              <a:rPr lang="en-US" sz="1200" dirty="0" smtClean="0"/>
              <a:t/>
            </a:r>
            <a:br>
              <a:rPr lang="en-US" sz="1200" dirty="0" smtClean="0"/>
            </a:br>
            <a:endParaRPr lang="en-IN" sz="1200" dirty="0"/>
          </a:p>
        </p:txBody>
      </p:sp>
    </p:spTree>
    <p:extLst>
      <p:ext uri="{BB962C8B-B14F-4D97-AF65-F5344CB8AC3E}">
        <p14:creationId xmlns:p14="http://schemas.microsoft.com/office/powerpoint/2010/main" val="355629751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8" name="Picture 6" descr="Thank You For Watching ! red sun media work thank logo web ui color banner"/>
          <p:cNvPicPr>
            <a:picLocks noGrp="1" noChangeAspect="1" noChangeArrowheads="1"/>
          </p:cNvPicPr>
          <p:nvPr>
            <p:ph type="pic" idx="1"/>
          </p:nvPr>
        </p:nvPicPr>
        <p:blipFill>
          <a:blip r:embed="rId2">
            <a:extLst>
              <a:ext uri="{28A0092B-C50C-407E-A947-70E740481C1C}">
                <a14:useLocalDpi xmlns:a14="http://schemas.microsoft.com/office/drawing/2010/main" val="0"/>
              </a:ext>
            </a:extLst>
          </a:blip>
          <a:srcRect/>
          <a:stretch>
            <a:fillRect/>
          </a:stretch>
        </p:blipFill>
        <p:spPr bwMode="auto">
          <a:xfrm>
            <a:off x="1752600" y="1219200"/>
            <a:ext cx="5486400" cy="4114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01221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Concourse</Template>
  <TotalTime>1621</TotalTime>
  <Words>336</Words>
  <Application>Microsoft Office PowerPoint</Application>
  <PresentationFormat>On-screen Show (4:3)</PresentationFormat>
  <Paragraphs>30</Paragraphs>
  <Slides>18</Slides>
  <Notes>3</Notes>
  <HiddenSlides>0</HiddenSlides>
  <MMClips>0</MMClips>
  <ScaleCrop>false</ScaleCrop>
  <HeadingPairs>
    <vt:vector size="4" baseType="variant">
      <vt:variant>
        <vt:lpstr>Theme</vt:lpstr>
      </vt:variant>
      <vt:variant>
        <vt:i4>1</vt:i4>
      </vt:variant>
      <vt:variant>
        <vt:lpstr>Slide Titles</vt:lpstr>
      </vt:variant>
      <vt:variant>
        <vt:i4>18</vt:i4>
      </vt:variant>
    </vt:vector>
  </HeadingPairs>
  <TitlesOfParts>
    <vt:vector size="19" baseType="lpstr">
      <vt:lpstr>Office Theme</vt:lpstr>
      <vt:lpstr>INSAID - Feb’20’ Cohort  EDA Term 1 &amp; 2 Project Submission “1000 Movies Data”</vt:lpstr>
      <vt:lpstr> “ON A FILM SET NOW, IT’S ROBOTS, IT’S DRONES, IT’S SUPER HIGH-TECH, BUT THE BUSINESS SIDE HASN’T EVOLVED IN 20 YEARS.” “AI will tell you who to cast and predict how much money you’ll make” Problem Statement :  Understand the trend in revenue, ratings, Metascore, votes for different movie genres over years (from 2006 to 2016) and Correlation between the trends for Top genres (Drama, Action, Adventure, Animation, Comedy, Romance, Thriller, Crime, Horror, Sci-Fi, Fantasy and Musical). </vt:lpstr>
      <vt:lpstr> 1000 Movies Histogram Map  </vt:lpstr>
      <vt:lpstr> 1000 Movies Correlation Map we see strong correlation is between Rating and Metascore (0.47), Votes and Rating (0.51) and top in order is between Revenue (Millions) and Votes (0.61). </vt:lpstr>
      <vt:lpstr>Which genres are the most common (number of movies made in % )?</vt:lpstr>
      <vt:lpstr> What is the Avg. Revenue (Millions) per Genre per Year?  Below plot shows a strong increase in revenue for Adventure, Animation, Action, Family, and Science Fiction over the years. We can also observe in the year 2013, Animated movies are highly Revenue (Millions) generated movies.  </vt:lpstr>
      <vt:lpstr>What is the Avg. Votes per Genre per Year of 1000 Movies dataset?  We can see in 2012 people casted the maximum votes on Genre of fiction called Western and also showed there interest towards Sci-Fi Genre movies. We can say that as the number of movies has increased of variegated Genre, user's votes are also diversified, which will cause a drop in average revenue per year. </vt:lpstr>
      <vt:lpstr> How many Movies made per Year per Genre? We can see that over time more and more movies were made per year. Starting at just 44 movies in 2006  to 127  movies in 2015 with a max of 297 movies in 2016. We can say as  various types of Genre are introduced and clubbed together, the movies made per year is increasing.  </vt:lpstr>
      <vt:lpstr>How many movies released every year and rated above 7.5 with relation with Runtime Levels?</vt:lpstr>
      <vt:lpstr>What is the range of Revenue (Millions) of Movies generated per Year? From 2006-2016 most movies have the revenue in between 0-300 millions approx. with outliers every year. Where in 2016  there are many outliers as compared with other years.</vt:lpstr>
      <vt:lpstr>How Revenue is related with Rating of a movie?  In terms of business, revenue of movie, it strongly depends and related to rating, where user quite offen predict, if the movie is highly rating it is worth watching it. Which in return, increases the revenue. </vt:lpstr>
      <vt:lpstr>How Rating drives the Revenue generated of a Movie? we can observe how the rating drives the revenue, as the movies rated in between 6 to 8, the revenue generated is in between 0-150M approx, but if the rating goes higher it gives a impact on revenue.</vt:lpstr>
      <vt:lpstr>How Revenue (Million) is spread over the year?  we can see the spread of Revenue data over the year. we can figure out 2016 is the highest in revenue, as in the  previous analysis 2016 was high in movie production. </vt:lpstr>
      <vt:lpstr>How Rating and Metascore are inter-related?   We can see all movies rated in between 6 to 8 have more critics reviews. Higher the Rating, higher is critic's reviews (Metascore), higher is the revenue. </vt:lpstr>
      <vt:lpstr>How Revenue is affected by Vote Count?  Most of the movies around 100-150 million have votes count under 0.25M, as the Vote count goes high, so is the revenue but it is not often. There are movie with revenue more the 600-800M+ with votes 0.68 -1.00M approx., and movies with 400-600M with votes 1.75M+. There might be a exceptional  case. </vt:lpstr>
      <vt:lpstr>How Metascore and Rating is correlated with the Votes count?  As per the below analysis Metascore, Rating and Votes count go somewhat hand-in-hand. The dark spots shows high vote count for Metascore (70-80+) and Rating (8.2 - 9). </vt:lpstr>
      <vt:lpstr>  Conclusion: After analyzing the 1000 movies data, following is the conclusion of the observation- As the Genre count increases in a movie, its Revenue, Rating and Metascore are on the rise. However, revenue is significantly high for movies with Genre count of 3.  The most popular Genre is Drama and the Genre combination of "Animation, Drama, Fantasy" earns the highest Rating. Also Drama is popular among Critics as well, with the Genre combination of "Drama, Fantasy, War" earning the highest Metascore. Where War, Musical and Western genre are lowest earners.  Average revenue per genre in past few year is been segregated the total revenue and Votes too, as the number of movies releasing has been increased over the years.  Number or the total_no of movies increased over the years, which could be the reason in decreased average revenue. Short length movies or medium length are highly proposed/preferred by the users.   </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DELL</dc:creator>
  <cp:lastModifiedBy>DELL</cp:lastModifiedBy>
  <cp:revision>46</cp:revision>
  <dcterms:created xsi:type="dcterms:W3CDTF">2006-08-16T00:00:00Z</dcterms:created>
  <dcterms:modified xsi:type="dcterms:W3CDTF">2020-05-05T03:14:18Z</dcterms:modified>
</cp:coreProperties>
</file>